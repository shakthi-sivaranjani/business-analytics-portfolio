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Poppins"/>
      <p:bold r:id="rId17"/>
      <p:boldItalic r:id="rId18"/>
    </p:embeddedFont>
    <p:embeddedFont>
      <p:font typeface="Poppi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pJapvArx198V/W55NXS31fzHU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bold.fntdata"/><Relationship Id="rId11" Type="http://schemas.openxmlformats.org/officeDocument/2006/relationships/slide" Target="slides/slide6.xml"/><Relationship Id="rId22" Type="http://schemas.openxmlformats.org/officeDocument/2006/relationships/font" Target="fonts/Poppins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Medium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hyperlink" Target="https://imaglance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hyperlink" Target="https://shakthi.imaglance.com/fitness/" TargetMode="External"/><Relationship Id="rId5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-2" y="6922694"/>
            <a:ext cx="1547100" cy="1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"/>
          <p:cNvSpPr/>
          <p:nvPr/>
        </p:nvSpPr>
        <p:spPr>
          <a:xfrm flipH="1">
            <a:off x="10160193" y="0"/>
            <a:ext cx="13399784" cy="11603609"/>
          </a:xfrm>
          <a:custGeom>
            <a:rect b="b" l="l" r="r" t="t"/>
            <a:pathLst>
              <a:path extrusionOk="0" h="3708400" w="4282440">
                <a:moveTo>
                  <a:pt x="1070610" y="0"/>
                </a:moveTo>
                <a:lnTo>
                  <a:pt x="3211830" y="0"/>
                </a:lnTo>
                <a:lnTo>
                  <a:pt x="4282440" y="1854200"/>
                </a:lnTo>
                <a:lnTo>
                  <a:pt x="3211830" y="3708400"/>
                </a:lnTo>
                <a:lnTo>
                  <a:pt x="1070610" y="3708400"/>
                </a:lnTo>
                <a:lnTo>
                  <a:pt x="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38" r="-1205" t="-21654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10463705" y="7866266"/>
            <a:ext cx="2984182" cy="2611159"/>
            <a:chOff x="0" y="0"/>
            <a:chExt cx="812800" cy="711200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8957756" y="-19362"/>
            <a:ext cx="3030318" cy="2651528"/>
            <a:chOff x="0" y="0"/>
            <a:chExt cx="812800" cy="7112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91" name="Google Shape;91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0450241" y="2632167"/>
            <a:ext cx="2997646" cy="2622940"/>
            <a:chOff x="0" y="0"/>
            <a:chExt cx="812800" cy="71120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>
                <a:alpha val="87450"/>
              </a:srgbClr>
            </a:solidFill>
            <a:ln>
              <a:noFill/>
            </a:ln>
          </p:spPr>
        </p:sp>
        <p:sp>
          <p:nvSpPr>
            <p:cNvPr id="94" name="Google Shape;94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1088858" y="3092119"/>
            <a:ext cx="8747485" cy="3155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16" u="none" cap="none" strike="noStrike">
                <a:solidFill>
                  <a:srgbClr val="153669"/>
                </a:solidFill>
                <a:latin typeface="Poppins"/>
                <a:ea typeface="Poppins"/>
                <a:cs typeface="Poppins"/>
                <a:sym typeface="Poppins"/>
              </a:rPr>
              <a:t>Audit &amp; Analysis</a:t>
            </a:r>
            <a:endParaRPr/>
          </a:p>
        </p:txBody>
      </p:sp>
      <p:grpSp>
        <p:nvGrpSpPr>
          <p:cNvPr id="96" name="Google Shape;96;p1"/>
          <p:cNvGrpSpPr/>
          <p:nvPr/>
        </p:nvGrpSpPr>
        <p:grpSpPr>
          <a:xfrm>
            <a:off x="8971614" y="5255107"/>
            <a:ext cx="2984182" cy="2611159"/>
            <a:chOff x="0" y="0"/>
            <a:chExt cx="812800" cy="711200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>
                <a:alpha val="87450"/>
              </a:srgbClr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 rot="10800000">
            <a:off x="10463705" y="5255107"/>
            <a:ext cx="2984182" cy="2611159"/>
            <a:chOff x="0" y="0"/>
            <a:chExt cx="812800" cy="7112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-1578573" y="8244967"/>
            <a:ext cx="3086100" cy="2700338"/>
            <a:chOff x="0" y="0"/>
            <a:chExt cx="812800" cy="7112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04" name="Google Shape;104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 rot="10800000">
            <a:off x="8956122" y="2632167"/>
            <a:ext cx="3007063" cy="2631180"/>
            <a:chOff x="0" y="0"/>
            <a:chExt cx="812800" cy="711200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07" name="Google Shape;107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"/>
          <p:cNvGrpSpPr/>
          <p:nvPr/>
        </p:nvGrpSpPr>
        <p:grpSpPr>
          <a:xfrm rot="10800000">
            <a:off x="7891668" y="2661552"/>
            <a:ext cx="802213" cy="701937"/>
            <a:chOff x="0" y="0"/>
            <a:chExt cx="812800" cy="711200"/>
          </a:xfrm>
        </p:grpSpPr>
        <p:sp>
          <p:nvSpPr>
            <p:cNvPr id="109" name="Google Shape;109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10" name="Google Shape;110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8373425" y="2674393"/>
            <a:ext cx="845737" cy="740020"/>
            <a:chOff x="0" y="0"/>
            <a:chExt cx="812800" cy="711200"/>
          </a:xfrm>
        </p:grpSpPr>
        <p:sp>
          <p:nvSpPr>
            <p:cNvPr id="112" name="Google Shape;112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"/>
          <p:cNvGrpSpPr/>
          <p:nvPr/>
        </p:nvGrpSpPr>
        <p:grpSpPr>
          <a:xfrm>
            <a:off x="8510296" y="8068863"/>
            <a:ext cx="902266" cy="789483"/>
            <a:chOff x="0" y="0"/>
            <a:chExt cx="812800" cy="711200"/>
          </a:xfrm>
        </p:grpSpPr>
        <p:sp>
          <p:nvSpPr>
            <p:cNvPr id="115" name="Google Shape;115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16" name="Google Shape;116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"/>
          <p:cNvGrpSpPr/>
          <p:nvPr/>
        </p:nvGrpSpPr>
        <p:grpSpPr>
          <a:xfrm rot="10800000">
            <a:off x="8980824" y="7856741"/>
            <a:ext cx="2984182" cy="2611159"/>
            <a:chOff x="0" y="0"/>
            <a:chExt cx="812800" cy="711200"/>
          </a:xfrm>
        </p:grpSpPr>
        <p:sp>
          <p:nvSpPr>
            <p:cNvPr id="118" name="Google Shape;118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19" name="Google Shape;119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1"/>
          <p:cNvSpPr/>
          <p:nvPr/>
        </p:nvSpPr>
        <p:spPr>
          <a:xfrm>
            <a:off x="1088858" y="839933"/>
            <a:ext cx="944717" cy="663664"/>
          </a:xfrm>
          <a:custGeom>
            <a:rect b="b" l="l" r="r" t="t"/>
            <a:pathLst>
              <a:path extrusionOk="0" h="663664" w="944717">
                <a:moveTo>
                  <a:pt x="0" y="0"/>
                </a:moveTo>
                <a:lnTo>
                  <a:pt x="944717" y="0"/>
                </a:lnTo>
                <a:lnTo>
                  <a:pt x="944717" y="663664"/>
                </a:lnTo>
                <a:lnTo>
                  <a:pt x="0" y="663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"/>
          <p:cNvSpPr txBox="1"/>
          <p:nvPr/>
        </p:nvSpPr>
        <p:spPr>
          <a:xfrm>
            <a:off x="1547097" y="6707141"/>
            <a:ext cx="89172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27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 effective digital marketing presence 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1372467" y="9528461"/>
            <a:ext cx="7137829" cy="45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shakthi sivaranjani</a:t>
            </a:r>
            <a:endParaRPr/>
          </a:p>
        </p:txBody>
      </p:sp>
      <p:sp>
        <p:nvSpPr>
          <p:cNvPr id="123" name="Google Shape;123;p1"/>
          <p:cNvSpPr txBox="1"/>
          <p:nvPr/>
        </p:nvSpPr>
        <p:spPr>
          <a:xfrm>
            <a:off x="2206972" y="899985"/>
            <a:ext cx="492621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IMAGLANCE AUDIT REPORT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/>
          <p:nvPr/>
        </p:nvSpPr>
        <p:spPr>
          <a:xfrm>
            <a:off x="3883038" y="2781590"/>
            <a:ext cx="11018186" cy="100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58" u="sng" cap="none" strike="noStrike">
                <a:solidFill>
                  <a:srgbClr val="0B1D39"/>
                </a:solidFill>
                <a:latin typeface="Poppins"/>
                <a:ea typeface="Poppins"/>
                <a:cs typeface="Poppins"/>
                <a:sym typeface="Poppins"/>
              </a:rPr>
              <a:t>Company’s Overview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2619990" y="4332065"/>
            <a:ext cx="13051976" cy="3378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4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Imaglance Creative Agencies is a digital marketing and web design agency based in Madurai, Tamil Nadu. It is  started by  a group of freelancers. It provides web design, website development, social media marketing, PPC campaigns, and other digital services.</a:t>
            </a:r>
            <a:endParaRPr/>
          </a:p>
          <a:p>
            <a:pPr indent="0" lvl="0" marL="0" marR="0" rtl="0" algn="ctr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4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40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Company Positioning:</a:t>
            </a:r>
            <a:endParaRPr/>
          </a:p>
          <a:p>
            <a:pPr indent="0" lvl="0" marL="0" marR="0" rtl="0" algn="ctr">
              <a:lnSpc>
                <a:spcPct val="119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4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“One Stop Solution for Your Digital Needs” — they brand themselves as a full-service digital partner.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7551184" y="1934301"/>
            <a:ext cx="3185631" cy="56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2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IMAGLANCE</a:t>
            </a:r>
            <a:endParaRPr/>
          </a:p>
        </p:txBody>
      </p:sp>
      <p:cxnSp>
        <p:nvCxnSpPr>
          <p:cNvPr id="131" name="Google Shape;131;p2"/>
          <p:cNvCxnSpPr/>
          <p:nvPr/>
        </p:nvCxnSpPr>
        <p:spPr>
          <a:xfrm>
            <a:off x="5250516" y="10048641"/>
            <a:ext cx="7672669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" name="Google Shape;132;p2"/>
          <p:cNvGrpSpPr/>
          <p:nvPr/>
        </p:nvGrpSpPr>
        <p:grpSpPr>
          <a:xfrm>
            <a:off x="15255224" y="5536659"/>
            <a:ext cx="6103845" cy="5340865"/>
            <a:chOff x="0" y="0"/>
            <a:chExt cx="812800" cy="71120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34" name="Google Shape;134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2"/>
          <p:cNvGrpSpPr/>
          <p:nvPr/>
        </p:nvGrpSpPr>
        <p:grpSpPr>
          <a:xfrm rot="10800000">
            <a:off x="-3067113" y="-179028"/>
            <a:ext cx="6103845" cy="5340865"/>
            <a:chOff x="0" y="0"/>
            <a:chExt cx="812800" cy="711200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37" name="Google Shape;137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2"/>
          <p:cNvGrpSpPr/>
          <p:nvPr/>
        </p:nvGrpSpPr>
        <p:grpSpPr>
          <a:xfrm>
            <a:off x="16721430" y="701820"/>
            <a:ext cx="3114134" cy="2724867"/>
            <a:chOff x="0" y="0"/>
            <a:chExt cx="812800" cy="7112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>
                <a:alpha val="87450"/>
              </a:srgbClr>
            </a:solidFill>
            <a:ln>
              <a:noFill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2"/>
          <p:cNvGrpSpPr/>
          <p:nvPr/>
        </p:nvGrpSpPr>
        <p:grpSpPr>
          <a:xfrm rot="10800000">
            <a:off x="-1543607" y="7271809"/>
            <a:ext cx="3114134" cy="2724867"/>
            <a:chOff x="0" y="0"/>
            <a:chExt cx="812800" cy="711200"/>
          </a:xfrm>
        </p:grpSpPr>
        <p:sp>
          <p:nvSpPr>
            <p:cNvPr id="142" name="Google Shape;142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>
                <a:alpha val="87450"/>
              </a:srgbClr>
            </a:solidFill>
            <a:ln>
              <a:noFill/>
            </a:ln>
          </p:spPr>
        </p:sp>
        <p:sp>
          <p:nvSpPr>
            <p:cNvPr id="143" name="Google Shape;143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2"/>
          <p:cNvGrpSpPr/>
          <p:nvPr/>
        </p:nvGrpSpPr>
        <p:grpSpPr>
          <a:xfrm rot="10800000">
            <a:off x="16721430" y="3347730"/>
            <a:ext cx="3085910" cy="2700171"/>
            <a:chOff x="0" y="0"/>
            <a:chExt cx="812800" cy="711200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46" name="Google Shape;146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-1515383" y="4650595"/>
            <a:ext cx="3085910" cy="2700171"/>
            <a:chOff x="0" y="0"/>
            <a:chExt cx="812800" cy="711200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49" name="Google Shape;149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2"/>
          <p:cNvGrpSpPr/>
          <p:nvPr/>
        </p:nvGrpSpPr>
        <p:grpSpPr>
          <a:xfrm rot="10800000">
            <a:off x="14738797" y="-179028"/>
            <a:ext cx="4041467" cy="3536283"/>
            <a:chOff x="0" y="0"/>
            <a:chExt cx="812800" cy="711200"/>
          </a:xfrm>
        </p:grpSpPr>
        <p:sp>
          <p:nvSpPr>
            <p:cNvPr id="151" name="Google Shape;151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52" name="Google Shape;152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2"/>
          <p:cNvGrpSpPr/>
          <p:nvPr/>
        </p:nvGrpSpPr>
        <p:grpSpPr>
          <a:xfrm>
            <a:off x="-488307" y="7341241"/>
            <a:ext cx="4041467" cy="3536283"/>
            <a:chOff x="0" y="0"/>
            <a:chExt cx="812800" cy="711200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55" name="Google Shape;155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2"/>
          <p:cNvGrpSpPr/>
          <p:nvPr/>
        </p:nvGrpSpPr>
        <p:grpSpPr>
          <a:xfrm>
            <a:off x="844545" y="701820"/>
            <a:ext cx="2020733" cy="1768142"/>
            <a:chOff x="0" y="0"/>
            <a:chExt cx="812800" cy="711200"/>
          </a:xfrm>
        </p:grpSpPr>
        <p:sp>
          <p:nvSpPr>
            <p:cNvPr id="157" name="Google Shape;157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58" name="Google Shape;158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2"/>
          <p:cNvGrpSpPr/>
          <p:nvPr/>
        </p:nvGrpSpPr>
        <p:grpSpPr>
          <a:xfrm rot="10800000">
            <a:off x="15255224" y="8207092"/>
            <a:ext cx="2020733" cy="1768142"/>
            <a:chOff x="0" y="0"/>
            <a:chExt cx="812800" cy="711200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161" name="Google Shape;161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2"/>
          <p:cNvGrpSpPr/>
          <p:nvPr/>
        </p:nvGrpSpPr>
        <p:grpSpPr>
          <a:xfrm rot="10800000">
            <a:off x="2039445" y="716487"/>
            <a:ext cx="997288" cy="872627"/>
            <a:chOff x="0" y="0"/>
            <a:chExt cx="812800" cy="711200"/>
          </a:xfrm>
        </p:grpSpPr>
        <p:sp>
          <p:nvSpPr>
            <p:cNvPr id="163" name="Google Shape;163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64" name="Google Shape;164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2"/>
          <p:cNvGrpSpPr/>
          <p:nvPr/>
        </p:nvGrpSpPr>
        <p:grpSpPr>
          <a:xfrm>
            <a:off x="15171344" y="9102606"/>
            <a:ext cx="997288" cy="872627"/>
            <a:chOff x="0" y="0"/>
            <a:chExt cx="812800" cy="711200"/>
          </a:xfrm>
        </p:grpSpPr>
        <p:sp>
          <p:nvSpPr>
            <p:cNvPr id="166" name="Google Shape;166;p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67" name="Google Shape;167;p2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2"/>
          <p:cNvSpPr/>
          <p:nvPr/>
        </p:nvSpPr>
        <p:spPr>
          <a:xfrm>
            <a:off x="8614492" y="960327"/>
            <a:ext cx="944717" cy="663664"/>
          </a:xfrm>
          <a:custGeom>
            <a:rect b="b" l="l" r="r" t="t"/>
            <a:pathLst>
              <a:path extrusionOk="0" h="663664" w="944717">
                <a:moveTo>
                  <a:pt x="0" y="0"/>
                </a:moveTo>
                <a:lnTo>
                  <a:pt x="944716" y="0"/>
                </a:lnTo>
                <a:lnTo>
                  <a:pt x="944716" y="663664"/>
                </a:lnTo>
                <a:lnTo>
                  <a:pt x="0" y="663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2"/>
          <p:cNvSpPr txBox="1"/>
          <p:nvPr/>
        </p:nvSpPr>
        <p:spPr>
          <a:xfrm>
            <a:off x="6357144" y="8834263"/>
            <a:ext cx="5573710" cy="53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2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https://imaglance.com/</a:t>
            </a:r>
            <a:endParaRPr b="0" i="0" sz="316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3"/>
          <p:cNvCxnSpPr/>
          <p:nvPr/>
        </p:nvCxnSpPr>
        <p:spPr>
          <a:xfrm rot="-5400000">
            <a:off x="6731431" y="5212099"/>
            <a:ext cx="4886867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75" name="Google Shape;175;p3"/>
          <p:cNvCxnSpPr/>
          <p:nvPr/>
        </p:nvCxnSpPr>
        <p:spPr>
          <a:xfrm>
            <a:off x="6701166" y="5212099"/>
            <a:ext cx="4886867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</p:cxnSp>
      <p:grpSp>
        <p:nvGrpSpPr>
          <p:cNvPr id="176" name="Google Shape;176;p3"/>
          <p:cNvGrpSpPr/>
          <p:nvPr/>
        </p:nvGrpSpPr>
        <p:grpSpPr>
          <a:xfrm>
            <a:off x="7641618" y="3722666"/>
            <a:ext cx="3005963" cy="3005963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5353432" y="4551781"/>
            <a:ext cx="1347734" cy="1347734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1588033" y="4565329"/>
            <a:ext cx="1347734" cy="1347734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8500998" y="1434481"/>
            <a:ext cx="1347734" cy="1347734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3"/>
          <p:cNvGrpSpPr/>
          <p:nvPr/>
        </p:nvGrpSpPr>
        <p:grpSpPr>
          <a:xfrm>
            <a:off x="8514546" y="7669081"/>
            <a:ext cx="1347734" cy="1347734"/>
            <a:chOff x="0" y="0"/>
            <a:chExt cx="812800" cy="812800"/>
          </a:xfrm>
        </p:grpSpPr>
        <p:sp>
          <p:nvSpPr>
            <p:cNvPr id="189" name="Google Shape;189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3"/>
          <p:cNvSpPr/>
          <p:nvPr/>
        </p:nvSpPr>
        <p:spPr>
          <a:xfrm>
            <a:off x="5607437" y="4805785"/>
            <a:ext cx="839725" cy="839725"/>
          </a:xfrm>
          <a:custGeom>
            <a:rect b="b" l="l" r="r" t="t"/>
            <a:pathLst>
              <a:path extrusionOk="0" h="839725" w="839725">
                <a:moveTo>
                  <a:pt x="0" y="0"/>
                </a:moveTo>
                <a:lnTo>
                  <a:pt x="839724" y="0"/>
                </a:lnTo>
                <a:lnTo>
                  <a:pt x="839724" y="839725"/>
                </a:lnTo>
                <a:lnTo>
                  <a:pt x="0" y="839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3"/>
          <p:cNvSpPr/>
          <p:nvPr/>
        </p:nvSpPr>
        <p:spPr>
          <a:xfrm>
            <a:off x="8834178" y="8027236"/>
            <a:ext cx="708470" cy="631424"/>
          </a:xfrm>
          <a:custGeom>
            <a:rect b="b" l="l" r="r" t="t"/>
            <a:pathLst>
              <a:path extrusionOk="0" h="631424" w="708470">
                <a:moveTo>
                  <a:pt x="0" y="0"/>
                </a:moveTo>
                <a:lnTo>
                  <a:pt x="708470" y="0"/>
                </a:lnTo>
                <a:lnTo>
                  <a:pt x="708470" y="631424"/>
                </a:lnTo>
                <a:lnTo>
                  <a:pt x="0" y="631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3"/>
          <p:cNvSpPr/>
          <p:nvPr/>
        </p:nvSpPr>
        <p:spPr>
          <a:xfrm>
            <a:off x="11899020" y="4876316"/>
            <a:ext cx="725759" cy="725759"/>
          </a:xfrm>
          <a:custGeom>
            <a:rect b="b" l="l" r="r" t="t"/>
            <a:pathLst>
              <a:path extrusionOk="0" h="725759" w="725759">
                <a:moveTo>
                  <a:pt x="0" y="0"/>
                </a:moveTo>
                <a:lnTo>
                  <a:pt x="725759" y="0"/>
                </a:lnTo>
                <a:lnTo>
                  <a:pt x="725759" y="725759"/>
                </a:lnTo>
                <a:lnTo>
                  <a:pt x="0" y="7257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3"/>
          <p:cNvSpPr txBox="1"/>
          <p:nvPr/>
        </p:nvSpPr>
        <p:spPr>
          <a:xfrm>
            <a:off x="13173783" y="4695391"/>
            <a:ext cx="3737935" cy="2185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customers search on Google and social media to find digital services. A strong online presence helps Imaglance get noticed by the right audience.</a:t>
            </a:r>
            <a:endParaRPr/>
          </a:p>
        </p:txBody>
      </p:sp>
      <p:grpSp>
        <p:nvGrpSpPr>
          <p:cNvPr id="195" name="Google Shape;195;p3"/>
          <p:cNvGrpSpPr/>
          <p:nvPr/>
        </p:nvGrpSpPr>
        <p:grpSpPr>
          <a:xfrm>
            <a:off x="15736799" y="5958037"/>
            <a:ext cx="5622271" cy="4919487"/>
            <a:chOff x="0" y="0"/>
            <a:chExt cx="812800" cy="711200"/>
          </a:xfrm>
        </p:grpSpPr>
        <p:sp>
          <p:nvSpPr>
            <p:cNvPr id="196" name="Google Shape;196;p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197" name="Google Shape;197;p3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3"/>
          <p:cNvGrpSpPr/>
          <p:nvPr/>
        </p:nvGrpSpPr>
        <p:grpSpPr>
          <a:xfrm rot="10800000">
            <a:off x="15943291" y="7774589"/>
            <a:ext cx="2020733" cy="1768142"/>
            <a:chOff x="0" y="0"/>
            <a:chExt cx="812800" cy="711200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200" name="Google Shape;200;p3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3"/>
          <p:cNvGrpSpPr/>
          <p:nvPr/>
        </p:nvGrpSpPr>
        <p:grpSpPr>
          <a:xfrm>
            <a:off x="15859411" y="8670103"/>
            <a:ext cx="997288" cy="872627"/>
            <a:chOff x="0" y="0"/>
            <a:chExt cx="812800" cy="711200"/>
          </a:xfrm>
        </p:grpSpPr>
        <p:sp>
          <p:nvSpPr>
            <p:cNvPr id="202" name="Google Shape;202;p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03" name="Google Shape;203;p3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3"/>
          <p:cNvSpPr/>
          <p:nvPr/>
        </p:nvSpPr>
        <p:spPr>
          <a:xfrm>
            <a:off x="8813901" y="1698337"/>
            <a:ext cx="721927" cy="721927"/>
          </a:xfrm>
          <a:custGeom>
            <a:rect b="b" l="l" r="r" t="t"/>
            <a:pathLst>
              <a:path extrusionOk="0" h="721927" w="721927">
                <a:moveTo>
                  <a:pt x="0" y="0"/>
                </a:moveTo>
                <a:lnTo>
                  <a:pt x="721927" y="0"/>
                </a:lnTo>
                <a:lnTo>
                  <a:pt x="721927" y="721927"/>
                </a:lnTo>
                <a:lnTo>
                  <a:pt x="0" y="721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3"/>
          <p:cNvSpPr/>
          <p:nvPr/>
        </p:nvSpPr>
        <p:spPr>
          <a:xfrm>
            <a:off x="8223184" y="4399829"/>
            <a:ext cx="1842831" cy="1651638"/>
          </a:xfrm>
          <a:custGeom>
            <a:rect b="b" l="l" r="r" t="t"/>
            <a:pathLst>
              <a:path extrusionOk="0" h="1651638" w="1842831">
                <a:moveTo>
                  <a:pt x="0" y="0"/>
                </a:moveTo>
                <a:lnTo>
                  <a:pt x="1842831" y="0"/>
                </a:lnTo>
                <a:lnTo>
                  <a:pt x="1842831" y="1651637"/>
                </a:lnTo>
                <a:lnTo>
                  <a:pt x="0" y="1651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3"/>
          <p:cNvSpPr txBox="1"/>
          <p:nvPr/>
        </p:nvSpPr>
        <p:spPr>
          <a:xfrm>
            <a:off x="1028700" y="990600"/>
            <a:ext cx="5967605" cy="1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8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Digital Marketing means for Imaglance ??</a:t>
            </a:r>
            <a:endParaRPr/>
          </a:p>
        </p:txBody>
      </p:sp>
      <p:sp>
        <p:nvSpPr>
          <p:cNvPr id="207" name="Google Shape;207;p3"/>
          <p:cNvSpPr txBox="1"/>
          <p:nvPr/>
        </p:nvSpPr>
        <p:spPr>
          <a:xfrm>
            <a:off x="10088106" y="1065260"/>
            <a:ext cx="3280765" cy="455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Promoting Services 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13173783" y="3944480"/>
            <a:ext cx="4085517" cy="455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Online Presence</a:t>
            </a:r>
            <a:endParaRPr/>
          </a:p>
        </p:txBody>
      </p:sp>
      <p:sp>
        <p:nvSpPr>
          <p:cNvPr id="209" name="Google Shape;209;p3"/>
          <p:cNvSpPr txBox="1"/>
          <p:nvPr/>
        </p:nvSpPr>
        <p:spPr>
          <a:xfrm>
            <a:off x="3682404" y="6894750"/>
            <a:ext cx="5131498" cy="455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effective &amp;easy to scale 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1376282" y="3944480"/>
            <a:ext cx="3973964" cy="455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Leads &amp; Performance </a:t>
            </a:r>
            <a:endParaRPr/>
          </a:p>
        </p:txBody>
      </p:sp>
      <p:sp>
        <p:nvSpPr>
          <p:cNvPr id="211" name="Google Shape;211;p3"/>
          <p:cNvSpPr txBox="1"/>
          <p:nvPr/>
        </p:nvSpPr>
        <p:spPr>
          <a:xfrm>
            <a:off x="1376282" y="4771352"/>
            <a:ext cx="3737935" cy="1882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marketing helps track website visits, leads, and user actions. This makes it easy to measure results and improve marketing strategies.</a:t>
            </a:r>
            <a:endParaRPr/>
          </a:p>
        </p:txBody>
      </p:sp>
      <p:sp>
        <p:nvSpPr>
          <p:cNvPr id="212" name="Google Shape;212;p3"/>
          <p:cNvSpPr txBox="1"/>
          <p:nvPr/>
        </p:nvSpPr>
        <p:spPr>
          <a:xfrm>
            <a:off x="10088106" y="1575618"/>
            <a:ext cx="4608426" cy="1567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Imaglance provides digital services like web design and marketing. Promoting these services online helps reach customers easily and effectively.</a:t>
            </a:r>
            <a:endParaRPr/>
          </a:p>
        </p:txBody>
      </p:sp>
      <p:sp>
        <p:nvSpPr>
          <p:cNvPr id="213" name="Google Shape;213;p3"/>
          <p:cNvSpPr txBox="1"/>
          <p:nvPr/>
        </p:nvSpPr>
        <p:spPr>
          <a:xfrm>
            <a:off x="3771041" y="7573370"/>
            <a:ext cx="4608426" cy="1572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marketing requires less budget compared to traditional marketing. Campaigns can be scaled up or down based on business needs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"/>
          <p:cNvSpPr txBox="1"/>
          <p:nvPr/>
        </p:nvSpPr>
        <p:spPr>
          <a:xfrm>
            <a:off x="804452" y="308605"/>
            <a:ext cx="4772957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3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 Used :</a:t>
            </a:r>
            <a:endParaRPr/>
          </a:p>
        </p:txBody>
      </p:sp>
      <p:grpSp>
        <p:nvGrpSpPr>
          <p:cNvPr id="219" name="Google Shape;219;p4"/>
          <p:cNvGrpSpPr/>
          <p:nvPr/>
        </p:nvGrpSpPr>
        <p:grpSpPr>
          <a:xfrm>
            <a:off x="292960" y="1153950"/>
            <a:ext cx="735740" cy="735740"/>
            <a:chOff x="0" y="0"/>
            <a:chExt cx="812800" cy="812800"/>
          </a:xfrm>
        </p:grpSpPr>
        <p:sp>
          <p:nvSpPr>
            <p:cNvPr id="220" name="Google Shape;22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4"/>
          <p:cNvSpPr txBox="1"/>
          <p:nvPr/>
        </p:nvSpPr>
        <p:spPr>
          <a:xfrm>
            <a:off x="1315944" y="1192352"/>
            <a:ext cx="5919776" cy="573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SEO meta in 1 click 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1315944" y="1861115"/>
            <a:ext cx="14832943" cy="1456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 refers to the metadata (title, description, etc.) that helps search engines understand and display the page in search results and this browser extension helps you view and manage it instantly. </a:t>
            </a:r>
            <a:endParaRPr/>
          </a:p>
          <a:p>
            <a:pPr indent="0" lvl="0" marL="0" marR="0" rtl="0" algn="l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73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464882" y="1209057"/>
            <a:ext cx="391896" cy="582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3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grpSp>
        <p:nvGrpSpPr>
          <p:cNvPr id="225" name="Google Shape;225;p4"/>
          <p:cNvGrpSpPr/>
          <p:nvPr/>
        </p:nvGrpSpPr>
        <p:grpSpPr>
          <a:xfrm>
            <a:off x="292960" y="3128834"/>
            <a:ext cx="833714" cy="833714"/>
            <a:chOff x="0" y="0"/>
            <a:chExt cx="812800" cy="812800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4"/>
          <p:cNvSpPr txBox="1"/>
          <p:nvPr/>
        </p:nvSpPr>
        <p:spPr>
          <a:xfrm>
            <a:off x="1315944" y="6307343"/>
            <a:ext cx="13843310" cy="74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Responsive Checker tool tests whether a website adapts correctly to different screen sizes, ensuring a consistent and user-friendly experience across all devices.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464882" y="3130866"/>
            <a:ext cx="483192" cy="71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1315944" y="7422643"/>
            <a:ext cx="6849836" cy="573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Rank math</a:t>
            </a:r>
            <a:endParaRPr/>
          </a:p>
        </p:txBody>
      </p:sp>
      <p:grpSp>
        <p:nvGrpSpPr>
          <p:cNvPr id="231" name="Google Shape;231;p4"/>
          <p:cNvGrpSpPr/>
          <p:nvPr/>
        </p:nvGrpSpPr>
        <p:grpSpPr>
          <a:xfrm rot="10800000">
            <a:off x="15574388" y="-1641732"/>
            <a:ext cx="6103845" cy="5340865"/>
            <a:chOff x="0" y="0"/>
            <a:chExt cx="812800" cy="711200"/>
          </a:xfrm>
        </p:grpSpPr>
        <p:sp>
          <p:nvSpPr>
            <p:cNvPr id="232" name="Google Shape;232;p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33" name="Google Shape;233;p4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4"/>
          <p:cNvGrpSpPr/>
          <p:nvPr/>
        </p:nvGrpSpPr>
        <p:grpSpPr>
          <a:xfrm rot="10800000">
            <a:off x="16277009" y="689261"/>
            <a:ext cx="1700198" cy="1487673"/>
            <a:chOff x="0" y="0"/>
            <a:chExt cx="812800" cy="711200"/>
          </a:xfrm>
        </p:grpSpPr>
        <p:sp>
          <p:nvSpPr>
            <p:cNvPr id="235" name="Google Shape;235;p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236" name="Google Shape;236;p4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4"/>
          <p:cNvGrpSpPr/>
          <p:nvPr/>
        </p:nvGrpSpPr>
        <p:grpSpPr>
          <a:xfrm>
            <a:off x="15876885" y="1304307"/>
            <a:ext cx="997288" cy="872627"/>
            <a:chOff x="0" y="0"/>
            <a:chExt cx="812800" cy="711200"/>
          </a:xfrm>
        </p:grpSpPr>
        <p:sp>
          <p:nvSpPr>
            <p:cNvPr id="238" name="Google Shape;238;p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39" name="Google Shape;239;p4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0" name="Google Shape;240;p4"/>
          <p:cNvCxnSpPr/>
          <p:nvPr/>
        </p:nvCxnSpPr>
        <p:spPr>
          <a:xfrm>
            <a:off x="1028700" y="9606454"/>
            <a:ext cx="1584547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4"/>
          <p:cNvSpPr txBox="1"/>
          <p:nvPr/>
        </p:nvSpPr>
        <p:spPr>
          <a:xfrm>
            <a:off x="1315944" y="3273005"/>
            <a:ext cx="6849836" cy="573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speed test </a:t>
            </a:r>
            <a:endParaRPr/>
          </a:p>
        </p:txBody>
      </p:sp>
      <p:sp>
        <p:nvSpPr>
          <p:cNvPr id="242" name="Google Shape;242;p4"/>
          <p:cNvSpPr txBox="1"/>
          <p:nvPr/>
        </p:nvSpPr>
        <p:spPr>
          <a:xfrm>
            <a:off x="1315944" y="4043557"/>
            <a:ext cx="13843310" cy="1099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Page Speed tool measures how fast a website loads and performs across devices. It evaluates factors like loading time, responsiveness, and performance optimizations that impact user experience and SEO rankings.</a:t>
            </a:r>
            <a:endParaRPr/>
          </a:p>
        </p:txBody>
      </p:sp>
      <p:grpSp>
        <p:nvGrpSpPr>
          <p:cNvPr id="243" name="Google Shape;243;p4"/>
          <p:cNvGrpSpPr/>
          <p:nvPr/>
        </p:nvGrpSpPr>
        <p:grpSpPr>
          <a:xfrm>
            <a:off x="341947" y="5419873"/>
            <a:ext cx="735740" cy="735740"/>
            <a:chOff x="0" y="0"/>
            <a:chExt cx="812800" cy="812800"/>
          </a:xfrm>
        </p:grpSpPr>
        <p:sp>
          <p:nvSpPr>
            <p:cNvPr id="244" name="Google Shape;24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4"/>
          <p:cNvSpPr txBox="1"/>
          <p:nvPr/>
        </p:nvSpPr>
        <p:spPr>
          <a:xfrm>
            <a:off x="468221" y="5372917"/>
            <a:ext cx="483192" cy="71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247" name="Google Shape;247;p4"/>
          <p:cNvSpPr txBox="1"/>
          <p:nvPr/>
        </p:nvSpPr>
        <p:spPr>
          <a:xfrm>
            <a:off x="1315944" y="5515057"/>
            <a:ext cx="6849836" cy="573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Responsive checker </a:t>
            </a:r>
            <a:endParaRPr/>
          </a:p>
        </p:txBody>
      </p:sp>
      <p:sp>
        <p:nvSpPr>
          <p:cNvPr id="248" name="Google Shape;248;p4"/>
          <p:cNvSpPr txBox="1"/>
          <p:nvPr/>
        </p:nvSpPr>
        <p:spPr>
          <a:xfrm>
            <a:off x="1315944" y="8091104"/>
            <a:ext cx="13843310" cy="74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3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Rank Math is an SEO plugin that guides users to optimize content, meta tags, and technical SEO elements to improve search engine visibility.</a:t>
            </a:r>
            <a:endParaRPr/>
          </a:p>
        </p:txBody>
      </p:sp>
      <p:grpSp>
        <p:nvGrpSpPr>
          <p:cNvPr id="249" name="Google Shape;249;p4"/>
          <p:cNvGrpSpPr/>
          <p:nvPr/>
        </p:nvGrpSpPr>
        <p:grpSpPr>
          <a:xfrm>
            <a:off x="338608" y="7383939"/>
            <a:ext cx="735740" cy="735740"/>
            <a:chOff x="0" y="0"/>
            <a:chExt cx="812800" cy="812800"/>
          </a:xfrm>
        </p:grpSpPr>
        <p:sp>
          <p:nvSpPr>
            <p:cNvPr id="250" name="Google Shape;25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4"/>
          <p:cNvSpPr txBox="1"/>
          <p:nvPr/>
        </p:nvSpPr>
        <p:spPr>
          <a:xfrm>
            <a:off x="464882" y="7337286"/>
            <a:ext cx="483192" cy="71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5"/>
          <p:cNvGrpSpPr/>
          <p:nvPr/>
        </p:nvGrpSpPr>
        <p:grpSpPr>
          <a:xfrm>
            <a:off x="1028700" y="2181648"/>
            <a:ext cx="356204" cy="311678"/>
            <a:chOff x="0" y="0"/>
            <a:chExt cx="812800" cy="711200"/>
          </a:xfrm>
        </p:grpSpPr>
        <p:sp>
          <p:nvSpPr>
            <p:cNvPr id="258" name="Google Shape;258;p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59" name="Google Shape;259;p5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5"/>
          <p:cNvSpPr txBox="1"/>
          <p:nvPr/>
        </p:nvSpPr>
        <p:spPr>
          <a:xfrm>
            <a:off x="1539106" y="2010726"/>
            <a:ext cx="4340856" cy="558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- page seo audit 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206802" y="3004416"/>
            <a:ext cx="6281669" cy="548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Title tag length is</a:t>
            </a: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74 characters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which exceeds the recommended limit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H1 heading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missing, affecting content structure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 images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are missing alt attributes, reducing image SEO value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Only</a:t>
            </a: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9 internal links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found (too low).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62" name="Google Shape;262;p5"/>
          <p:cNvCxnSpPr/>
          <p:nvPr/>
        </p:nvCxnSpPr>
        <p:spPr>
          <a:xfrm flipH="1" rot="10800000">
            <a:off x="1028700" y="9258300"/>
            <a:ext cx="16677999" cy="97854"/>
          </a:xfrm>
          <a:prstGeom prst="straightConnector1">
            <a:avLst/>
          </a:prstGeom>
          <a:noFill/>
          <a:ln cap="flat" cmpd="sng" w="28575">
            <a:solidFill>
              <a:srgbClr val="125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5"/>
          <p:cNvSpPr txBox="1"/>
          <p:nvPr/>
        </p:nvSpPr>
        <p:spPr>
          <a:xfrm>
            <a:off x="1028700" y="308605"/>
            <a:ext cx="8619508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3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Audit Findings - Imaglance 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9889747" y="2568990"/>
            <a:ext cx="6281700" cy="7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exactly </a:t>
            </a: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H1 tag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a primary keyword .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ALT attributes to </a:t>
            </a: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images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using descriptive, keyword-relevant text.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 internal linking (minimum</a:t>
            </a: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15–20 internal links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to improve crawlability.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2706" lvl="1" marL="565411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8"/>
              <a:buFont typeface="Arial"/>
              <a:buChar char="•"/>
            </a:pP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clear title with keywords within </a:t>
            </a:r>
            <a:r>
              <a:rPr b="1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50-60 characters</a:t>
            </a:r>
            <a:r>
              <a:rPr b="0" i="0" lang="en-US" sz="261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  <a:p>
            <a:pPr indent="0" lvl="0" marL="0" marR="0" rtl="0" algn="l">
              <a:lnSpc>
                <a:spcPct val="119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10267831" y="1935053"/>
            <a:ext cx="4340856" cy="558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/>
          </a:p>
        </p:txBody>
      </p:sp>
      <p:grpSp>
        <p:nvGrpSpPr>
          <p:cNvPr id="266" name="Google Shape;266;p5"/>
          <p:cNvGrpSpPr/>
          <p:nvPr/>
        </p:nvGrpSpPr>
        <p:grpSpPr>
          <a:xfrm>
            <a:off x="16757906" y="-108665"/>
            <a:ext cx="3060187" cy="2677664"/>
            <a:chOff x="0" y="0"/>
            <a:chExt cx="812800" cy="711200"/>
          </a:xfrm>
        </p:grpSpPr>
        <p:sp>
          <p:nvSpPr>
            <p:cNvPr id="267" name="Google Shape;267;p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68" name="Google Shape;268;p5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5"/>
          <p:cNvGrpSpPr/>
          <p:nvPr/>
        </p:nvGrpSpPr>
        <p:grpSpPr>
          <a:xfrm rot="10800000">
            <a:off x="15747540" y="800857"/>
            <a:ext cx="2020733" cy="1768142"/>
            <a:chOff x="0" y="0"/>
            <a:chExt cx="812800" cy="711200"/>
          </a:xfrm>
        </p:grpSpPr>
        <p:sp>
          <p:nvSpPr>
            <p:cNvPr id="270" name="Google Shape;270;p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271" name="Google Shape;271;p5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5"/>
          <p:cNvGrpSpPr/>
          <p:nvPr/>
        </p:nvGrpSpPr>
        <p:grpSpPr>
          <a:xfrm>
            <a:off x="16259262" y="812301"/>
            <a:ext cx="997288" cy="872627"/>
            <a:chOff x="0" y="0"/>
            <a:chExt cx="812800" cy="711200"/>
          </a:xfrm>
        </p:grpSpPr>
        <p:sp>
          <p:nvSpPr>
            <p:cNvPr id="273" name="Google Shape;273;p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74" name="Google Shape;274;p5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"/>
          <p:cNvSpPr txBox="1"/>
          <p:nvPr/>
        </p:nvSpPr>
        <p:spPr>
          <a:xfrm>
            <a:off x="1539106" y="2010726"/>
            <a:ext cx="4340856" cy="558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Seo audit </a:t>
            </a:r>
            <a:endParaRPr/>
          </a:p>
        </p:txBody>
      </p:sp>
      <p:grpSp>
        <p:nvGrpSpPr>
          <p:cNvPr id="280" name="Google Shape;280;p6"/>
          <p:cNvGrpSpPr/>
          <p:nvPr/>
        </p:nvGrpSpPr>
        <p:grpSpPr>
          <a:xfrm>
            <a:off x="1028700" y="2181648"/>
            <a:ext cx="356204" cy="311678"/>
            <a:chOff x="0" y="0"/>
            <a:chExt cx="812800" cy="711200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82" name="Google Shape;282;p6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6"/>
          <p:cNvSpPr txBox="1"/>
          <p:nvPr/>
        </p:nvSpPr>
        <p:spPr>
          <a:xfrm>
            <a:off x="1028700" y="3324953"/>
            <a:ext cx="7732070" cy="4506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6184" lvl="1" marL="572368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1"/>
              <a:buFont typeface="Arial"/>
              <a:buChar char="•"/>
            </a:pP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Excellent </a:t>
            </a:r>
            <a:r>
              <a:rPr b="1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page speed  </a:t>
            </a: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~</a:t>
            </a:r>
            <a:r>
              <a:rPr b="1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94%</a:t>
            </a:r>
            <a:endParaRPr/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6184" lvl="1" marL="572368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1"/>
              <a:buFont typeface="Arial"/>
              <a:buChar char="•"/>
            </a:pP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WordPress </a:t>
            </a:r>
            <a:r>
              <a:rPr b="1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theme and plugins</a:t>
            </a: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are publicly visible.</a:t>
            </a:r>
            <a:endParaRPr/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6184" lvl="1" marL="572368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1"/>
              <a:buFont typeface="Arial"/>
              <a:buChar char="•"/>
            </a:pPr>
            <a:r>
              <a:rPr b="1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Content </a:t>
            </a: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appears outdated last updated 128 days ago.</a:t>
            </a:r>
            <a:endParaRPr/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84" name="Google Shape;284;p6"/>
          <p:cNvCxnSpPr/>
          <p:nvPr/>
        </p:nvCxnSpPr>
        <p:spPr>
          <a:xfrm>
            <a:off x="1028700" y="9258300"/>
            <a:ext cx="16677999" cy="0"/>
          </a:xfrm>
          <a:prstGeom prst="straightConnector1">
            <a:avLst/>
          </a:prstGeom>
          <a:noFill/>
          <a:ln cap="flat" cmpd="sng" w="28575">
            <a:solidFill>
              <a:srgbClr val="125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6"/>
          <p:cNvSpPr txBox="1"/>
          <p:nvPr/>
        </p:nvSpPr>
        <p:spPr>
          <a:xfrm>
            <a:off x="1028700" y="308605"/>
            <a:ext cx="8619508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3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Audit Findings - Imaglance </a:t>
            </a:r>
            <a:endParaRPr/>
          </a:p>
        </p:txBody>
      </p:sp>
      <p:sp>
        <p:nvSpPr>
          <p:cNvPr id="286" name="Google Shape;286;p6"/>
          <p:cNvSpPr txBox="1"/>
          <p:nvPr/>
        </p:nvSpPr>
        <p:spPr>
          <a:xfrm>
            <a:off x="11055683" y="2086398"/>
            <a:ext cx="4340856" cy="558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/>
          </a:p>
        </p:txBody>
      </p:sp>
      <p:sp>
        <p:nvSpPr>
          <p:cNvPr id="287" name="Google Shape;287;p6"/>
          <p:cNvSpPr txBox="1"/>
          <p:nvPr/>
        </p:nvSpPr>
        <p:spPr>
          <a:xfrm>
            <a:off x="9839569" y="3324953"/>
            <a:ext cx="7732070" cy="5737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6184" lvl="1" marL="572368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1"/>
              <a:buFont typeface="Arial"/>
              <a:buChar char="•"/>
            </a:pP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Continue maintaining </a:t>
            </a:r>
            <a:r>
              <a:rPr b="1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load speed</a:t>
            </a: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mobile optimization.</a:t>
            </a:r>
            <a:endParaRPr/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6184" lvl="1" marL="572368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1"/>
              <a:buFont typeface="Arial"/>
              <a:buChar char="•"/>
            </a:pP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Hide WordPress theme and plugin visibility to</a:t>
            </a:r>
            <a:r>
              <a:rPr b="1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improve security.</a:t>
            </a:r>
            <a:endParaRPr/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6184" lvl="1" marL="572368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1"/>
              <a:buFont typeface="Arial"/>
              <a:buChar char="•"/>
            </a:pP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Update website content regularly to maintain freshness and</a:t>
            </a:r>
            <a:r>
              <a:rPr b="1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SEO trust</a:t>
            </a:r>
            <a:r>
              <a:rPr b="0" i="0" lang="en-US" sz="265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8" name="Google Shape;288;p6"/>
          <p:cNvGrpSpPr/>
          <p:nvPr/>
        </p:nvGrpSpPr>
        <p:grpSpPr>
          <a:xfrm rot="10800000">
            <a:off x="15747540" y="800857"/>
            <a:ext cx="2020733" cy="1768142"/>
            <a:chOff x="0" y="0"/>
            <a:chExt cx="812800" cy="711200"/>
          </a:xfrm>
        </p:grpSpPr>
        <p:sp>
          <p:nvSpPr>
            <p:cNvPr id="289" name="Google Shape;289;p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290" name="Google Shape;290;p6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6"/>
          <p:cNvGrpSpPr/>
          <p:nvPr/>
        </p:nvGrpSpPr>
        <p:grpSpPr>
          <a:xfrm>
            <a:off x="16259262" y="812301"/>
            <a:ext cx="997288" cy="872627"/>
            <a:chOff x="0" y="0"/>
            <a:chExt cx="812800" cy="711200"/>
          </a:xfrm>
        </p:grpSpPr>
        <p:sp>
          <p:nvSpPr>
            <p:cNvPr id="292" name="Google Shape;292;p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93" name="Google Shape;293;p6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6"/>
          <p:cNvGrpSpPr/>
          <p:nvPr/>
        </p:nvGrpSpPr>
        <p:grpSpPr>
          <a:xfrm>
            <a:off x="16757906" y="-108665"/>
            <a:ext cx="3060187" cy="2677664"/>
            <a:chOff x="0" y="0"/>
            <a:chExt cx="812800" cy="711200"/>
          </a:xfrm>
        </p:grpSpPr>
        <p:sp>
          <p:nvSpPr>
            <p:cNvPr id="295" name="Google Shape;295;p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296" name="Google Shape;296;p6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"/>
          <p:cNvSpPr txBox="1"/>
          <p:nvPr/>
        </p:nvSpPr>
        <p:spPr>
          <a:xfrm>
            <a:off x="1539106" y="2010726"/>
            <a:ext cx="4340856" cy="558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 page - Seo audit </a:t>
            </a:r>
            <a:endParaRPr/>
          </a:p>
        </p:txBody>
      </p:sp>
      <p:grpSp>
        <p:nvGrpSpPr>
          <p:cNvPr id="302" name="Google Shape;302;p7"/>
          <p:cNvGrpSpPr/>
          <p:nvPr/>
        </p:nvGrpSpPr>
        <p:grpSpPr>
          <a:xfrm>
            <a:off x="1028700" y="2181648"/>
            <a:ext cx="356204" cy="311678"/>
            <a:chOff x="0" y="0"/>
            <a:chExt cx="812800" cy="711200"/>
          </a:xfrm>
        </p:grpSpPr>
        <p:sp>
          <p:nvSpPr>
            <p:cNvPr id="303" name="Google Shape;303;p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04" name="Google Shape;304;p7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5" name="Google Shape;305;p7"/>
          <p:cNvCxnSpPr/>
          <p:nvPr/>
        </p:nvCxnSpPr>
        <p:spPr>
          <a:xfrm>
            <a:off x="1206802" y="9581182"/>
            <a:ext cx="16499981" cy="0"/>
          </a:xfrm>
          <a:prstGeom prst="straightConnector1">
            <a:avLst/>
          </a:prstGeom>
          <a:noFill/>
          <a:ln cap="flat" cmpd="sng" w="28575">
            <a:solidFill>
              <a:srgbClr val="125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7"/>
          <p:cNvSpPr txBox="1"/>
          <p:nvPr/>
        </p:nvSpPr>
        <p:spPr>
          <a:xfrm>
            <a:off x="1028700" y="308605"/>
            <a:ext cx="8619508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3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Audit Findings - Imaglance </a:t>
            </a:r>
            <a:endParaRPr/>
          </a:p>
        </p:txBody>
      </p:sp>
      <p:grpSp>
        <p:nvGrpSpPr>
          <p:cNvPr id="307" name="Google Shape;307;p7"/>
          <p:cNvGrpSpPr/>
          <p:nvPr/>
        </p:nvGrpSpPr>
        <p:grpSpPr>
          <a:xfrm>
            <a:off x="16757906" y="-108665"/>
            <a:ext cx="3060187" cy="2677664"/>
            <a:chOff x="0" y="0"/>
            <a:chExt cx="812800" cy="711200"/>
          </a:xfrm>
        </p:grpSpPr>
        <p:sp>
          <p:nvSpPr>
            <p:cNvPr id="308" name="Google Shape;308;p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09" name="Google Shape;309;p7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7"/>
          <p:cNvGrpSpPr/>
          <p:nvPr/>
        </p:nvGrpSpPr>
        <p:grpSpPr>
          <a:xfrm rot="10800000">
            <a:off x="15747540" y="800857"/>
            <a:ext cx="2020733" cy="1768142"/>
            <a:chOff x="0" y="0"/>
            <a:chExt cx="812800" cy="711200"/>
          </a:xfrm>
        </p:grpSpPr>
        <p:sp>
          <p:nvSpPr>
            <p:cNvPr id="311" name="Google Shape;311;p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312" name="Google Shape;312;p7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7"/>
          <p:cNvGrpSpPr/>
          <p:nvPr/>
        </p:nvGrpSpPr>
        <p:grpSpPr>
          <a:xfrm>
            <a:off x="16259262" y="812301"/>
            <a:ext cx="997288" cy="872627"/>
            <a:chOff x="0" y="0"/>
            <a:chExt cx="812800" cy="711200"/>
          </a:xfrm>
        </p:grpSpPr>
        <p:sp>
          <p:nvSpPr>
            <p:cNvPr id="314" name="Google Shape;314;p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15" name="Google Shape;315;p7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7"/>
          <p:cNvSpPr txBox="1"/>
          <p:nvPr/>
        </p:nvSpPr>
        <p:spPr>
          <a:xfrm>
            <a:off x="1028700" y="3062421"/>
            <a:ext cx="7819652" cy="507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3992" lvl="1" marL="607983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1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 backlinks </a:t>
            </a: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detected, not highlighted in the audit tool</a:t>
            </a:r>
            <a:endParaRPr/>
          </a:p>
          <a:p>
            <a:pPr indent="0" lvl="0" marL="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3992" lvl="1" marL="607983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Domain Authority Signals limited due to </a:t>
            </a:r>
            <a:r>
              <a:rPr b="1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backlink</a:t>
            </a: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presence.</a:t>
            </a:r>
            <a:endParaRPr/>
          </a:p>
          <a:p>
            <a:pPr indent="0" lvl="0" marL="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3992" lvl="1" marL="607983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 Graph tags</a:t>
            </a: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support social sharing, but reach depends on backlinks and promotions.</a:t>
            </a:r>
            <a:endParaRPr/>
          </a:p>
          <a:p>
            <a:pPr indent="0" lvl="0" marL="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3992" lvl="1" marL="607983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Only </a:t>
            </a:r>
            <a:r>
              <a:rPr b="1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outbound links</a:t>
            </a: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found.</a:t>
            </a:r>
            <a:endParaRPr/>
          </a:p>
          <a:p>
            <a:pPr indent="0" lvl="0" marL="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10560462" y="2086398"/>
            <a:ext cx="4340856" cy="558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9481651" y="3331851"/>
            <a:ext cx="8624273" cy="3604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2868" lvl="1" marL="645736" marR="0" rtl="0" algn="l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b="0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</a:t>
            </a:r>
            <a:r>
              <a:rPr b="1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high-quality</a:t>
            </a:r>
            <a:r>
              <a:rPr b="0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backlinks</a:t>
            </a:r>
            <a:endParaRPr/>
          </a:p>
          <a:p>
            <a:pPr indent="0" lvl="0" marL="0" marR="0" rtl="0" algn="l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2868" lvl="1" marL="645736" marR="0" rtl="0" algn="l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b="1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 brand mentions</a:t>
            </a:r>
            <a:r>
              <a:rPr b="0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across social media and blogs.</a:t>
            </a:r>
            <a:endParaRPr/>
          </a:p>
          <a:p>
            <a:pPr indent="0" lvl="0" marL="0" marR="0" rtl="0" algn="l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2868" lvl="1" marL="645736" marR="0" rtl="0" algn="l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b="0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Add more relevant </a:t>
            </a:r>
            <a:r>
              <a:rPr b="1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outbound links</a:t>
            </a:r>
            <a:r>
              <a:rPr b="0" i="0" lang="en-US" sz="299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authoritative sources where applicable.</a:t>
            </a:r>
            <a:endParaRPr/>
          </a:p>
          <a:p>
            <a:pPr indent="0" lvl="0" marL="0" marR="0" rtl="0" algn="l">
              <a:lnSpc>
                <a:spcPct val="119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"/>
          <p:cNvSpPr/>
          <p:nvPr/>
        </p:nvSpPr>
        <p:spPr>
          <a:xfrm>
            <a:off x="12970910" y="-115729"/>
            <a:ext cx="5317090" cy="4604361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85" r="-14985" t="0"/>
            </a:stretch>
          </a:blipFill>
          <a:ln>
            <a:noFill/>
          </a:ln>
        </p:spPr>
      </p:sp>
      <p:sp>
        <p:nvSpPr>
          <p:cNvPr id="324" name="Google Shape;324;p8"/>
          <p:cNvSpPr/>
          <p:nvPr/>
        </p:nvSpPr>
        <p:spPr>
          <a:xfrm>
            <a:off x="12970910" y="4720507"/>
            <a:ext cx="5317090" cy="4604361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2600" r="0" t="-9714"/>
            </a:stretch>
          </a:blipFill>
          <a:ln>
            <a:noFill/>
          </a:ln>
        </p:spPr>
      </p:sp>
      <p:sp>
        <p:nvSpPr>
          <p:cNvPr id="325" name="Google Shape;325;p8"/>
          <p:cNvSpPr txBox="1"/>
          <p:nvPr/>
        </p:nvSpPr>
        <p:spPr>
          <a:xfrm>
            <a:off x="767451" y="449881"/>
            <a:ext cx="854914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3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Imaglance - Strengths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696035" y="4247780"/>
            <a:ext cx="545660" cy="8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grpSp>
        <p:nvGrpSpPr>
          <p:cNvPr id="327" name="Google Shape;327;p8"/>
          <p:cNvGrpSpPr/>
          <p:nvPr/>
        </p:nvGrpSpPr>
        <p:grpSpPr>
          <a:xfrm>
            <a:off x="16505097" y="3202928"/>
            <a:ext cx="2815893" cy="2463906"/>
            <a:chOff x="0" y="0"/>
            <a:chExt cx="812800" cy="711200"/>
          </a:xfrm>
        </p:grpSpPr>
        <p:sp>
          <p:nvSpPr>
            <p:cNvPr id="328" name="Google Shape;328;p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>
                <a:alpha val="87450"/>
              </a:srgbClr>
            </a:solidFill>
            <a:ln>
              <a:noFill/>
            </a:ln>
          </p:spPr>
        </p:sp>
        <p:sp>
          <p:nvSpPr>
            <p:cNvPr id="329" name="Google Shape;329;p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8"/>
          <p:cNvGrpSpPr/>
          <p:nvPr/>
        </p:nvGrpSpPr>
        <p:grpSpPr>
          <a:xfrm rot="10800000">
            <a:off x="16513788" y="5666834"/>
            <a:ext cx="2815893" cy="2463906"/>
            <a:chOff x="0" y="0"/>
            <a:chExt cx="812800" cy="711200"/>
          </a:xfrm>
        </p:grpSpPr>
        <p:sp>
          <p:nvSpPr>
            <p:cNvPr id="331" name="Google Shape;331;p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332" name="Google Shape;332;p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8"/>
          <p:cNvSpPr txBox="1"/>
          <p:nvPr/>
        </p:nvSpPr>
        <p:spPr>
          <a:xfrm>
            <a:off x="1516596" y="2090027"/>
            <a:ext cx="8167563" cy="5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Website design is clean &amp; Professional </a:t>
            </a:r>
            <a:endParaRPr/>
          </a:p>
        </p:txBody>
      </p:sp>
      <p:grpSp>
        <p:nvGrpSpPr>
          <p:cNvPr id="334" name="Google Shape;334;p8"/>
          <p:cNvGrpSpPr/>
          <p:nvPr/>
        </p:nvGrpSpPr>
        <p:grpSpPr>
          <a:xfrm>
            <a:off x="885491" y="2261815"/>
            <a:ext cx="356204" cy="311678"/>
            <a:chOff x="0" y="0"/>
            <a:chExt cx="812800" cy="711200"/>
          </a:xfrm>
        </p:grpSpPr>
        <p:sp>
          <p:nvSpPr>
            <p:cNvPr id="335" name="Google Shape;335;p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36" name="Google Shape;336;p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8"/>
          <p:cNvSpPr txBox="1"/>
          <p:nvPr/>
        </p:nvSpPr>
        <p:spPr>
          <a:xfrm>
            <a:off x="1516596" y="3385704"/>
            <a:ext cx="9067965" cy="110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Services are clearly explained and relevant to digital marketing</a:t>
            </a:r>
            <a:endParaRPr/>
          </a:p>
        </p:txBody>
      </p:sp>
      <p:grpSp>
        <p:nvGrpSpPr>
          <p:cNvPr id="338" name="Google Shape;338;p8"/>
          <p:cNvGrpSpPr/>
          <p:nvPr/>
        </p:nvGrpSpPr>
        <p:grpSpPr>
          <a:xfrm>
            <a:off x="885491" y="3673115"/>
            <a:ext cx="356204" cy="311678"/>
            <a:chOff x="0" y="0"/>
            <a:chExt cx="812800" cy="711200"/>
          </a:xfrm>
        </p:grpSpPr>
        <p:sp>
          <p:nvSpPr>
            <p:cNvPr id="339" name="Google Shape;339;p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40" name="Google Shape;340;p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8"/>
          <p:cNvSpPr txBox="1"/>
          <p:nvPr/>
        </p:nvSpPr>
        <p:spPr>
          <a:xfrm>
            <a:off x="1516596" y="5204089"/>
            <a:ext cx="9067965" cy="5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Website is HTTPS secure (safe for users)</a:t>
            </a:r>
            <a:endParaRPr/>
          </a:p>
        </p:txBody>
      </p:sp>
      <p:grpSp>
        <p:nvGrpSpPr>
          <p:cNvPr id="342" name="Google Shape;342;p8"/>
          <p:cNvGrpSpPr/>
          <p:nvPr/>
        </p:nvGrpSpPr>
        <p:grpSpPr>
          <a:xfrm>
            <a:off x="850598" y="5299339"/>
            <a:ext cx="356204" cy="311678"/>
            <a:chOff x="0" y="0"/>
            <a:chExt cx="812800" cy="711200"/>
          </a:xfrm>
        </p:grpSpPr>
        <p:sp>
          <p:nvSpPr>
            <p:cNvPr id="343" name="Google Shape;343;p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44" name="Google Shape;344;p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8"/>
          <p:cNvSpPr txBox="1"/>
          <p:nvPr/>
        </p:nvSpPr>
        <p:spPr>
          <a:xfrm>
            <a:off x="1516596" y="6376456"/>
            <a:ext cx="9067965" cy="1645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Navigation is simple and user-friendly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7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7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6" name="Google Shape;346;p8"/>
          <p:cNvGrpSpPr/>
          <p:nvPr/>
        </p:nvGrpSpPr>
        <p:grpSpPr>
          <a:xfrm>
            <a:off x="850598" y="6471706"/>
            <a:ext cx="356204" cy="311678"/>
            <a:chOff x="0" y="0"/>
            <a:chExt cx="812800" cy="711200"/>
          </a:xfrm>
        </p:grpSpPr>
        <p:sp>
          <p:nvSpPr>
            <p:cNvPr id="347" name="Google Shape;347;p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48" name="Google Shape;348;p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9" name="Google Shape;349;p8"/>
          <p:cNvSpPr txBox="1"/>
          <p:nvPr/>
        </p:nvSpPr>
        <p:spPr>
          <a:xfrm>
            <a:off x="1516596" y="7570738"/>
            <a:ext cx="9067965" cy="5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Canonical tag properly implemented </a:t>
            </a:r>
            <a:endParaRPr/>
          </a:p>
        </p:txBody>
      </p:sp>
      <p:grpSp>
        <p:nvGrpSpPr>
          <p:cNvPr id="350" name="Google Shape;350;p8"/>
          <p:cNvGrpSpPr/>
          <p:nvPr/>
        </p:nvGrpSpPr>
        <p:grpSpPr>
          <a:xfrm>
            <a:off x="850598" y="7742525"/>
            <a:ext cx="356204" cy="311678"/>
            <a:chOff x="0" y="0"/>
            <a:chExt cx="812800" cy="711200"/>
          </a:xfrm>
        </p:grpSpPr>
        <p:sp>
          <p:nvSpPr>
            <p:cNvPr id="351" name="Google Shape;351;p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52" name="Google Shape;352;p8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/>
          <p:nvPr/>
        </p:nvSpPr>
        <p:spPr>
          <a:xfrm flipH="1">
            <a:off x="10160193" y="0"/>
            <a:ext cx="13399784" cy="11603609"/>
          </a:xfrm>
          <a:custGeom>
            <a:rect b="b" l="l" r="r" t="t"/>
            <a:pathLst>
              <a:path extrusionOk="0" h="3708400" w="4282440">
                <a:moveTo>
                  <a:pt x="1070610" y="0"/>
                </a:moveTo>
                <a:lnTo>
                  <a:pt x="3211830" y="0"/>
                </a:lnTo>
                <a:lnTo>
                  <a:pt x="4282440" y="1854200"/>
                </a:lnTo>
                <a:lnTo>
                  <a:pt x="3211830" y="3708400"/>
                </a:lnTo>
                <a:lnTo>
                  <a:pt x="1070610" y="3708400"/>
                </a:lnTo>
                <a:lnTo>
                  <a:pt x="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38" r="-1205" t="-21654"/>
            </a:stretch>
          </a:blipFill>
          <a:ln>
            <a:noFill/>
          </a:ln>
        </p:spPr>
      </p:sp>
      <p:grpSp>
        <p:nvGrpSpPr>
          <p:cNvPr id="358" name="Google Shape;358;p9"/>
          <p:cNvGrpSpPr/>
          <p:nvPr/>
        </p:nvGrpSpPr>
        <p:grpSpPr>
          <a:xfrm rot="10800000">
            <a:off x="-3067113" y="-179028"/>
            <a:ext cx="6103845" cy="5340865"/>
            <a:chOff x="0" y="0"/>
            <a:chExt cx="812800" cy="711200"/>
          </a:xfrm>
        </p:grpSpPr>
        <p:sp>
          <p:nvSpPr>
            <p:cNvPr id="359" name="Google Shape;359;p9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60" name="Google Shape;360;p9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9"/>
          <p:cNvGrpSpPr/>
          <p:nvPr/>
        </p:nvGrpSpPr>
        <p:grpSpPr>
          <a:xfrm>
            <a:off x="844545" y="701820"/>
            <a:ext cx="2020733" cy="1768142"/>
            <a:chOff x="0" y="0"/>
            <a:chExt cx="812800" cy="711200"/>
          </a:xfrm>
        </p:grpSpPr>
        <p:sp>
          <p:nvSpPr>
            <p:cNvPr id="362" name="Google Shape;362;p9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363" name="Google Shape;363;p9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9"/>
          <p:cNvGrpSpPr/>
          <p:nvPr/>
        </p:nvGrpSpPr>
        <p:grpSpPr>
          <a:xfrm rot="10800000">
            <a:off x="2039445" y="716487"/>
            <a:ext cx="997288" cy="872627"/>
            <a:chOff x="0" y="0"/>
            <a:chExt cx="812800" cy="711200"/>
          </a:xfrm>
        </p:grpSpPr>
        <p:sp>
          <p:nvSpPr>
            <p:cNvPr id="365" name="Google Shape;365;p9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66" name="Google Shape;366;p9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9"/>
          <p:cNvGrpSpPr/>
          <p:nvPr/>
        </p:nvGrpSpPr>
        <p:grpSpPr>
          <a:xfrm>
            <a:off x="-1515383" y="4650595"/>
            <a:ext cx="3085910" cy="2700171"/>
            <a:chOff x="0" y="0"/>
            <a:chExt cx="812800" cy="711200"/>
          </a:xfrm>
        </p:grpSpPr>
        <p:sp>
          <p:nvSpPr>
            <p:cNvPr id="368" name="Google Shape;368;p9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369" name="Google Shape;369;p9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" name="Google Shape;370;p9"/>
          <p:cNvGrpSpPr/>
          <p:nvPr/>
        </p:nvGrpSpPr>
        <p:grpSpPr>
          <a:xfrm>
            <a:off x="-450207" y="7350766"/>
            <a:ext cx="4041467" cy="3536283"/>
            <a:chOff x="0" y="0"/>
            <a:chExt cx="812800" cy="711200"/>
          </a:xfrm>
        </p:grpSpPr>
        <p:sp>
          <p:nvSpPr>
            <p:cNvPr id="371" name="Google Shape;371;p9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372" name="Google Shape;372;p9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p9"/>
          <p:cNvSpPr txBox="1"/>
          <p:nvPr/>
        </p:nvSpPr>
        <p:spPr>
          <a:xfrm>
            <a:off x="4436588" y="678387"/>
            <a:ext cx="854914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3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Landing page - URL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3763917" y="8221798"/>
            <a:ext cx="13096168" cy="43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https://shakthi.imaglance.com/fitness/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4096272" y="2491405"/>
            <a:ext cx="5317090" cy="4604361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42600" r="0" t="-9714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10"/>
          <p:cNvGrpSpPr/>
          <p:nvPr/>
        </p:nvGrpSpPr>
        <p:grpSpPr>
          <a:xfrm>
            <a:off x="2924218" y="590237"/>
            <a:ext cx="12439708" cy="3541331"/>
            <a:chOff x="0" y="-66675"/>
            <a:chExt cx="3276280" cy="932690"/>
          </a:xfrm>
        </p:grpSpPr>
        <p:sp>
          <p:nvSpPr>
            <p:cNvPr id="381" name="Google Shape;381;p10"/>
            <p:cNvSpPr/>
            <p:nvPr/>
          </p:nvSpPr>
          <p:spPr>
            <a:xfrm>
              <a:off x="0" y="0"/>
              <a:ext cx="3276280" cy="866015"/>
            </a:xfrm>
            <a:custGeom>
              <a:rect b="b" l="l" r="r" t="t"/>
              <a:pathLst>
                <a:path extrusionOk="0" h="866015" w="3276280">
                  <a:moveTo>
                    <a:pt x="0" y="0"/>
                  </a:moveTo>
                  <a:lnTo>
                    <a:pt x="3276280" y="0"/>
                  </a:lnTo>
                  <a:lnTo>
                    <a:pt x="3276280" y="866015"/>
                  </a:lnTo>
                  <a:lnTo>
                    <a:pt x="0" y="866015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82" name="Google Shape;382;p10"/>
            <p:cNvSpPr txBox="1"/>
            <p:nvPr/>
          </p:nvSpPr>
          <p:spPr>
            <a:xfrm>
              <a:off x="0" y="-66675"/>
              <a:ext cx="3276280" cy="932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3" name="Google Shape;383;p10"/>
          <p:cNvPicPr preferRelativeResize="0"/>
          <p:nvPr/>
        </p:nvPicPr>
        <p:blipFill rotWithShape="1">
          <a:blip r:embed="rId3">
            <a:alphaModFix/>
          </a:blip>
          <a:srcRect b="9495" l="0" r="0" t="9495"/>
          <a:stretch/>
        </p:blipFill>
        <p:spPr>
          <a:xfrm>
            <a:off x="3189370" y="1112550"/>
            <a:ext cx="11866596" cy="2855877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0"/>
          <p:cNvSpPr/>
          <p:nvPr/>
        </p:nvSpPr>
        <p:spPr>
          <a:xfrm>
            <a:off x="2273607" y="7658972"/>
            <a:ext cx="881904" cy="881904"/>
          </a:xfrm>
          <a:custGeom>
            <a:rect b="b" l="l" r="r" t="t"/>
            <a:pathLst>
              <a:path extrusionOk="0" h="881904" w="881904">
                <a:moveTo>
                  <a:pt x="0" y="0"/>
                </a:moveTo>
                <a:lnTo>
                  <a:pt x="881905" y="0"/>
                </a:lnTo>
                <a:lnTo>
                  <a:pt x="881905" y="881904"/>
                </a:lnTo>
                <a:lnTo>
                  <a:pt x="0" y="881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10"/>
          <p:cNvSpPr txBox="1"/>
          <p:nvPr/>
        </p:nvSpPr>
        <p:spPr>
          <a:xfrm>
            <a:off x="6588680" y="-1"/>
            <a:ext cx="6797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3" u="sng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  </a:t>
            </a:r>
            <a:endParaRPr/>
          </a:p>
        </p:txBody>
      </p:sp>
      <p:cxnSp>
        <p:nvCxnSpPr>
          <p:cNvPr id="386" name="Google Shape;386;p10"/>
          <p:cNvCxnSpPr/>
          <p:nvPr/>
        </p:nvCxnSpPr>
        <p:spPr>
          <a:xfrm>
            <a:off x="1206802" y="9581182"/>
            <a:ext cx="16499981" cy="0"/>
          </a:xfrm>
          <a:prstGeom prst="straightConnector1">
            <a:avLst/>
          </a:prstGeom>
          <a:noFill/>
          <a:ln cap="flat" cmpd="sng" w="28575">
            <a:solidFill>
              <a:srgbClr val="1255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0"/>
          <p:cNvSpPr txBox="1"/>
          <p:nvPr/>
        </p:nvSpPr>
        <p:spPr>
          <a:xfrm>
            <a:off x="1172225" y="4131575"/>
            <a:ext cx="15900900" cy="6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1" marL="761191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a Digital marketing Analyst , I analyzed </a:t>
            </a:r>
            <a:b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Imaglance has a strong technical foundation with excellent speed, security, and mobile performance.</a:t>
            </a:r>
            <a:endParaRPr/>
          </a:p>
          <a:p>
            <a:pPr indent="-278384" lvl="0" marL="45720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16"/>
              <a:buFont typeface="Arial"/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3992" lvl="1" marL="607983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On-page SEO needs improvement, especially H1 tags, internal linking, and image ALT attributes.</a:t>
            </a:r>
            <a:endParaRPr/>
          </a:p>
          <a:p>
            <a:pPr indent="-278384" lvl="0" marL="45720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16"/>
              <a:buFont typeface="Arial"/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3992" lvl="1" marL="607983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Off-page SEO is weak and requires backlink-building strategies to improve domain authority.</a:t>
            </a:r>
            <a:endParaRPr/>
          </a:p>
          <a:p>
            <a:pPr indent="-278384" lvl="0" marL="45720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16"/>
              <a:buFont typeface="Arial"/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3992" lvl="1" marL="607983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6"/>
              <a:buFont typeface="Arial"/>
              <a:buChar char="•"/>
            </a:pPr>
            <a:r>
              <a:rPr b="0" i="0" lang="en-US" sz="281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 minor fixes, the website can easily move from 85% to 95%+ SEO score .</a:t>
            </a:r>
            <a:endParaRPr/>
          </a:p>
          <a:p>
            <a:pPr indent="0" lvl="0" marL="0" marR="0" rtl="0" algn="l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8" name="Google Shape;388;p10"/>
          <p:cNvGrpSpPr/>
          <p:nvPr/>
        </p:nvGrpSpPr>
        <p:grpSpPr>
          <a:xfrm rot="10800000">
            <a:off x="14738797" y="-179028"/>
            <a:ext cx="4041467" cy="3536283"/>
            <a:chOff x="0" y="0"/>
            <a:chExt cx="812800" cy="711200"/>
          </a:xfrm>
        </p:grpSpPr>
        <p:sp>
          <p:nvSpPr>
            <p:cNvPr id="389" name="Google Shape;389;p1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390" name="Google Shape;390;p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10"/>
          <p:cNvGrpSpPr/>
          <p:nvPr/>
        </p:nvGrpSpPr>
        <p:grpSpPr>
          <a:xfrm rot="10800000">
            <a:off x="-3067113" y="-179028"/>
            <a:ext cx="6103845" cy="5340865"/>
            <a:chOff x="0" y="0"/>
            <a:chExt cx="812800" cy="711200"/>
          </a:xfrm>
        </p:grpSpPr>
        <p:sp>
          <p:nvSpPr>
            <p:cNvPr id="392" name="Google Shape;392;p1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93" name="Google Shape;393;p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10"/>
          <p:cNvGrpSpPr/>
          <p:nvPr/>
        </p:nvGrpSpPr>
        <p:grpSpPr>
          <a:xfrm>
            <a:off x="844545" y="701820"/>
            <a:ext cx="2020733" cy="1768142"/>
            <a:chOff x="0" y="0"/>
            <a:chExt cx="812800" cy="711200"/>
          </a:xfrm>
        </p:grpSpPr>
        <p:sp>
          <p:nvSpPr>
            <p:cNvPr id="395" name="Google Shape;395;p1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396" name="Google Shape;396;p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10"/>
          <p:cNvGrpSpPr/>
          <p:nvPr/>
        </p:nvGrpSpPr>
        <p:grpSpPr>
          <a:xfrm>
            <a:off x="15255224" y="5536659"/>
            <a:ext cx="6103845" cy="5340865"/>
            <a:chOff x="0" y="0"/>
            <a:chExt cx="812800" cy="711200"/>
          </a:xfrm>
        </p:grpSpPr>
        <p:sp>
          <p:nvSpPr>
            <p:cNvPr id="398" name="Google Shape;398;p1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399" name="Google Shape;399;p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10"/>
          <p:cNvGrpSpPr/>
          <p:nvPr/>
        </p:nvGrpSpPr>
        <p:grpSpPr>
          <a:xfrm rot="10800000">
            <a:off x="15255224" y="8207092"/>
            <a:ext cx="2020733" cy="1768142"/>
            <a:chOff x="0" y="0"/>
            <a:chExt cx="812800" cy="711200"/>
          </a:xfrm>
        </p:grpSpPr>
        <p:sp>
          <p:nvSpPr>
            <p:cNvPr id="401" name="Google Shape;401;p1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402" name="Google Shape;402;p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0"/>
          <p:cNvGrpSpPr/>
          <p:nvPr/>
        </p:nvGrpSpPr>
        <p:grpSpPr>
          <a:xfrm>
            <a:off x="15171344" y="9102606"/>
            <a:ext cx="997288" cy="872627"/>
            <a:chOff x="0" y="0"/>
            <a:chExt cx="812800" cy="711200"/>
          </a:xfrm>
        </p:grpSpPr>
        <p:sp>
          <p:nvSpPr>
            <p:cNvPr id="404" name="Google Shape;404;p1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405" name="Google Shape;405;p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10"/>
          <p:cNvGrpSpPr/>
          <p:nvPr/>
        </p:nvGrpSpPr>
        <p:grpSpPr>
          <a:xfrm>
            <a:off x="-1108657" y="7275079"/>
            <a:ext cx="3085876" cy="2700142"/>
            <a:chOff x="0" y="0"/>
            <a:chExt cx="812800" cy="711200"/>
          </a:xfrm>
        </p:grpSpPr>
        <p:sp>
          <p:nvSpPr>
            <p:cNvPr id="407" name="Google Shape;407;p1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408" name="Google Shape;408;p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"/>
          <p:cNvSpPr/>
          <p:nvPr/>
        </p:nvSpPr>
        <p:spPr>
          <a:xfrm>
            <a:off x="9836343" y="0"/>
            <a:ext cx="13399784" cy="11603609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9973" r="0" t="0"/>
            </a:stretch>
          </a:blipFill>
          <a:ln>
            <a:noFill/>
          </a:ln>
        </p:spPr>
      </p:sp>
      <p:grpSp>
        <p:nvGrpSpPr>
          <p:cNvPr id="414" name="Google Shape;414;p11"/>
          <p:cNvGrpSpPr/>
          <p:nvPr/>
        </p:nvGrpSpPr>
        <p:grpSpPr>
          <a:xfrm>
            <a:off x="11216149" y="7823094"/>
            <a:ext cx="2815893" cy="2463906"/>
            <a:chOff x="0" y="0"/>
            <a:chExt cx="812800" cy="711200"/>
          </a:xfrm>
        </p:grpSpPr>
        <p:sp>
          <p:nvSpPr>
            <p:cNvPr id="415" name="Google Shape;415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416" name="Google Shape;416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11"/>
          <p:cNvGrpSpPr/>
          <p:nvPr/>
        </p:nvGrpSpPr>
        <p:grpSpPr>
          <a:xfrm rot="10800000">
            <a:off x="17168576" y="2483729"/>
            <a:ext cx="2706112" cy="2367848"/>
            <a:chOff x="0" y="0"/>
            <a:chExt cx="812800" cy="711200"/>
          </a:xfrm>
        </p:grpSpPr>
        <p:sp>
          <p:nvSpPr>
            <p:cNvPr id="418" name="Google Shape;418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419" name="Google Shape;419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11"/>
          <p:cNvGrpSpPr/>
          <p:nvPr/>
        </p:nvGrpSpPr>
        <p:grpSpPr>
          <a:xfrm>
            <a:off x="16917526" y="246176"/>
            <a:ext cx="2859427" cy="2501999"/>
            <a:chOff x="0" y="0"/>
            <a:chExt cx="812800" cy="711200"/>
          </a:xfrm>
        </p:grpSpPr>
        <p:sp>
          <p:nvSpPr>
            <p:cNvPr id="421" name="Google Shape;421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422" name="Google Shape;422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11"/>
          <p:cNvGrpSpPr/>
          <p:nvPr/>
        </p:nvGrpSpPr>
        <p:grpSpPr>
          <a:xfrm>
            <a:off x="10308657" y="2483729"/>
            <a:ext cx="2854468" cy="2497660"/>
            <a:chOff x="0" y="0"/>
            <a:chExt cx="812800" cy="711200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>
                <a:alpha val="87450"/>
              </a:srgbClr>
            </a:solidFill>
            <a:ln>
              <a:noFill/>
            </a:ln>
          </p:spPr>
        </p:sp>
        <p:sp>
          <p:nvSpPr>
            <p:cNvPr id="425" name="Google Shape;425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11"/>
          <p:cNvGrpSpPr/>
          <p:nvPr/>
        </p:nvGrpSpPr>
        <p:grpSpPr>
          <a:xfrm rot="10800000">
            <a:off x="10308657" y="4909016"/>
            <a:ext cx="2828598" cy="2475023"/>
            <a:chOff x="0" y="0"/>
            <a:chExt cx="812800" cy="711200"/>
          </a:xfrm>
        </p:grpSpPr>
        <p:sp>
          <p:nvSpPr>
            <p:cNvPr id="427" name="Google Shape;427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428" name="Google Shape;428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1"/>
          <p:cNvGrpSpPr/>
          <p:nvPr/>
        </p:nvGrpSpPr>
        <p:grpSpPr>
          <a:xfrm>
            <a:off x="9808202" y="5359188"/>
            <a:ext cx="2815893" cy="2463906"/>
            <a:chOff x="0" y="0"/>
            <a:chExt cx="812800" cy="711200"/>
          </a:xfrm>
        </p:grpSpPr>
        <p:sp>
          <p:nvSpPr>
            <p:cNvPr id="430" name="Google Shape;430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>
                <a:alpha val="87450"/>
              </a:srgbClr>
            </a:solidFill>
            <a:ln>
              <a:noFill/>
            </a:ln>
          </p:spPr>
        </p:sp>
        <p:sp>
          <p:nvSpPr>
            <p:cNvPr id="431" name="Google Shape;431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1"/>
          <p:cNvGrpSpPr/>
          <p:nvPr/>
        </p:nvGrpSpPr>
        <p:grpSpPr>
          <a:xfrm>
            <a:off x="-1578573" y="8244967"/>
            <a:ext cx="3086100" cy="2700338"/>
            <a:chOff x="0" y="0"/>
            <a:chExt cx="812800" cy="711200"/>
          </a:xfrm>
        </p:grpSpPr>
        <p:sp>
          <p:nvSpPr>
            <p:cNvPr id="433" name="Google Shape;433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434" name="Google Shape;434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1"/>
          <p:cNvGrpSpPr/>
          <p:nvPr/>
        </p:nvGrpSpPr>
        <p:grpSpPr>
          <a:xfrm rot="10800000">
            <a:off x="15749834" y="-517853"/>
            <a:ext cx="2837484" cy="2482798"/>
            <a:chOff x="0" y="0"/>
            <a:chExt cx="812800" cy="711200"/>
          </a:xfrm>
        </p:grpSpPr>
        <p:sp>
          <p:nvSpPr>
            <p:cNvPr id="436" name="Google Shape;436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437" name="Google Shape;437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11"/>
          <p:cNvGrpSpPr/>
          <p:nvPr/>
        </p:nvGrpSpPr>
        <p:grpSpPr>
          <a:xfrm>
            <a:off x="9372900" y="8014265"/>
            <a:ext cx="851384" cy="744961"/>
            <a:chOff x="0" y="0"/>
            <a:chExt cx="812800" cy="711200"/>
          </a:xfrm>
        </p:grpSpPr>
        <p:sp>
          <p:nvSpPr>
            <p:cNvPr id="439" name="Google Shape;439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55B6"/>
            </a:solidFill>
            <a:ln>
              <a:noFill/>
            </a:ln>
          </p:spPr>
        </p:sp>
        <p:sp>
          <p:nvSpPr>
            <p:cNvPr id="440" name="Google Shape;440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" name="Google Shape;441;p11"/>
          <p:cNvGrpSpPr/>
          <p:nvPr/>
        </p:nvGrpSpPr>
        <p:grpSpPr>
          <a:xfrm rot="10800000">
            <a:off x="9816893" y="7823094"/>
            <a:ext cx="2815893" cy="2463906"/>
            <a:chOff x="0" y="0"/>
            <a:chExt cx="812800" cy="711200"/>
          </a:xfrm>
        </p:grpSpPr>
        <p:sp>
          <p:nvSpPr>
            <p:cNvPr id="442" name="Google Shape;442;p1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3669"/>
            </a:solidFill>
            <a:ln>
              <a:noFill/>
            </a:ln>
          </p:spPr>
        </p:sp>
        <p:sp>
          <p:nvSpPr>
            <p:cNvPr id="443" name="Google Shape;443;p1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1"/>
          <p:cNvSpPr txBox="1"/>
          <p:nvPr/>
        </p:nvSpPr>
        <p:spPr>
          <a:xfrm>
            <a:off x="1088858" y="2655179"/>
            <a:ext cx="8284042" cy="50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24" u="none" cap="none" strike="noStrike">
                <a:solidFill>
                  <a:srgbClr val="153669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445" name="Google Shape;445;p11"/>
          <p:cNvSpPr txBox="1"/>
          <p:nvPr/>
        </p:nvSpPr>
        <p:spPr>
          <a:xfrm>
            <a:off x="1507527" y="9528461"/>
            <a:ext cx="6375297" cy="45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shakthi sivaranjani </a:t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1088858" y="839933"/>
            <a:ext cx="944717" cy="663664"/>
          </a:xfrm>
          <a:custGeom>
            <a:rect b="b" l="l" r="r" t="t"/>
            <a:pathLst>
              <a:path extrusionOk="0" h="663664" w="944717">
                <a:moveTo>
                  <a:pt x="0" y="0"/>
                </a:moveTo>
                <a:lnTo>
                  <a:pt x="944717" y="0"/>
                </a:lnTo>
                <a:lnTo>
                  <a:pt x="944717" y="663664"/>
                </a:lnTo>
                <a:lnTo>
                  <a:pt x="0" y="663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