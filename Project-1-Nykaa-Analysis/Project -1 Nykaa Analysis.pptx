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DM Serif Display" pitchFamily="2" charset="0"/>
      <p:regular r:id="rId18"/>
      <p:italic r:id="rId19"/>
    </p:embeddedFont>
    <p:embeddedFont>
      <p:font typeface="Hammersmith One" panose="02010703030501060504" pitchFamily="2" charset="0"/>
      <p:regular r:id="rId20"/>
    </p:embeddedFont>
    <p:embeddedFont>
      <p:font typeface="Open Sans" panose="020B0606030504020204" pitchFamily="34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ez8NuvtFQQAtfaD05+h9DnwXo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B4F77B-C73E-4081-A0E5-79D0534A09E1}">
  <a:tblStyle styleId="{BBB4F77B-C73E-4081-A0E5-79D0534A09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 Keyan" userId="08504547b06a88e5" providerId="LiveId" clId="{11422D21-A503-4EB6-8F04-46D5351ECA60}"/>
    <pc:docChg chg="modSld">
      <pc:chgData name="Karthi Keyan" userId="08504547b06a88e5" providerId="LiveId" clId="{11422D21-A503-4EB6-8F04-46D5351ECA60}" dt="2025-09-22T18:15:38.053" v="2" actId="1076"/>
      <pc:docMkLst>
        <pc:docMk/>
      </pc:docMkLst>
      <pc:sldChg chg="modSp mod">
        <pc:chgData name="Karthi Keyan" userId="08504547b06a88e5" providerId="LiveId" clId="{11422D21-A503-4EB6-8F04-46D5351ECA60}" dt="2025-09-22T18:14:57.356" v="0" actId="14100"/>
        <pc:sldMkLst>
          <pc:docMk/>
          <pc:sldMk cId="0" sldId="257"/>
        </pc:sldMkLst>
        <pc:grpChg chg="mod">
          <ac:chgData name="Karthi Keyan" userId="08504547b06a88e5" providerId="LiveId" clId="{11422D21-A503-4EB6-8F04-46D5351ECA60}" dt="2025-09-22T18:14:57.356" v="0" actId="14100"/>
          <ac:grpSpMkLst>
            <pc:docMk/>
            <pc:sldMk cId="0" sldId="257"/>
            <ac:grpSpMk id="105" creationId="{00000000-0000-0000-0000-000000000000}"/>
          </ac:grpSpMkLst>
        </pc:grpChg>
      </pc:sldChg>
      <pc:sldChg chg="modSp mod">
        <pc:chgData name="Karthi Keyan" userId="08504547b06a88e5" providerId="LiveId" clId="{11422D21-A503-4EB6-8F04-46D5351ECA60}" dt="2025-09-22T18:15:38.053" v="2" actId="1076"/>
        <pc:sldMkLst>
          <pc:docMk/>
          <pc:sldMk cId="0" sldId="258"/>
        </pc:sldMkLst>
        <pc:spChg chg="mod">
          <ac:chgData name="Karthi Keyan" userId="08504547b06a88e5" providerId="LiveId" clId="{11422D21-A503-4EB6-8F04-46D5351ECA60}" dt="2025-09-22T18:15:38.053" v="2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Karthi Keyan" userId="08504547b06a88e5" providerId="LiveId" clId="{11422D21-A503-4EB6-8F04-46D5351ECA60}" dt="2025-09-22T18:15:31.312" v="1" actId="1076"/>
          <ac:spMkLst>
            <pc:docMk/>
            <pc:sldMk cId="0" sldId="258"/>
            <ac:spMk id="1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l="22228" r="22228"/>
          <a:stretch/>
        </p:blipFill>
        <p:spPr>
          <a:xfrm>
            <a:off x="0" y="0"/>
            <a:ext cx="808704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8087041" y="6383076"/>
            <a:ext cx="9600884" cy="583077"/>
          </a:xfrm>
          <a:custGeom>
            <a:avLst/>
            <a:gdLst/>
            <a:ahLst/>
            <a:cxnLst/>
            <a:rect l="l" t="t" r="r" b="b"/>
            <a:pathLst>
              <a:path w="9600884" h="583077" extrusionOk="0">
                <a:moveTo>
                  <a:pt x="0" y="0"/>
                </a:moveTo>
                <a:lnTo>
                  <a:pt x="9600884" y="0"/>
                </a:lnTo>
                <a:lnTo>
                  <a:pt x="9600884" y="583077"/>
                </a:lnTo>
                <a:lnTo>
                  <a:pt x="0" y="583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59" t="-351764" b="-1197312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8372791" y="7362747"/>
            <a:ext cx="53414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“Your beauty , our passion”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372791" y="3074354"/>
            <a:ext cx="9315134" cy="305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0" i="0" u="none" strike="noStrike" cap="none">
                <a:solidFill>
                  <a:srgbClr val="C6499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NYKAA ANALYSIS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8288000" cy="3050757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5400000">
            <a:off x="5256039" y="3771636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94" name="Google Shape;94;p2"/>
          <p:cNvSpPr txBox="1"/>
          <p:nvPr/>
        </p:nvSpPr>
        <p:spPr>
          <a:xfrm>
            <a:off x="6034236" y="3700437"/>
            <a:ext cx="5218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Model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 rot="5400000">
            <a:off x="5256039" y="4789453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6034236" y="4714854"/>
            <a:ext cx="5218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categories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 rot="5400000">
            <a:off x="5256039" y="5807271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6034236" y="5736072"/>
            <a:ext cx="5218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Omnichannel Presence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 rot="5400000">
            <a:off x="5256039" y="6825088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00" name="Google Shape;100;p2"/>
          <p:cNvSpPr txBox="1"/>
          <p:nvPr/>
        </p:nvSpPr>
        <p:spPr>
          <a:xfrm>
            <a:off x="6042051" y="6715204"/>
            <a:ext cx="5218693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 and tech driven platforms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 rot="5400000">
            <a:off x="5256039" y="7911107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6034236" y="7771707"/>
            <a:ext cx="5218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IPO &amp; financial growth</a:t>
            </a:r>
            <a:endParaRPr dirty="0"/>
          </a:p>
        </p:txBody>
      </p:sp>
      <p:sp>
        <p:nvSpPr>
          <p:cNvPr id="103" name="Google Shape;103;p2"/>
          <p:cNvSpPr/>
          <p:nvPr/>
        </p:nvSpPr>
        <p:spPr>
          <a:xfrm rot="5400000">
            <a:off x="5256039" y="8860723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6042051" y="8789524"/>
            <a:ext cx="5218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position</a:t>
            </a:r>
            <a:endParaRPr/>
          </a:p>
        </p:txBody>
      </p:sp>
      <p:grpSp>
        <p:nvGrpSpPr>
          <p:cNvPr id="105" name="Google Shape;105;p2"/>
          <p:cNvGrpSpPr/>
          <p:nvPr/>
        </p:nvGrpSpPr>
        <p:grpSpPr>
          <a:xfrm>
            <a:off x="415155" y="3465581"/>
            <a:ext cx="3682337" cy="6821419"/>
            <a:chOff x="0" y="0"/>
            <a:chExt cx="4909783" cy="7699066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4909783" cy="7699066"/>
            </a:xfrm>
            <a:custGeom>
              <a:avLst/>
              <a:gdLst/>
              <a:ahLst/>
              <a:cxnLst/>
              <a:rect l="l" t="t" r="r" b="b"/>
              <a:pathLst>
                <a:path w="2436549" h="3836131" extrusionOk="0">
                  <a:moveTo>
                    <a:pt x="2312089" y="3836131"/>
                  </a:moveTo>
                  <a:lnTo>
                    <a:pt x="124460" y="3836131"/>
                  </a:lnTo>
                  <a:cubicBezTo>
                    <a:pt x="55880" y="3836131"/>
                    <a:pt x="0" y="3780251"/>
                    <a:pt x="0" y="37116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12089" y="0"/>
                  </a:lnTo>
                  <a:cubicBezTo>
                    <a:pt x="2380669" y="0"/>
                    <a:pt x="2436549" y="55880"/>
                    <a:pt x="2436549" y="124460"/>
                  </a:cubicBezTo>
                  <a:lnTo>
                    <a:pt x="2436549" y="3711671"/>
                  </a:lnTo>
                  <a:cubicBezTo>
                    <a:pt x="2436549" y="3780251"/>
                    <a:pt x="2380669" y="3836131"/>
                    <a:pt x="2312089" y="3836131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1223791" y="6567075"/>
              <a:ext cx="3268721" cy="335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223791" y="310016"/>
              <a:ext cx="3268721" cy="6960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87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Nykaa</a:t>
              </a:r>
              <a:r>
                <a:rPr lang="en-US" sz="1487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is a leading Indian e-commerce company specializing in beauty, wellness, and fashion products. Founded in 2012 by Falguni Nayar, a former investment banker, </a:t>
              </a:r>
              <a:r>
                <a:rPr lang="en-US" sz="1487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Nykaa</a:t>
              </a:r>
              <a:r>
                <a:rPr lang="en-US" sz="1487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has grown from a niche beauty retailer to a comprehensive online and offline lifestyle brand. The name "</a:t>
              </a:r>
              <a:r>
                <a:rPr lang="en-US" sz="1487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Nykaa</a:t>
              </a:r>
              <a:r>
                <a:rPr lang="en-US" sz="1487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 is derived from the Sanskrit word 'Nayaka', meaning "one in the spotlight," reflecting the company’s mission to empower individuals by enhancing their confidence and self-expression.</a:t>
              </a:r>
              <a:endParaRPr dirty="0"/>
            </a:p>
          </p:txBody>
        </p:sp>
      </p:grpSp>
      <p:sp>
        <p:nvSpPr>
          <p:cNvPr id="109" name="Google Shape;109;p2"/>
          <p:cNvSpPr/>
          <p:nvPr/>
        </p:nvSpPr>
        <p:spPr>
          <a:xfrm rot="5400000">
            <a:off x="11675547" y="3771636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12342515" y="3700437"/>
            <a:ext cx="5218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&amp; Mission</a:t>
            </a:r>
            <a:endParaRPr dirty="0"/>
          </a:p>
        </p:txBody>
      </p:sp>
      <p:sp>
        <p:nvSpPr>
          <p:cNvPr id="111" name="Google Shape;111;p2"/>
          <p:cNvSpPr txBox="1"/>
          <p:nvPr/>
        </p:nvSpPr>
        <p:spPr>
          <a:xfrm>
            <a:off x="1028700" y="954672"/>
            <a:ext cx="5287982" cy="121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8086703" cy="10287000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550381" y="792162"/>
            <a:ext cx="5287982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BUSINESS</a:t>
            </a:r>
            <a:endParaRPr/>
          </a:p>
          <a:p>
            <a:pPr marL="0" marR="0" lvl="0" indent="0" algn="l" rtl="0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</a:t>
            </a:r>
            <a:endParaRPr/>
          </a:p>
          <a:p>
            <a:pPr marL="0" marR="0" lvl="0" indent="0" algn="l" rtl="0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499" b="0" i="0" u="none" strike="noStrike" cap="none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0421252" y="3404470"/>
            <a:ext cx="6544800" cy="6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Nykaa</a:t>
            </a: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business model operates on the basis of hybrid business model that includes elements :</a:t>
            </a:r>
            <a:endParaRPr dirty="0"/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4518" marR="0" lvl="1" indent="-302258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 - led (B2C) model </a:t>
            </a:r>
            <a:endParaRPr dirty="0"/>
          </a:p>
          <a:p>
            <a:pPr marL="604518" marR="0" lvl="1" indent="-302258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Marketplace (B2B2C)model</a:t>
            </a:r>
            <a:endParaRPr dirty="0"/>
          </a:p>
          <a:p>
            <a:pPr marL="604518" marR="0" lvl="1" indent="-302258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label retail</a:t>
            </a:r>
            <a:endParaRPr dirty="0"/>
          </a:p>
          <a:p>
            <a:pPr marL="604518" marR="0" lvl="1" indent="-302258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Omnichannel distribution</a:t>
            </a:r>
            <a:endParaRPr dirty="0"/>
          </a:p>
          <a:p>
            <a:pPr marL="604518" marR="0" lvl="1" indent="-302258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-to- commerce </a:t>
            </a:r>
            <a:endParaRPr dirty="0"/>
          </a:p>
          <a:p>
            <a:pPr marL="604518" marR="0" lvl="1" indent="-302258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Advertisement based monetization </a:t>
            </a:r>
            <a:endParaRPr dirty="0"/>
          </a:p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0360446" y="2620962"/>
            <a:ext cx="4974424" cy="367627"/>
          </a:xfrm>
          <a:custGeom>
            <a:avLst/>
            <a:gdLst/>
            <a:ahLst/>
            <a:cxnLst/>
            <a:rect l="l" t="t" r="r" b="b"/>
            <a:pathLst>
              <a:path w="4974424" h="367627" extrusionOk="0">
                <a:moveTo>
                  <a:pt x="0" y="0"/>
                </a:moveTo>
                <a:lnTo>
                  <a:pt x="4974424" y="0"/>
                </a:lnTo>
                <a:lnTo>
                  <a:pt x="4974424" y="367627"/>
                </a:lnTo>
                <a:lnTo>
                  <a:pt x="0" y="367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120" name="Google Shape;120;p3"/>
          <p:cNvSpPr/>
          <p:nvPr/>
        </p:nvSpPr>
        <p:spPr>
          <a:xfrm rot="5400000">
            <a:off x="16466238" y="1021424"/>
            <a:ext cx="785787" cy="800338"/>
          </a:xfrm>
          <a:custGeom>
            <a:avLst/>
            <a:gdLst/>
            <a:ahLst/>
            <a:cxnLst/>
            <a:rect l="l" t="t" r="r" b="b"/>
            <a:pathLst>
              <a:path w="785787" h="800338" extrusionOk="0">
                <a:moveTo>
                  <a:pt x="0" y="0"/>
                </a:moveTo>
                <a:lnTo>
                  <a:pt x="785786" y="0"/>
                </a:lnTo>
                <a:lnTo>
                  <a:pt x="785786" y="800338"/>
                </a:lnTo>
                <a:lnTo>
                  <a:pt x="0" y="800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8086703" cy="10287000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4"/>
          <p:cNvGrpSpPr/>
          <p:nvPr/>
        </p:nvGrpSpPr>
        <p:grpSpPr>
          <a:xfrm>
            <a:off x="867166" y="7024580"/>
            <a:ext cx="5449516" cy="1026752"/>
            <a:chOff x="0" y="0"/>
            <a:chExt cx="7266021" cy="1369003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7266021" cy="1369003"/>
            </a:xfrm>
            <a:custGeom>
              <a:avLst/>
              <a:gdLst/>
              <a:ahLst/>
              <a:cxnLst/>
              <a:rect l="l" t="t" r="r" b="b"/>
              <a:pathLst>
                <a:path w="3472874" h="660400" extrusionOk="0">
                  <a:moveTo>
                    <a:pt x="3348414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535940"/>
                  </a:lnTo>
                  <a:cubicBezTo>
                    <a:pt x="3472874" y="604520"/>
                    <a:pt x="3416994" y="660400"/>
                    <a:pt x="3348414" y="660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16734" y="223163"/>
              <a:ext cx="581061" cy="913259"/>
            </a:xfrm>
            <a:custGeom>
              <a:avLst/>
              <a:gdLst/>
              <a:ahLst/>
              <a:cxnLst/>
              <a:rect l="l" t="t" r="r" b="b"/>
              <a:pathLst>
                <a:path w="581061" h="913259" extrusionOk="0">
                  <a:moveTo>
                    <a:pt x="0" y="0"/>
                  </a:moveTo>
                  <a:lnTo>
                    <a:pt x="581061" y="0"/>
                  </a:lnTo>
                  <a:lnTo>
                    <a:pt x="581061" y="913259"/>
                  </a:lnTo>
                  <a:lnTo>
                    <a:pt x="0" y="9132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9" name="Google Shape;129;p4"/>
            <p:cNvSpPr txBox="1"/>
            <p:nvPr/>
          </p:nvSpPr>
          <p:spPr>
            <a:xfrm>
              <a:off x="1455076" y="320869"/>
              <a:ext cx="5452009" cy="6321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4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meant by SWOT </a:t>
              </a:r>
              <a:endParaRPr/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1028700" y="1104900"/>
            <a:ext cx="6190837" cy="121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SWOT </a:t>
            </a:r>
            <a:endParaRPr/>
          </a:p>
        </p:txBody>
      </p:sp>
      <p:grpSp>
        <p:nvGrpSpPr>
          <p:cNvPr id="131" name="Google Shape;131;p4"/>
          <p:cNvGrpSpPr/>
          <p:nvPr/>
        </p:nvGrpSpPr>
        <p:grpSpPr>
          <a:xfrm>
            <a:off x="10360990" y="221812"/>
            <a:ext cx="5702836" cy="2416112"/>
            <a:chOff x="0" y="-28575"/>
            <a:chExt cx="7603782" cy="3221483"/>
          </a:xfrm>
        </p:grpSpPr>
        <p:sp>
          <p:nvSpPr>
            <p:cNvPr id="132" name="Google Shape;132;p4"/>
            <p:cNvSpPr txBox="1"/>
            <p:nvPr/>
          </p:nvSpPr>
          <p:spPr>
            <a:xfrm>
              <a:off x="0" y="-28575"/>
              <a:ext cx="7603782" cy="602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8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STRENGHT</a:t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722573"/>
              <a:ext cx="7603782" cy="2470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71493" marR="0" lvl="1" indent="-185747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20"/>
                <a:buFont typeface="Arial"/>
                <a:buChar char="•"/>
              </a:pPr>
              <a:r>
                <a:rPr lang="en-US" sz="172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Strong brand </a:t>
              </a:r>
              <a:r>
                <a:rPr lang="en-US" sz="1720" dirty="0"/>
                <a:t>trust and loyal customer base .</a:t>
              </a:r>
              <a:endParaRPr dirty="0"/>
            </a:p>
            <a:p>
              <a:pPr marL="371493" marR="0" lvl="1" indent="-185747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20"/>
                <a:buFont typeface="Arial"/>
                <a:buChar char="•"/>
              </a:pPr>
              <a:r>
                <a:rPr lang="en-US" sz="1720" dirty="0"/>
                <a:t>Omnichannel presence (Online +Offline stores ).</a:t>
              </a:r>
              <a:endParaRPr dirty="0"/>
            </a:p>
            <a:p>
              <a:pPr marL="371493" marR="0" lvl="1" indent="-185747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20"/>
                <a:buFont typeface="Arial"/>
                <a:buChar char="•"/>
              </a:pPr>
              <a:r>
                <a:rPr lang="en-US" sz="172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Wide </a:t>
              </a:r>
              <a:r>
                <a:rPr lang="en-US" sz="1720" dirty="0"/>
                <a:t>product portfolio +own private labels </a:t>
              </a:r>
              <a:endParaRPr dirty="0"/>
            </a:p>
            <a:p>
              <a:pPr marL="371493" marR="0" lvl="1" indent="-185747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20"/>
                <a:buFont typeface="Arial"/>
                <a:buChar char="•"/>
              </a:pPr>
              <a:r>
                <a:rPr lang="en-US" sz="1720" dirty="0"/>
                <a:t>Tech driven personalization and Influencer marketing 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2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10360990" y="2808142"/>
            <a:ext cx="6628693" cy="2329619"/>
            <a:chOff x="0" y="-28575"/>
            <a:chExt cx="8838258" cy="3106158"/>
          </a:xfrm>
        </p:grpSpPr>
        <p:sp>
          <p:nvSpPr>
            <p:cNvPr id="135" name="Google Shape;135;p4"/>
            <p:cNvSpPr txBox="1"/>
            <p:nvPr/>
          </p:nvSpPr>
          <p:spPr>
            <a:xfrm>
              <a:off x="0" y="-28575"/>
              <a:ext cx="883825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WEAKNESS</a:t>
              </a: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779518"/>
              <a:ext cx="8838258" cy="2298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dirty="0"/>
                <a:t>Premium pricing perception .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Profitability concerns (high marketing costs)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Limited presence in tier-3 and rural markets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10360990" y="5365981"/>
            <a:ext cx="6628693" cy="2353113"/>
            <a:chOff x="0" y="-28575"/>
            <a:chExt cx="8838258" cy="3137484"/>
          </a:xfrm>
        </p:grpSpPr>
        <p:sp>
          <p:nvSpPr>
            <p:cNvPr id="138" name="Google Shape;138;p4"/>
            <p:cNvSpPr txBox="1"/>
            <p:nvPr/>
          </p:nvSpPr>
          <p:spPr>
            <a:xfrm>
              <a:off x="0" y="-28575"/>
              <a:ext cx="883825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OPPURTUNITIES</a:t>
              </a: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779518"/>
              <a:ext cx="8838258" cy="2329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Expansion in men’s grooming and fashion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Growth in tier-2/3 India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International expansion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Increasing digital adoption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4"/>
          <p:cNvSpPr/>
          <p:nvPr/>
        </p:nvSpPr>
        <p:spPr>
          <a:xfrm rot="5400000">
            <a:off x="9569154" y="267025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41" name="Google Shape;141;p4"/>
          <p:cNvSpPr/>
          <p:nvPr/>
        </p:nvSpPr>
        <p:spPr>
          <a:xfrm rot="5400000">
            <a:off x="9569154" y="2829419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 rot="5400000">
            <a:off x="9569154" y="5387258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43" name="Google Shape;143;p4"/>
          <p:cNvSpPr/>
          <p:nvPr/>
        </p:nvSpPr>
        <p:spPr>
          <a:xfrm>
            <a:off x="1028700" y="2438773"/>
            <a:ext cx="5287982" cy="390800"/>
          </a:xfrm>
          <a:custGeom>
            <a:avLst/>
            <a:gdLst/>
            <a:ahLst/>
            <a:cxnLst/>
            <a:rect l="l" t="t" r="r" b="b"/>
            <a:pathLst>
              <a:path w="5287982" h="390800" extrusionOk="0">
                <a:moveTo>
                  <a:pt x="0" y="0"/>
                </a:moveTo>
                <a:lnTo>
                  <a:pt x="5287982" y="0"/>
                </a:lnTo>
                <a:lnTo>
                  <a:pt x="5287982" y="390800"/>
                </a:lnTo>
                <a:lnTo>
                  <a:pt x="0" y="39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144" name="Google Shape;144;p4"/>
          <p:cNvSpPr/>
          <p:nvPr/>
        </p:nvSpPr>
        <p:spPr>
          <a:xfrm rot="5400000">
            <a:off x="9569154" y="7949652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9" r="-32"/>
            </a:stretch>
          </a:blipFill>
          <a:ln>
            <a:noFill/>
          </a:ln>
        </p:spPr>
      </p:sp>
      <p:grpSp>
        <p:nvGrpSpPr>
          <p:cNvPr id="145" name="Google Shape;145;p4"/>
          <p:cNvGrpSpPr/>
          <p:nvPr/>
        </p:nvGrpSpPr>
        <p:grpSpPr>
          <a:xfrm>
            <a:off x="10360990" y="7926262"/>
            <a:ext cx="6628693" cy="2329619"/>
            <a:chOff x="0" y="-28575"/>
            <a:chExt cx="8838258" cy="3106158"/>
          </a:xfrm>
        </p:grpSpPr>
        <p:sp>
          <p:nvSpPr>
            <p:cNvPr id="146" name="Google Shape;146;p4"/>
            <p:cNvSpPr txBox="1"/>
            <p:nvPr/>
          </p:nvSpPr>
          <p:spPr>
            <a:xfrm>
              <a:off x="0" y="-28575"/>
              <a:ext cx="883825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THREATS</a:t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779518"/>
              <a:ext cx="8838258" cy="2298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Intense competition (Amazon,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Flipkart,Purple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Myntra)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Regulatory hurdles (data privacy, taxation)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dirty="0"/>
                <a:t>Margin pressures due to discount wars 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t="67868" r="11821"/>
          <a:stretch/>
        </p:blipFill>
        <p:spPr>
          <a:xfrm>
            <a:off x="0" y="14748"/>
            <a:ext cx="18288000" cy="32459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5"/>
          <p:cNvGrpSpPr/>
          <p:nvPr/>
        </p:nvGrpSpPr>
        <p:grpSpPr>
          <a:xfrm>
            <a:off x="6574251" y="2181564"/>
            <a:ext cx="6352371" cy="1918629"/>
            <a:chOff x="0" y="0"/>
            <a:chExt cx="8469828" cy="2558172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8469828" cy="2558172"/>
            </a:xfrm>
            <a:custGeom>
              <a:avLst/>
              <a:gdLst/>
              <a:ahLst/>
              <a:cxnLst/>
              <a:rect l="l" t="t" r="r" b="b"/>
              <a:pathLst>
                <a:path w="3472874" h="1053141" extrusionOk="0">
                  <a:moveTo>
                    <a:pt x="3348414" y="1053140"/>
                  </a:moveTo>
                  <a:lnTo>
                    <a:pt x="124460" y="1053140"/>
                  </a:lnTo>
                  <a:cubicBezTo>
                    <a:pt x="55880" y="1053140"/>
                    <a:pt x="0" y="997261"/>
                    <a:pt x="0" y="9286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928681"/>
                  </a:lnTo>
                  <a:cubicBezTo>
                    <a:pt x="3472874" y="997261"/>
                    <a:pt x="3416994" y="1053141"/>
                    <a:pt x="3348414" y="1053141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85777" y="741314"/>
              <a:ext cx="677329" cy="1064564"/>
            </a:xfrm>
            <a:custGeom>
              <a:avLst/>
              <a:gdLst/>
              <a:ahLst/>
              <a:cxnLst/>
              <a:rect l="l" t="t" r="r" b="b"/>
              <a:pathLst>
                <a:path w="677329" h="1064564" extrusionOk="0">
                  <a:moveTo>
                    <a:pt x="0" y="0"/>
                  </a:moveTo>
                  <a:lnTo>
                    <a:pt x="677329" y="0"/>
                  </a:lnTo>
                  <a:lnTo>
                    <a:pt x="677329" y="1064564"/>
                  </a:lnTo>
                  <a:lnTo>
                    <a:pt x="0" y="1064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6" name="Google Shape;156;p5"/>
            <p:cNvSpPr txBox="1"/>
            <p:nvPr/>
          </p:nvSpPr>
          <p:spPr>
            <a:xfrm>
              <a:off x="1696147" y="193461"/>
              <a:ext cx="6355277" cy="2093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the Market position and growth of Nykaa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5"/>
          <p:cNvSpPr txBox="1"/>
          <p:nvPr/>
        </p:nvSpPr>
        <p:spPr>
          <a:xfrm>
            <a:off x="1028700" y="698075"/>
            <a:ext cx="5288100" cy="27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MARKET POSITION</a:t>
            </a:r>
            <a:endParaRPr/>
          </a:p>
        </p:txBody>
      </p:sp>
      <p:grpSp>
        <p:nvGrpSpPr>
          <p:cNvPr id="158" name="Google Shape;158;p5"/>
          <p:cNvGrpSpPr/>
          <p:nvPr/>
        </p:nvGrpSpPr>
        <p:grpSpPr>
          <a:xfrm>
            <a:off x="726432" y="4503649"/>
            <a:ext cx="4414484" cy="2591238"/>
            <a:chOff x="0" y="-28575"/>
            <a:chExt cx="5885978" cy="3454984"/>
          </a:xfrm>
        </p:grpSpPr>
        <p:sp>
          <p:nvSpPr>
            <p:cNvPr id="159" name="Google Shape;159;p5"/>
            <p:cNvSpPr txBox="1"/>
            <p:nvPr/>
          </p:nvSpPr>
          <p:spPr>
            <a:xfrm>
              <a:off x="0" y="-28575"/>
              <a:ext cx="5885978" cy="1298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Market leaderships &amp; Share</a:t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0" y="1566918"/>
              <a:ext cx="5885978" cy="1859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Nykaa controls approximately 30% of the beauty vertical in India, making it the largest beauty retailer network in the country</a:t>
              </a:r>
              <a:endParaRPr/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13559531" y="6825874"/>
            <a:ext cx="4414484" cy="2800788"/>
            <a:chOff x="0" y="-28575"/>
            <a:chExt cx="5885978" cy="3734384"/>
          </a:xfrm>
        </p:grpSpPr>
        <p:sp>
          <p:nvSpPr>
            <p:cNvPr id="162" name="Google Shape;162;p5"/>
            <p:cNvSpPr txBox="1"/>
            <p:nvPr/>
          </p:nvSpPr>
          <p:spPr>
            <a:xfrm>
              <a:off x="0" y="-28575"/>
              <a:ext cx="588597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Growth(FY 2024-25)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0" y="906518"/>
              <a:ext cx="5885978" cy="279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Annual revenue: ₹7,950 crore (up 24% YoY)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GMV: ₹15,604 crore (+25% YoY);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 profit: ₹72 crore (+81% YoY);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EBITDA margin held at ~6%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9278182" y="4202586"/>
            <a:ext cx="4414484" cy="3153213"/>
            <a:chOff x="0" y="-28575"/>
            <a:chExt cx="5885978" cy="4204284"/>
          </a:xfrm>
        </p:grpSpPr>
        <p:sp>
          <p:nvSpPr>
            <p:cNvPr id="165" name="Google Shape;165;p5"/>
            <p:cNvSpPr txBox="1"/>
            <p:nvPr/>
          </p:nvSpPr>
          <p:spPr>
            <a:xfrm>
              <a:off x="0" y="-28575"/>
              <a:ext cx="588597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Growth</a:t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0" y="906518"/>
              <a:ext cx="5885978" cy="3269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Revenue rose 24% YoY to ₹2,062 crore | PAT surged 110% YoY to ₹19 crore .</a:t>
              </a:r>
              <a:endParaRPr dirty="0"/>
            </a:p>
            <a:p>
              <a:pPr marL="431805" marR="0" lvl="1" indent="-21590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EBITDA grew 43% YoY, with margins expanding to 6.5% from 5.6% .</a:t>
              </a:r>
              <a:endParaRPr dirty="0"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5"/>
          <p:cNvSpPr/>
          <p:nvPr/>
        </p:nvSpPr>
        <p:spPr>
          <a:xfrm>
            <a:off x="0" y="9784680"/>
            <a:ext cx="18556364" cy="515295"/>
          </a:xfrm>
          <a:custGeom>
            <a:avLst/>
            <a:gdLst/>
            <a:ahLst/>
            <a:cxnLst/>
            <a:rect l="l" t="t" r="r" b="b"/>
            <a:pathLst>
              <a:path w="18556364" h="515295" extrusionOk="0">
                <a:moveTo>
                  <a:pt x="0" y="0"/>
                </a:moveTo>
                <a:lnTo>
                  <a:pt x="18556364" y="0"/>
                </a:lnTo>
                <a:lnTo>
                  <a:pt x="18556364" y="515295"/>
                </a:lnTo>
                <a:lnTo>
                  <a:pt x="0" y="515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68" t="-809132" r="-5537" b="-2896044"/>
            </a:stretch>
          </a:blipFill>
          <a:ln>
            <a:noFill/>
          </a:ln>
        </p:spPr>
      </p:sp>
      <p:sp>
        <p:nvSpPr>
          <p:cNvPr id="168" name="Google Shape;168;p5"/>
          <p:cNvSpPr/>
          <p:nvPr/>
        </p:nvSpPr>
        <p:spPr>
          <a:xfrm>
            <a:off x="583271" y="3560194"/>
            <a:ext cx="890857" cy="809870"/>
          </a:xfrm>
          <a:custGeom>
            <a:avLst/>
            <a:gdLst/>
            <a:ahLst/>
            <a:cxnLst/>
            <a:rect l="l" t="t" r="r" b="b"/>
            <a:pathLst>
              <a:path w="890857" h="809870" extrusionOk="0">
                <a:moveTo>
                  <a:pt x="0" y="0"/>
                </a:moveTo>
                <a:lnTo>
                  <a:pt x="890858" y="0"/>
                </a:lnTo>
                <a:lnTo>
                  <a:pt x="890858" y="809870"/>
                </a:lnTo>
                <a:lnTo>
                  <a:pt x="0" y="809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9" name="Google Shape;169;p5"/>
          <p:cNvSpPr/>
          <p:nvPr/>
        </p:nvSpPr>
        <p:spPr>
          <a:xfrm>
            <a:off x="3795400" y="7832048"/>
            <a:ext cx="890857" cy="809870"/>
          </a:xfrm>
          <a:custGeom>
            <a:avLst/>
            <a:gdLst/>
            <a:ahLst/>
            <a:cxnLst/>
            <a:rect l="l" t="t" r="r" b="b"/>
            <a:pathLst>
              <a:path w="890857" h="809870" extrusionOk="0">
                <a:moveTo>
                  <a:pt x="0" y="0"/>
                </a:moveTo>
                <a:lnTo>
                  <a:pt x="890857" y="0"/>
                </a:lnTo>
                <a:lnTo>
                  <a:pt x="890857" y="809870"/>
                </a:lnTo>
                <a:lnTo>
                  <a:pt x="0" y="809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0" name="Google Shape;170;p5"/>
          <p:cNvGrpSpPr/>
          <p:nvPr/>
        </p:nvGrpSpPr>
        <p:grpSpPr>
          <a:xfrm>
            <a:off x="4997755" y="7069714"/>
            <a:ext cx="4414484" cy="2591238"/>
            <a:chOff x="0" y="-28575"/>
            <a:chExt cx="5885978" cy="3454984"/>
          </a:xfrm>
        </p:grpSpPr>
        <p:sp>
          <p:nvSpPr>
            <p:cNvPr id="171" name="Google Shape;171;p5"/>
            <p:cNvSpPr txBox="1"/>
            <p:nvPr/>
          </p:nvSpPr>
          <p:spPr>
            <a:xfrm>
              <a:off x="0" y="-28575"/>
              <a:ext cx="5885978" cy="1298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Market leaderships &amp; Share</a:t>
              </a:r>
              <a:endParaRPr dirty="0"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0" y="1566918"/>
              <a:ext cx="5885978" cy="1859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 FY24, its total beauty GMV reached ₹12,400 crore, with beauty accounting for 73% of Nykaa’s overall GMV .</a:t>
              </a:r>
              <a:endParaRPr/>
            </a:p>
          </p:txBody>
        </p:sp>
      </p:grpSp>
      <p:sp>
        <p:nvSpPr>
          <p:cNvPr id="173" name="Google Shape;173;p5"/>
          <p:cNvSpPr/>
          <p:nvPr/>
        </p:nvSpPr>
        <p:spPr>
          <a:xfrm>
            <a:off x="12244992" y="7951990"/>
            <a:ext cx="1066300" cy="569986"/>
          </a:xfrm>
          <a:custGeom>
            <a:avLst/>
            <a:gdLst/>
            <a:ahLst/>
            <a:cxnLst/>
            <a:rect l="l" t="t" r="r" b="b"/>
            <a:pathLst>
              <a:path w="1066300" h="569986" extrusionOk="0">
                <a:moveTo>
                  <a:pt x="0" y="0"/>
                </a:moveTo>
                <a:lnTo>
                  <a:pt x="1066300" y="0"/>
                </a:lnTo>
                <a:lnTo>
                  <a:pt x="1066300" y="569986"/>
                </a:lnTo>
                <a:lnTo>
                  <a:pt x="0" y="569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5"/>
          <p:cNvSpPr/>
          <p:nvPr/>
        </p:nvSpPr>
        <p:spPr>
          <a:xfrm>
            <a:off x="8077700" y="4370064"/>
            <a:ext cx="1066300" cy="569986"/>
          </a:xfrm>
          <a:custGeom>
            <a:avLst/>
            <a:gdLst/>
            <a:ahLst/>
            <a:cxnLst/>
            <a:rect l="l" t="t" r="r" b="b"/>
            <a:pathLst>
              <a:path w="1066300" h="569986" extrusionOk="0">
                <a:moveTo>
                  <a:pt x="0" y="0"/>
                </a:moveTo>
                <a:lnTo>
                  <a:pt x="1066300" y="0"/>
                </a:lnTo>
                <a:lnTo>
                  <a:pt x="1066300" y="569986"/>
                </a:lnTo>
                <a:lnTo>
                  <a:pt x="0" y="569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6"/>
          <p:cNvGrpSpPr/>
          <p:nvPr/>
        </p:nvGrpSpPr>
        <p:grpSpPr>
          <a:xfrm>
            <a:off x="11799821" y="2590775"/>
            <a:ext cx="6352371" cy="1196860"/>
            <a:chOff x="0" y="0"/>
            <a:chExt cx="8469828" cy="1595814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8469828" cy="1595814"/>
            </a:xfrm>
            <a:custGeom>
              <a:avLst/>
              <a:gdLst/>
              <a:ahLst/>
              <a:cxnLst/>
              <a:rect l="l" t="t" r="r" b="b"/>
              <a:pathLst>
                <a:path w="3472874" h="660400" extrusionOk="0">
                  <a:moveTo>
                    <a:pt x="3348414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535940"/>
                  </a:lnTo>
                  <a:cubicBezTo>
                    <a:pt x="3472874" y="604520"/>
                    <a:pt x="3416994" y="660400"/>
                    <a:pt x="3348414" y="660400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485777" y="260136"/>
              <a:ext cx="677329" cy="1064564"/>
            </a:xfrm>
            <a:custGeom>
              <a:avLst/>
              <a:gdLst/>
              <a:ahLst/>
              <a:cxnLst/>
              <a:rect l="l" t="t" r="r" b="b"/>
              <a:pathLst>
                <a:path w="677329" h="1064564" extrusionOk="0">
                  <a:moveTo>
                    <a:pt x="0" y="0"/>
                  </a:moveTo>
                  <a:lnTo>
                    <a:pt x="677329" y="0"/>
                  </a:lnTo>
                  <a:lnTo>
                    <a:pt x="677329" y="1064564"/>
                  </a:lnTo>
                  <a:lnTo>
                    <a:pt x="0" y="1064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2" name="Google Shape;182;p6"/>
            <p:cNvSpPr txBox="1"/>
            <p:nvPr/>
          </p:nvSpPr>
          <p:spPr>
            <a:xfrm>
              <a:off x="1696147" y="323788"/>
              <a:ext cx="6355277" cy="88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are the  top 3 competitors of nykaa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6"/>
          <p:cNvSpPr txBox="1"/>
          <p:nvPr/>
        </p:nvSpPr>
        <p:spPr>
          <a:xfrm>
            <a:off x="1028700" y="1104900"/>
            <a:ext cx="11244391" cy="121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Competitors of Nykaa</a:t>
            </a:r>
            <a:endParaRPr/>
          </a:p>
        </p:txBody>
      </p:sp>
      <p:grpSp>
        <p:nvGrpSpPr>
          <p:cNvPr id="184" name="Google Shape;184;p6"/>
          <p:cNvGrpSpPr/>
          <p:nvPr/>
        </p:nvGrpSpPr>
        <p:grpSpPr>
          <a:xfrm>
            <a:off x="2218919" y="4888384"/>
            <a:ext cx="3428857" cy="1783518"/>
            <a:chOff x="0" y="-28575"/>
            <a:chExt cx="4571809" cy="2378024"/>
          </a:xfrm>
        </p:grpSpPr>
        <p:sp>
          <p:nvSpPr>
            <p:cNvPr id="185" name="Google Shape;185;p6"/>
            <p:cNvSpPr txBox="1"/>
            <p:nvPr/>
          </p:nvSpPr>
          <p:spPr>
            <a:xfrm>
              <a:off x="0" y="-28575"/>
              <a:ext cx="4571809" cy="672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99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Purple</a:t>
              </a:r>
              <a:endParaRPr/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0" y="823756"/>
              <a:ext cx="4571809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74984" marR="0" lvl="1" indent="-23749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Budget-friendly, loyalty program, strong UX tech</a:t>
              </a:r>
              <a:endParaRPr/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8107980" y="4888384"/>
            <a:ext cx="3203890" cy="1757483"/>
            <a:chOff x="0" y="-28575"/>
            <a:chExt cx="4271854" cy="2343311"/>
          </a:xfrm>
        </p:grpSpPr>
        <p:sp>
          <p:nvSpPr>
            <p:cNvPr id="188" name="Google Shape;188;p6"/>
            <p:cNvSpPr txBox="1"/>
            <p:nvPr/>
          </p:nvSpPr>
          <p:spPr>
            <a:xfrm>
              <a:off x="0" y="-28575"/>
              <a:ext cx="4271854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Tira </a:t>
              </a:r>
              <a:endParaRPr/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0" y="789043"/>
              <a:ext cx="4271854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74984" marR="0" lvl="1" indent="-237492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Threatens Nykaa’s luxury/premium dominance</a:t>
              </a:r>
              <a:endParaRPr/>
            </a:p>
          </p:txBody>
        </p:sp>
      </p:grpSp>
      <p:grpSp>
        <p:nvGrpSpPr>
          <p:cNvPr id="190" name="Google Shape;190;p6"/>
          <p:cNvGrpSpPr/>
          <p:nvPr/>
        </p:nvGrpSpPr>
        <p:grpSpPr>
          <a:xfrm>
            <a:off x="13420418" y="4888384"/>
            <a:ext cx="3203890" cy="1783518"/>
            <a:chOff x="0" y="-28575"/>
            <a:chExt cx="4271854" cy="2378024"/>
          </a:xfrm>
        </p:grpSpPr>
        <p:sp>
          <p:nvSpPr>
            <p:cNvPr id="191" name="Google Shape;191;p6"/>
            <p:cNvSpPr txBox="1"/>
            <p:nvPr/>
          </p:nvSpPr>
          <p:spPr>
            <a:xfrm>
              <a:off x="0" y="-28575"/>
              <a:ext cx="4271854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My Glamm</a:t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0" y="779518"/>
              <a:ext cx="4271854" cy="1569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96574" marR="0" lvl="1" indent="-248287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Competes in D2C, community-driven beauty segment</a:t>
              </a:r>
              <a:endParaRPr/>
            </a:p>
          </p:txBody>
        </p:sp>
      </p:grpSp>
      <p:sp>
        <p:nvSpPr>
          <p:cNvPr id="193" name="Google Shape;193;p6"/>
          <p:cNvSpPr/>
          <p:nvPr/>
        </p:nvSpPr>
        <p:spPr>
          <a:xfrm>
            <a:off x="1028700" y="2512192"/>
            <a:ext cx="5287982" cy="390800"/>
          </a:xfrm>
          <a:custGeom>
            <a:avLst/>
            <a:gdLst/>
            <a:ahLst/>
            <a:cxnLst/>
            <a:rect l="l" t="t" r="r" b="b"/>
            <a:pathLst>
              <a:path w="5287982" h="390800" extrusionOk="0">
                <a:moveTo>
                  <a:pt x="0" y="0"/>
                </a:moveTo>
                <a:lnTo>
                  <a:pt x="5287982" y="0"/>
                </a:lnTo>
                <a:lnTo>
                  <a:pt x="5287982" y="390800"/>
                </a:lnTo>
                <a:lnTo>
                  <a:pt x="0" y="39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194" name="Google Shape;194;p6"/>
          <p:cNvSpPr/>
          <p:nvPr/>
        </p:nvSpPr>
        <p:spPr>
          <a:xfrm rot="5400000">
            <a:off x="1645612" y="4909661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95" name="Google Shape;195;p6"/>
          <p:cNvSpPr/>
          <p:nvPr/>
        </p:nvSpPr>
        <p:spPr>
          <a:xfrm rot="5400000">
            <a:off x="7365666" y="4909661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 rot="5400000">
            <a:off x="12677145" y="4909661"/>
            <a:ext cx="362119" cy="362427"/>
          </a:xfrm>
          <a:custGeom>
            <a:avLst/>
            <a:gdLst/>
            <a:ahLst/>
            <a:cxnLst/>
            <a:rect l="l" t="t" r="r" b="b"/>
            <a:pathLst>
              <a:path w="362119" h="362427" extrusionOk="0">
                <a:moveTo>
                  <a:pt x="0" y="0"/>
                </a:moveTo>
                <a:lnTo>
                  <a:pt x="362119" y="0"/>
                </a:lnTo>
                <a:lnTo>
                  <a:pt x="362119" y="362427"/>
                </a:lnTo>
                <a:lnTo>
                  <a:pt x="0" y="362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9" r="-32"/>
            </a:stretch>
          </a:blipFill>
          <a:ln>
            <a:noFill/>
          </a:ln>
        </p:spPr>
      </p:sp>
      <p:sp>
        <p:nvSpPr>
          <p:cNvPr id="197" name="Google Shape;197;p6"/>
          <p:cNvSpPr/>
          <p:nvPr/>
        </p:nvSpPr>
        <p:spPr>
          <a:xfrm>
            <a:off x="0" y="9784680"/>
            <a:ext cx="18556364" cy="515295"/>
          </a:xfrm>
          <a:custGeom>
            <a:avLst/>
            <a:gdLst/>
            <a:ahLst/>
            <a:cxnLst/>
            <a:rect l="l" t="t" r="r" b="b"/>
            <a:pathLst>
              <a:path w="18556364" h="515295" extrusionOk="0">
                <a:moveTo>
                  <a:pt x="0" y="0"/>
                </a:moveTo>
                <a:lnTo>
                  <a:pt x="18556364" y="0"/>
                </a:lnTo>
                <a:lnTo>
                  <a:pt x="18556364" y="515295"/>
                </a:lnTo>
                <a:lnTo>
                  <a:pt x="0" y="515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68" t="-809132" r="-5537" b="-2896044"/>
            </a:stretch>
          </a:blipFill>
          <a:ln>
            <a:noFill/>
          </a:ln>
        </p:spPr>
      </p:sp>
      <p:sp>
        <p:nvSpPr>
          <p:cNvPr id="198" name="Google Shape;198;p6"/>
          <p:cNvSpPr txBox="1"/>
          <p:nvPr/>
        </p:nvSpPr>
        <p:spPr>
          <a:xfrm>
            <a:off x="1192828" y="7925713"/>
            <a:ext cx="15902344" cy="42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2" marR="0" lvl="1" indent="-280671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Meanwhile giants like Amazon, Flipkart, Sephora, and Myntra further elevate the competitive landscape.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2218919" y="6824301"/>
            <a:ext cx="4953595" cy="37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74984" marR="0" lvl="1" indent="-237492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low-mid segment challenger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8086703" cy="10287000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1028700" y="387350"/>
            <a:ext cx="6655645" cy="324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32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Customer analysis on social media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994056" y="4047150"/>
            <a:ext cx="5287982" cy="390800"/>
          </a:xfrm>
          <a:custGeom>
            <a:avLst/>
            <a:gdLst/>
            <a:ahLst/>
            <a:cxnLst/>
            <a:rect l="l" t="t" r="r" b="b"/>
            <a:pathLst>
              <a:path w="5287982" h="390800" extrusionOk="0">
                <a:moveTo>
                  <a:pt x="0" y="0"/>
                </a:moveTo>
                <a:lnTo>
                  <a:pt x="5287981" y="0"/>
                </a:lnTo>
                <a:lnTo>
                  <a:pt x="5287981" y="390800"/>
                </a:lnTo>
                <a:lnTo>
                  <a:pt x="0" y="39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grpSp>
        <p:nvGrpSpPr>
          <p:cNvPr id="207" name="Google Shape;207;p7"/>
          <p:cNvGrpSpPr/>
          <p:nvPr/>
        </p:nvGrpSpPr>
        <p:grpSpPr>
          <a:xfrm>
            <a:off x="742379" y="6709741"/>
            <a:ext cx="6352371" cy="1451902"/>
            <a:chOff x="0" y="0"/>
            <a:chExt cx="8469828" cy="1935870"/>
          </a:xfrm>
        </p:grpSpPr>
        <p:sp>
          <p:nvSpPr>
            <p:cNvPr id="208" name="Google Shape;208;p7"/>
            <p:cNvSpPr/>
            <p:nvPr/>
          </p:nvSpPr>
          <p:spPr>
            <a:xfrm>
              <a:off x="0" y="0"/>
              <a:ext cx="8469828" cy="1935870"/>
            </a:xfrm>
            <a:custGeom>
              <a:avLst/>
              <a:gdLst/>
              <a:ahLst/>
              <a:cxnLst/>
              <a:rect l="l" t="t" r="r" b="b"/>
              <a:pathLst>
                <a:path w="3472874" h="796954" extrusionOk="0">
                  <a:moveTo>
                    <a:pt x="3348414" y="796954"/>
                  </a:moveTo>
                  <a:lnTo>
                    <a:pt x="124460" y="796954"/>
                  </a:lnTo>
                  <a:cubicBezTo>
                    <a:pt x="55880" y="796954"/>
                    <a:pt x="0" y="741074"/>
                    <a:pt x="0" y="6724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672494"/>
                  </a:lnTo>
                  <a:cubicBezTo>
                    <a:pt x="3472874" y="741074"/>
                    <a:pt x="3416994" y="796954"/>
                    <a:pt x="3348414" y="7969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85777" y="430164"/>
              <a:ext cx="677329" cy="1064564"/>
            </a:xfrm>
            <a:custGeom>
              <a:avLst/>
              <a:gdLst/>
              <a:ahLst/>
              <a:cxnLst/>
              <a:rect l="l" t="t" r="r" b="b"/>
              <a:pathLst>
                <a:path w="677329" h="1064564" extrusionOk="0">
                  <a:moveTo>
                    <a:pt x="0" y="0"/>
                  </a:moveTo>
                  <a:lnTo>
                    <a:pt x="677329" y="0"/>
                  </a:lnTo>
                  <a:lnTo>
                    <a:pt x="677329" y="1064564"/>
                  </a:lnTo>
                  <a:lnTo>
                    <a:pt x="0" y="1064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0" name="Google Shape;210;p7"/>
            <p:cNvSpPr txBox="1"/>
            <p:nvPr/>
          </p:nvSpPr>
          <p:spPr>
            <a:xfrm>
              <a:off x="1696147" y="193461"/>
              <a:ext cx="6355277" cy="1471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Can a analysis be only positive </a:t>
              </a:r>
              <a:endParaRPr/>
            </a:p>
            <a:p>
              <a:pPr marL="0" marR="0" lvl="0" indent="0" algn="l" rtl="0">
                <a:lnSpc>
                  <a:spcPct val="1125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25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7"/>
          <p:cNvGrpSpPr/>
          <p:nvPr/>
        </p:nvGrpSpPr>
        <p:grpSpPr>
          <a:xfrm>
            <a:off x="9433960" y="1217936"/>
            <a:ext cx="6881316" cy="2148008"/>
            <a:chOff x="0" y="-28575"/>
            <a:chExt cx="9175088" cy="2864011"/>
          </a:xfrm>
        </p:grpSpPr>
        <p:sp>
          <p:nvSpPr>
            <p:cNvPr id="212" name="Google Shape;212;p7"/>
            <p:cNvSpPr txBox="1"/>
            <p:nvPr/>
          </p:nvSpPr>
          <p:spPr>
            <a:xfrm>
              <a:off x="0" y="-28575"/>
              <a:ext cx="917508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Positive about Nykaa </a:t>
              </a:r>
              <a:endParaRPr/>
            </a:p>
          </p:txBody>
        </p:sp>
        <p:sp>
          <p:nvSpPr>
            <p:cNvPr id="213" name="Google Shape;213;p7"/>
            <p:cNvSpPr txBox="1"/>
            <p:nvPr/>
          </p:nvSpPr>
          <p:spPr>
            <a:xfrm>
              <a:off x="0" y="789043"/>
              <a:ext cx="9175088" cy="2046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Extensive range, great offers, reliable service for many users</a:t>
              </a:r>
              <a:endParaRPr/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7"/>
          <p:cNvGrpSpPr/>
          <p:nvPr/>
        </p:nvGrpSpPr>
        <p:grpSpPr>
          <a:xfrm>
            <a:off x="9433960" y="6839221"/>
            <a:ext cx="6881316" cy="1454588"/>
            <a:chOff x="0" y="-28575"/>
            <a:chExt cx="9175088" cy="1939451"/>
          </a:xfrm>
        </p:grpSpPr>
        <p:sp>
          <p:nvSpPr>
            <p:cNvPr id="215" name="Google Shape;215;p7"/>
            <p:cNvSpPr txBox="1"/>
            <p:nvPr/>
          </p:nvSpPr>
          <p:spPr>
            <a:xfrm>
              <a:off x="0" y="-28575"/>
              <a:ext cx="917508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Neutral Comments abouts Nykaa</a:t>
              </a:r>
              <a:endParaRPr/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0" y="769993"/>
              <a:ext cx="9175088" cy="1140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Observations on pricing transparency and app feature changes</a:t>
              </a: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9433960" y="3611434"/>
            <a:ext cx="6881316" cy="1838127"/>
            <a:chOff x="0" y="-28575"/>
            <a:chExt cx="9175088" cy="2450837"/>
          </a:xfrm>
        </p:grpSpPr>
        <p:sp>
          <p:nvSpPr>
            <p:cNvPr id="218" name="Google Shape;218;p7"/>
            <p:cNvSpPr txBox="1"/>
            <p:nvPr/>
          </p:nvSpPr>
          <p:spPr>
            <a:xfrm>
              <a:off x="0" y="-28575"/>
              <a:ext cx="9175088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Negative about Nykaa</a:t>
              </a:r>
              <a:endParaRPr/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0" y="779518"/>
              <a:ext cx="9175088" cy="1642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Concerns over fake reviews, poor customer support, delivery issues, rude responses, occasional counterfeit products</a:t>
              </a:r>
              <a:endParaRPr/>
            </a:p>
          </p:txBody>
        </p:sp>
      </p:grpSp>
      <p:cxnSp>
        <p:nvCxnSpPr>
          <p:cNvPr id="220" name="Google Shape;220;p7"/>
          <p:cNvCxnSpPr/>
          <p:nvPr/>
        </p:nvCxnSpPr>
        <p:spPr>
          <a:xfrm>
            <a:off x="9433960" y="3373424"/>
            <a:ext cx="6881316" cy="0"/>
          </a:xfrm>
          <a:prstGeom prst="straightConnector1">
            <a:avLst/>
          </a:prstGeom>
          <a:noFill/>
          <a:ln w="28575" cap="rnd" cmpd="sng">
            <a:solidFill>
              <a:srgbClr val="C6499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7"/>
          <p:cNvCxnSpPr/>
          <p:nvPr/>
        </p:nvCxnSpPr>
        <p:spPr>
          <a:xfrm>
            <a:off x="9433960" y="6399226"/>
            <a:ext cx="6881316" cy="0"/>
          </a:xfrm>
          <a:prstGeom prst="straightConnector1">
            <a:avLst/>
          </a:prstGeom>
          <a:noFill/>
          <a:ln w="28575" cap="rnd" cmpd="sng">
            <a:solidFill>
              <a:srgbClr val="C6499D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499D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t="18713"/>
          <a:stretch/>
        </p:blipFill>
        <p:spPr>
          <a:xfrm>
            <a:off x="0" y="0"/>
            <a:ext cx="843679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1577100" y="7525896"/>
            <a:ext cx="5282596" cy="1849743"/>
            <a:chOff x="0" y="0"/>
            <a:chExt cx="7043462" cy="2466324"/>
          </a:xfrm>
        </p:grpSpPr>
        <p:sp>
          <p:nvSpPr>
            <p:cNvPr id="228" name="Google Shape;228;p8"/>
            <p:cNvSpPr/>
            <p:nvPr/>
          </p:nvSpPr>
          <p:spPr>
            <a:xfrm>
              <a:off x="0" y="0"/>
              <a:ext cx="7043462" cy="2466324"/>
            </a:xfrm>
            <a:custGeom>
              <a:avLst/>
              <a:gdLst/>
              <a:ahLst/>
              <a:cxnLst/>
              <a:rect l="l" t="t" r="r" b="b"/>
              <a:pathLst>
                <a:path w="3472874" h="1220943" extrusionOk="0">
                  <a:moveTo>
                    <a:pt x="3348414" y="1220943"/>
                  </a:moveTo>
                  <a:lnTo>
                    <a:pt x="124460" y="1220943"/>
                  </a:lnTo>
                  <a:cubicBezTo>
                    <a:pt x="55880" y="1220943"/>
                    <a:pt x="0" y="1165063"/>
                    <a:pt x="0" y="109648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1096483"/>
                  </a:lnTo>
                  <a:cubicBezTo>
                    <a:pt x="3472874" y="1165063"/>
                    <a:pt x="3416994" y="1220943"/>
                    <a:pt x="3348414" y="12209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467686" y="293081"/>
              <a:ext cx="563263" cy="885285"/>
            </a:xfrm>
            <a:custGeom>
              <a:avLst/>
              <a:gdLst/>
              <a:ahLst/>
              <a:cxnLst/>
              <a:rect l="l" t="t" r="r" b="b"/>
              <a:pathLst>
                <a:path w="563263" h="885285" extrusionOk="0">
                  <a:moveTo>
                    <a:pt x="0" y="0"/>
                  </a:moveTo>
                  <a:lnTo>
                    <a:pt x="563263" y="0"/>
                  </a:lnTo>
                  <a:lnTo>
                    <a:pt x="563263" y="885286"/>
                  </a:lnTo>
                  <a:lnTo>
                    <a:pt x="0" y="8852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30" name="Google Shape;230;p8"/>
            <p:cNvSpPr txBox="1"/>
            <p:nvPr/>
          </p:nvSpPr>
          <p:spPr>
            <a:xfrm>
              <a:off x="1410507" y="140127"/>
              <a:ext cx="5285013" cy="2100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the revenue of the Nykaa </a:t>
              </a:r>
              <a:endParaRPr/>
            </a:p>
            <a:p>
              <a:pPr marL="0" marR="0" lvl="0" indent="0" algn="l" rtl="0">
                <a:lnSpc>
                  <a:spcPct val="107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9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7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9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p8"/>
          <p:cNvSpPr txBox="1"/>
          <p:nvPr/>
        </p:nvSpPr>
        <p:spPr>
          <a:xfrm>
            <a:off x="9489600" y="231900"/>
            <a:ext cx="7769700" cy="105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4333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95400" marR="0" lvl="1" indent="-6477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Char char="•"/>
            </a:pPr>
            <a:r>
              <a:rPr lang="en-US" sz="6000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₹7,950 crore (₹79.5 billion), a 24 % increase over the prior year (~₹6,386 crore in FY24)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7824580" y="14748"/>
            <a:ext cx="10615391" cy="10287000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" name="Google Shape;237;p9"/>
          <p:cNvGrpSpPr/>
          <p:nvPr/>
        </p:nvGrpSpPr>
        <p:grpSpPr>
          <a:xfrm>
            <a:off x="945807" y="6529624"/>
            <a:ext cx="6352371" cy="1503338"/>
            <a:chOff x="0" y="0"/>
            <a:chExt cx="8469828" cy="2004450"/>
          </a:xfrm>
        </p:grpSpPr>
        <p:sp>
          <p:nvSpPr>
            <p:cNvPr id="238" name="Google Shape;238;p9"/>
            <p:cNvSpPr/>
            <p:nvPr/>
          </p:nvSpPr>
          <p:spPr>
            <a:xfrm>
              <a:off x="0" y="0"/>
              <a:ext cx="8469828" cy="2004450"/>
            </a:xfrm>
            <a:custGeom>
              <a:avLst/>
              <a:gdLst/>
              <a:ahLst/>
              <a:cxnLst/>
              <a:rect l="l" t="t" r="r" b="b"/>
              <a:pathLst>
                <a:path w="3472874" h="825187" extrusionOk="0">
                  <a:moveTo>
                    <a:pt x="3348414" y="825187"/>
                  </a:moveTo>
                  <a:lnTo>
                    <a:pt x="124460" y="825187"/>
                  </a:lnTo>
                  <a:cubicBezTo>
                    <a:pt x="55880" y="825187"/>
                    <a:pt x="0" y="769307"/>
                    <a:pt x="0" y="70072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700727"/>
                  </a:lnTo>
                  <a:cubicBezTo>
                    <a:pt x="3472874" y="769307"/>
                    <a:pt x="3416994" y="825187"/>
                    <a:pt x="3348414" y="825187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485777" y="464454"/>
              <a:ext cx="677329" cy="1064564"/>
            </a:xfrm>
            <a:custGeom>
              <a:avLst/>
              <a:gdLst/>
              <a:ahLst/>
              <a:cxnLst/>
              <a:rect l="l" t="t" r="r" b="b"/>
              <a:pathLst>
                <a:path w="677329" h="1064564" extrusionOk="0">
                  <a:moveTo>
                    <a:pt x="0" y="0"/>
                  </a:moveTo>
                  <a:lnTo>
                    <a:pt x="677329" y="0"/>
                  </a:lnTo>
                  <a:lnTo>
                    <a:pt x="677329" y="1064564"/>
                  </a:lnTo>
                  <a:lnTo>
                    <a:pt x="0" y="1064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0" name="Google Shape;240;p9"/>
            <p:cNvSpPr txBox="1"/>
            <p:nvPr/>
          </p:nvSpPr>
          <p:spPr>
            <a:xfrm>
              <a:off x="1696147" y="183936"/>
              <a:ext cx="6355277" cy="154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Who uses Nykaa products  </a:t>
              </a:r>
              <a:endParaRPr/>
            </a:p>
            <a:p>
              <a:pPr marL="0" marR="0" lvl="0" indent="0" algn="l" rtl="0">
                <a:lnSpc>
                  <a:spcPct val="10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6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9"/>
          <p:cNvSpPr/>
          <p:nvPr/>
        </p:nvSpPr>
        <p:spPr>
          <a:xfrm>
            <a:off x="1028700" y="3727603"/>
            <a:ext cx="5287982" cy="390800"/>
          </a:xfrm>
          <a:custGeom>
            <a:avLst/>
            <a:gdLst/>
            <a:ahLst/>
            <a:cxnLst/>
            <a:rect l="l" t="t" r="r" b="b"/>
            <a:pathLst>
              <a:path w="5287982" h="390800" extrusionOk="0">
                <a:moveTo>
                  <a:pt x="0" y="0"/>
                </a:moveTo>
                <a:lnTo>
                  <a:pt x="5287982" y="0"/>
                </a:lnTo>
                <a:lnTo>
                  <a:pt x="5287982" y="390801"/>
                </a:lnTo>
                <a:lnTo>
                  <a:pt x="0" y="390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242" name="Google Shape;242;p9"/>
          <p:cNvSpPr/>
          <p:nvPr/>
        </p:nvSpPr>
        <p:spPr>
          <a:xfrm>
            <a:off x="9368478" y="456584"/>
            <a:ext cx="2294171" cy="229416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24998" b="-24998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368478" y="3923004"/>
            <a:ext cx="2294171" cy="229416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55704" t="-24688" r="-126717" b="-6360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9368478" y="7098440"/>
            <a:ext cx="2294171" cy="229416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71321" t="-11818" r="-18478" b="-14637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245;p9"/>
          <p:cNvGrpSpPr/>
          <p:nvPr/>
        </p:nvGrpSpPr>
        <p:grpSpPr>
          <a:xfrm>
            <a:off x="12572066" y="187627"/>
            <a:ext cx="4047387" cy="4147533"/>
            <a:chOff x="0" y="-19050"/>
            <a:chExt cx="5396516" cy="5530045"/>
          </a:xfrm>
        </p:grpSpPr>
        <p:sp>
          <p:nvSpPr>
            <p:cNvPr id="246" name="Google Shape;246;p9"/>
            <p:cNvSpPr txBox="1"/>
            <p:nvPr/>
          </p:nvSpPr>
          <p:spPr>
            <a:xfrm>
              <a:off x="0" y="-19050"/>
              <a:ext cx="5396516" cy="516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49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TEENAGERS AND GEN Z</a:t>
              </a:r>
              <a:endParaRPr/>
            </a:p>
          </p:txBody>
        </p:sp>
        <p:sp>
          <p:nvSpPr>
            <p:cNvPr id="247" name="Google Shape;247;p9"/>
            <p:cNvSpPr txBox="1"/>
            <p:nvPr/>
          </p:nvSpPr>
          <p:spPr>
            <a:xfrm>
              <a:off x="0" y="637288"/>
              <a:ext cx="5396516" cy="48737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505494" marR="0" lvl="1" indent="-252747" algn="l" rtl="0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1"/>
                <a:buFont typeface="Arial"/>
                <a:buChar char="•"/>
              </a:pPr>
              <a:r>
                <a:rPr lang="en-US" sz="234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They often start with affordable makeup, skincare, and trending brands.</a:t>
              </a:r>
              <a:endParaRPr/>
            </a:p>
            <a:p>
              <a:pPr marL="505494" marR="0" lvl="1" indent="-252747" algn="l" rtl="0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41"/>
                <a:buFont typeface="Arial"/>
                <a:buChar char="•"/>
              </a:pPr>
              <a:r>
                <a:rPr lang="en-US" sz="234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Active on social media, influenced by beauty influencers and reels/shorts.</a:t>
              </a:r>
              <a:endParaRPr/>
            </a:p>
            <a:p>
              <a:pPr marL="0" marR="0" lvl="0" indent="0" algn="l" rtl="0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4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9"/>
          <p:cNvGrpSpPr/>
          <p:nvPr/>
        </p:nvGrpSpPr>
        <p:grpSpPr>
          <a:xfrm>
            <a:off x="12572066" y="4837338"/>
            <a:ext cx="4956803" cy="1920344"/>
            <a:chOff x="0" y="-28575"/>
            <a:chExt cx="6609071" cy="2560458"/>
          </a:xfrm>
        </p:grpSpPr>
        <p:sp>
          <p:nvSpPr>
            <p:cNvPr id="249" name="Google Shape;249;p9"/>
            <p:cNvSpPr txBox="1"/>
            <p:nvPr/>
          </p:nvSpPr>
          <p:spPr>
            <a:xfrm>
              <a:off x="0" y="-28575"/>
              <a:ext cx="6609071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MEN ( GROWING SEGMENT)</a:t>
              </a:r>
              <a:endParaRPr/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45" y="1300383"/>
              <a:ext cx="66090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Influenced by influencers, grooming trends, fitness culture.</a:t>
              </a:r>
              <a:endParaRPr dirty="0"/>
            </a:p>
          </p:txBody>
        </p:sp>
      </p:grpSp>
      <p:grpSp>
        <p:nvGrpSpPr>
          <p:cNvPr id="251" name="Google Shape;251;p9"/>
          <p:cNvGrpSpPr/>
          <p:nvPr/>
        </p:nvGrpSpPr>
        <p:grpSpPr>
          <a:xfrm>
            <a:off x="12572066" y="7259861"/>
            <a:ext cx="4956803" cy="1949888"/>
            <a:chOff x="0" y="-28575"/>
            <a:chExt cx="6609071" cy="2599851"/>
          </a:xfrm>
        </p:grpSpPr>
        <p:sp>
          <p:nvSpPr>
            <p:cNvPr id="252" name="Google Shape;252;p9"/>
            <p:cNvSpPr txBox="1"/>
            <p:nvPr/>
          </p:nvSpPr>
          <p:spPr>
            <a:xfrm>
              <a:off x="0" y="-28575"/>
              <a:ext cx="6609071" cy="1298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BEAUTY ENTHUSIASTS &amp; PROFESSIONALS</a:t>
              </a:r>
              <a:endParaRPr/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0" y="1430393"/>
              <a:ext cx="6609071" cy="1140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Makeup artists, salon owners, YouTubers, and content creators.</a:t>
              </a:r>
              <a:endParaRPr/>
            </a:p>
          </p:txBody>
        </p:sp>
      </p:grpSp>
      <p:sp>
        <p:nvSpPr>
          <p:cNvPr id="254" name="Google Shape;254;p9"/>
          <p:cNvSpPr txBox="1"/>
          <p:nvPr/>
        </p:nvSpPr>
        <p:spPr>
          <a:xfrm>
            <a:off x="1028700" y="1104900"/>
            <a:ext cx="5043041" cy="240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Consumer</a:t>
            </a:r>
            <a:endParaRPr/>
          </a:p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Segments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1045332" y="8473650"/>
            <a:ext cx="5622846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Primary Users – Women (Age 18–45)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"/>
          <p:cNvSpPr/>
          <p:nvPr/>
        </p:nvSpPr>
        <p:spPr>
          <a:xfrm>
            <a:off x="0" y="0"/>
            <a:ext cx="18288000" cy="2829573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1028700" y="100500"/>
            <a:ext cx="7885200" cy="27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Cost Structure FY 2024-2025</a:t>
            </a:r>
            <a:endParaRPr/>
          </a:p>
        </p:txBody>
      </p:sp>
      <p:graphicFrame>
        <p:nvGraphicFramePr>
          <p:cNvPr id="262" name="Google Shape;262;p10"/>
          <p:cNvGraphicFramePr/>
          <p:nvPr/>
        </p:nvGraphicFramePr>
        <p:xfrm>
          <a:off x="1028700" y="3556929"/>
          <a:ext cx="16230600" cy="6519425"/>
        </p:xfrm>
        <a:graphic>
          <a:graphicData uri="http://schemas.openxmlformats.org/drawingml/2006/table">
            <a:tbl>
              <a:tblPr>
                <a:noFill/>
                <a:tableStyleId>{BBB4F77B-C73E-4081-A0E5-79D0534A09E1}</a:tableStyleId>
              </a:tblPr>
              <a:tblGrid>
                <a:gridCol w="992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u="none" strike="noStrike" cap="none">
                          <a:solidFill>
                            <a:srgbClr val="000000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Fixed Costs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4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Employee Salaries and benefits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Rs.565 cr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 platform &amp; Admin (SG&amp; A)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Rs.400cr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u="none" strike="noStrike" cap="none">
                          <a:solidFill>
                            <a:srgbClr val="000000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Variable Costs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4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Mareketing&amp;Adv,COGS,Fulfillment(logistics/warehousing)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Rs.5,940cr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5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u="none" strike="noStrike" cap="none">
                          <a:solidFill>
                            <a:srgbClr val="000000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Total Expenses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u="none" strike="noStrike" cap="none">
                          <a:solidFill>
                            <a:srgbClr val="000000"/>
                          </a:solidFill>
                          <a:latin typeface="Hammersmith One"/>
                          <a:ea typeface="Hammersmith One"/>
                          <a:cs typeface="Hammersmith One"/>
                          <a:sym typeface="Hammersmith One"/>
                        </a:rPr>
                        <a:t>Rs.6.905cr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47625" cap="flat" cmpd="sng">
                      <a:solidFill>
                        <a:srgbClr val="C6499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63" name="Google Shape;263;p10"/>
          <p:cNvGrpSpPr/>
          <p:nvPr/>
        </p:nvGrpSpPr>
        <p:grpSpPr>
          <a:xfrm>
            <a:off x="8914003" y="1675813"/>
            <a:ext cx="8115300" cy="2729092"/>
            <a:chOff x="0" y="0"/>
            <a:chExt cx="10820400" cy="3638789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10820400" cy="3638789"/>
            </a:xfrm>
            <a:custGeom>
              <a:avLst/>
              <a:gdLst/>
              <a:ahLst/>
              <a:cxnLst/>
              <a:rect l="l" t="t" r="r" b="b"/>
              <a:pathLst>
                <a:path w="4436676" h="1498007" extrusionOk="0">
                  <a:moveTo>
                    <a:pt x="4312216" y="1498007"/>
                  </a:moveTo>
                  <a:lnTo>
                    <a:pt x="124460" y="1498007"/>
                  </a:lnTo>
                  <a:cubicBezTo>
                    <a:pt x="55880" y="1498007"/>
                    <a:pt x="0" y="1442127"/>
                    <a:pt x="0" y="137354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312216" y="0"/>
                  </a:lnTo>
                  <a:cubicBezTo>
                    <a:pt x="4380796" y="0"/>
                    <a:pt x="4436676" y="55880"/>
                    <a:pt x="4436676" y="124460"/>
                  </a:cubicBezTo>
                  <a:lnTo>
                    <a:pt x="4436676" y="1373547"/>
                  </a:lnTo>
                  <a:cubicBezTo>
                    <a:pt x="4436676" y="1442127"/>
                    <a:pt x="4380796" y="1498007"/>
                    <a:pt x="4312216" y="1498007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516425" y="1333077"/>
              <a:ext cx="677329" cy="1064564"/>
            </a:xfrm>
            <a:custGeom>
              <a:avLst/>
              <a:gdLst/>
              <a:ahLst/>
              <a:cxnLst/>
              <a:rect l="l" t="t" r="r" b="b"/>
              <a:pathLst>
                <a:path w="677329" h="1064564" extrusionOk="0">
                  <a:moveTo>
                    <a:pt x="0" y="0"/>
                  </a:moveTo>
                  <a:lnTo>
                    <a:pt x="677329" y="0"/>
                  </a:lnTo>
                  <a:lnTo>
                    <a:pt x="677329" y="1064564"/>
                  </a:lnTo>
                  <a:lnTo>
                    <a:pt x="0" y="1064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66" name="Google Shape;266;p10"/>
            <p:cNvSpPr txBox="1"/>
            <p:nvPr/>
          </p:nvSpPr>
          <p:spPr>
            <a:xfrm>
              <a:off x="1762157" y="436365"/>
              <a:ext cx="8639839" cy="2708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Fixed cost represents the expenses which are regulary happening and fixed . 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Variable represents the expenses where the expenses will happen based on the situations or scenarios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1"/>
          <p:cNvGrpSpPr/>
          <p:nvPr/>
        </p:nvGrpSpPr>
        <p:grpSpPr>
          <a:xfrm>
            <a:off x="11483938" y="1613268"/>
            <a:ext cx="5275843" cy="1885587"/>
            <a:chOff x="0" y="0"/>
            <a:chExt cx="7034457" cy="2514117"/>
          </a:xfrm>
        </p:grpSpPr>
        <p:sp>
          <p:nvSpPr>
            <p:cNvPr id="272" name="Google Shape;272;p11"/>
            <p:cNvSpPr/>
            <p:nvPr/>
          </p:nvSpPr>
          <p:spPr>
            <a:xfrm>
              <a:off x="0" y="0"/>
              <a:ext cx="7034457" cy="2514117"/>
            </a:xfrm>
            <a:custGeom>
              <a:avLst/>
              <a:gdLst/>
              <a:ahLst/>
              <a:cxnLst/>
              <a:rect l="l" t="t" r="r" b="b"/>
              <a:pathLst>
                <a:path w="3472874" h="1252721" extrusionOk="0">
                  <a:moveTo>
                    <a:pt x="3348414" y="1252721"/>
                  </a:moveTo>
                  <a:lnTo>
                    <a:pt x="124460" y="1252721"/>
                  </a:lnTo>
                  <a:cubicBezTo>
                    <a:pt x="55880" y="1252721"/>
                    <a:pt x="0" y="1196841"/>
                    <a:pt x="0" y="112826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1128261"/>
                  </a:lnTo>
                  <a:cubicBezTo>
                    <a:pt x="3472874" y="1196841"/>
                    <a:pt x="3416994" y="1252721"/>
                    <a:pt x="3348414" y="1252721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403453" y="810422"/>
              <a:ext cx="562543" cy="884154"/>
            </a:xfrm>
            <a:custGeom>
              <a:avLst/>
              <a:gdLst/>
              <a:ahLst/>
              <a:cxnLst/>
              <a:rect l="l" t="t" r="r" b="b"/>
              <a:pathLst>
                <a:path w="562543" h="884154" extrusionOk="0">
                  <a:moveTo>
                    <a:pt x="0" y="0"/>
                  </a:moveTo>
                  <a:lnTo>
                    <a:pt x="562543" y="0"/>
                  </a:lnTo>
                  <a:lnTo>
                    <a:pt x="562543" y="884154"/>
                  </a:lnTo>
                  <a:lnTo>
                    <a:pt x="0" y="8841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74" name="Google Shape;274;p11"/>
            <p:cNvSpPr txBox="1"/>
            <p:nvPr/>
          </p:nvSpPr>
          <p:spPr>
            <a:xfrm>
              <a:off x="1408703" y="158901"/>
              <a:ext cx="5278256" cy="2130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are the areas does Nykaa need to improve further in future </a:t>
              </a:r>
              <a:endParaRPr/>
            </a:p>
            <a:p>
              <a:pPr marL="0" marR="0" lvl="0" indent="0" algn="l" rtl="0">
                <a:lnSpc>
                  <a:spcPct val="15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11"/>
          <p:cNvSpPr/>
          <p:nvPr/>
        </p:nvSpPr>
        <p:spPr>
          <a:xfrm>
            <a:off x="1028700" y="3617529"/>
            <a:ext cx="5287982" cy="390800"/>
          </a:xfrm>
          <a:custGeom>
            <a:avLst/>
            <a:gdLst/>
            <a:ahLst/>
            <a:cxnLst/>
            <a:rect l="l" t="t" r="r" b="b"/>
            <a:pathLst>
              <a:path w="5287982" h="390800" extrusionOk="0">
                <a:moveTo>
                  <a:pt x="0" y="0"/>
                </a:moveTo>
                <a:lnTo>
                  <a:pt x="5287982" y="0"/>
                </a:lnTo>
                <a:lnTo>
                  <a:pt x="5287982" y="390801"/>
                </a:lnTo>
                <a:lnTo>
                  <a:pt x="0" y="390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276" name="Google Shape;276;p11"/>
          <p:cNvSpPr/>
          <p:nvPr/>
        </p:nvSpPr>
        <p:spPr>
          <a:xfrm rot="5400000">
            <a:off x="12764377" y="4763377"/>
            <a:ext cx="10287000" cy="760245"/>
          </a:xfrm>
          <a:custGeom>
            <a:avLst/>
            <a:gdLst/>
            <a:ahLst/>
            <a:cxnLst/>
            <a:rect l="l" t="t" r="r" b="b"/>
            <a:pathLst>
              <a:path w="10287000" h="760245" extrusionOk="0">
                <a:moveTo>
                  <a:pt x="0" y="0"/>
                </a:moveTo>
                <a:lnTo>
                  <a:pt x="10287000" y="0"/>
                </a:lnTo>
                <a:lnTo>
                  <a:pt x="10287000" y="760246"/>
                </a:lnTo>
                <a:lnTo>
                  <a:pt x="0" y="760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277" name="Google Shape;277;p11"/>
          <p:cNvSpPr txBox="1"/>
          <p:nvPr/>
        </p:nvSpPr>
        <p:spPr>
          <a:xfrm>
            <a:off x="1028700" y="1647566"/>
            <a:ext cx="8980501" cy="185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99" b="0" i="0" u="none" strike="noStrike" cap="none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Areas to improve in future</a:t>
            </a:r>
            <a:endParaRPr dirty="0"/>
          </a:p>
        </p:txBody>
      </p:sp>
      <p:graphicFrame>
        <p:nvGraphicFramePr>
          <p:cNvPr id="278" name="Google Shape;278;p11"/>
          <p:cNvGraphicFramePr/>
          <p:nvPr>
            <p:extLst>
              <p:ext uri="{D42A27DB-BD31-4B8C-83A1-F6EECF244321}">
                <p14:modId xmlns:p14="http://schemas.microsoft.com/office/powerpoint/2010/main" val="3607527200"/>
              </p:ext>
            </p:extLst>
          </p:nvPr>
        </p:nvGraphicFramePr>
        <p:xfrm>
          <a:off x="3999268" y="4127003"/>
          <a:ext cx="8763000" cy="5630918"/>
        </p:xfrm>
        <a:graphic>
          <a:graphicData uri="http://schemas.openxmlformats.org/drawingml/2006/table">
            <a:tbl>
              <a:tblPr>
                <a:noFill/>
                <a:tableStyleId>{BBB4F77B-C73E-4081-A0E5-79D0534A09E1}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40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🔒 Trust &amp; Quality</a:t>
                      </a:r>
                      <a:endParaRPr dirty="0"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Verified reviews, product transparency, responsive service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🚚 Delivery &amp; Support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Fast shipping, same-day options, easy returns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62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🧬 Personalization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AI/AR tools for custom routines, virtual try-ons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62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🛒 Omnichannel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Expand physical stores with digital integration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62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🧔 New Markets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Focus on men, Tier 2/3 cities, regional languages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0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📽️ Content Strategy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Build influencer community, reward honest video content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0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🧴 Private Label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Launch new clean, functional, or Ayurvedic in-house brands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562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📈 Smart Analytics</a:t>
                      </a:r>
                      <a:endParaRPr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Predict customer needs, automate suggestions</a:t>
                      </a:r>
                      <a:endParaRPr dirty="0"/>
                    </a:p>
                  </a:txBody>
                  <a:tcPr marL="80825" marR="80825" marT="40400" marB="404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9" name="Google Shape;279;p11"/>
          <p:cNvSpPr/>
          <p:nvPr/>
        </p:nvSpPr>
        <p:spPr>
          <a:xfrm>
            <a:off x="7467573" y="4381406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0" y="0"/>
            <a:ext cx="18288000" cy="2829573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1028700" y="255912"/>
            <a:ext cx="5287982" cy="239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Nykaa is good in</a:t>
            </a:r>
            <a:endParaRPr/>
          </a:p>
        </p:txBody>
      </p:sp>
      <p:grpSp>
        <p:nvGrpSpPr>
          <p:cNvPr id="286" name="Google Shape;286;p12"/>
          <p:cNvGrpSpPr/>
          <p:nvPr/>
        </p:nvGrpSpPr>
        <p:grpSpPr>
          <a:xfrm>
            <a:off x="7820347" y="1374506"/>
            <a:ext cx="9961641" cy="2165145"/>
            <a:chOff x="0" y="0"/>
            <a:chExt cx="13282188" cy="2886860"/>
          </a:xfrm>
        </p:grpSpPr>
        <p:sp>
          <p:nvSpPr>
            <p:cNvPr id="287" name="Google Shape;287;p12"/>
            <p:cNvSpPr/>
            <p:nvPr/>
          </p:nvSpPr>
          <p:spPr>
            <a:xfrm>
              <a:off x="0" y="0"/>
              <a:ext cx="13282188" cy="2886860"/>
            </a:xfrm>
            <a:custGeom>
              <a:avLst/>
              <a:gdLst/>
              <a:ahLst/>
              <a:cxnLst/>
              <a:rect l="l" t="t" r="r" b="b"/>
              <a:pathLst>
                <a:path w="5446080" h="1188455" extrusionOk="0">
                  <a:moveTo>
                    <a:pt x="5321620" y="1188454"/>
                  </a:moveTo>
                  <a:lnTo>
                    <a:pt x="124460" y="1188454"/>
                  </a:lnTo>
                  <a:cubicBezTo>
                    <a:pt x="55880" y="1188454"/>
                    <a:pt x="0" y="1132575"/>
                    <a:pt x="0" y="10639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21620" y="0"/>
                  </a:lnTo>
                  <a:cubicBezTo>
                    <a:pt x="5390200" y="0"/>
                    <a:pt x="5446080" y="55880"/>
                    <a:pt x="5446080" y="124460"/>
                  </a:cubicBezTo>
                  <a:lnTo>
                    <a:pt x="5446080" y="1063995"/>
                  </a:lnTo>
                  <a:cubicBezTo>
                    <a:pt x="5446080" y="1132575"/>
                    <a:pt x="5390200" y="1188455"/>
                    <a:pt x="5321620" y="1188455"/>
                  </a:cubicBezTo>
                  <a:close/>
                </a:path>
              </a:pathLst>
            </a:custGeom>
            <a:solidFill>
              <a:srgbClr val="EDEC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494320" y="887621"/>
              <a:ext cx="677329" cy="1064564"/>
            </a:xfrm>
            <a:custGeom>
              <a:avLst/>
              <a:gdLst/>
              <a:ahLst/>
              <a:cxnLst/>
              <a:rect l="l" t="t" r="r" b="b"/>
              <a:pathLst>
                <a:path w="677329" h="1064564" extrusionOk="0">
                  <a:moveTo>
                    <a:pt x="0" y="0"/>
                  </a:moveTo>
                  <a:lnTo>
                    <a:pt x="677329" y="0"/>
                  </a:lnTo>
                  <a:lnTo>
                    <a:pt x="677329" y="1064564"/>
                  </a:lnTo>
                  <a:lnTo>
                    <a:pt x="0" y="1064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89" name="Google Shape;289;p12"/>
            <p:cNvSpPr txBox="1"/>
            <p:nvPr/>
          </p:nvSpPr>
          <p:spPr>
            <a:xfrm>
              <a:off x="1818249" y="352468"/>
              <a:ext cx="11035825" cy="20681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Nykaa is good in digital marketing , social media ads and branded partnerships </a:t>
              </a:r>
              <a:endParaRPr/>
            </a:p>
            <a:p>
              <a:pPr marL="0" marR="0" lvl="0" indent="0" algn="l" rtl="0">
                <a:lnSpc>
                  <a:spcPct val="1125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25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2"/>
          <p:cNvGrpSpPr/>
          <p:nvPr/>
        </p:nvGrpSpPr>
        <p:grpSpPr>
          <a:xfrm>
            <a:off x="1433220" y="4228298"/>
            <a:ext cx="3915114" cy="5836088"/>
            <a:chOff x="0" y="-28575"/>
            <a:chExt cx="5220152" cy="7781451"/>
          </a:xfrm>
        </p:grpSpPr>
        <p:sp>
          <p:nvSpPr>
            <p:cNvPr id="291" name="Google Shape;291;p12"/>
            <p:cNvSpPr txBox="1"/>
            <p:nvPr/>
          </p:nvSpPr>
          <p:spPr>
            <a:xfrm>
              <a:off x="0" y="-28575"/>
              <a:ext cx="5220152" cy="638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DIRECT MARKETING</a:t>
              </a:r>
              <a:endParaRPr/>
            </a:p>
          </p:txBody>
        </p:sp>
        <p:sp>
          <p:nvSpPr>
            <p:cNvPr id="292" name="Google Shape;292;p12"/>
            <p:cNvSpPr txBox="1"/>
            <p:nvPr/>
          </p:nvSpPr>
          <p:spPr>
            <a:xfrm>
              <a:off x="0" y="769993"/>
              <a:ext cx="5220152" cy="6982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539753" marR="0" lvl="1" indent="-269875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Char char="•"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Blends content and commerce</a:t>
              </a:r>
              <a:endParaRPr/>
            </a:p>
            <a:p>
              <a:pPr marL="539753" marR="0" lvl="1" indent="-269875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Char char="•"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Builds trust with influencers</a:t>
              </a:r>
              <a:endParaRPr/>
            </a:p>
            <a:p>
              <a:pPr marL="539753" marR="0" lvl="1" indent="-269875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Char char="•"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Uses data for personalization</a:t>
              </a:r>
              <a:endParaRPr/>
            </a:p>
            <a:p>
              <a:pPr marL="539753" marR="0" lvl="1" indent="-269875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Char char="•"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Optimizes for mobile and SEO</a:t>
              </a:r>
              <a:endParaRPr/>
            </a:p>
            <a:p>
              <a:pPr marL="539753" marR="0" lvl="1" indent="-269875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Char char="•"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Engages customers across multiple platforms seamlessly</a:t>
              </a:r>
              <a:endParaRPr/>
            </a:p>
          </p:txBody>
        </p:sp>
      </p:grpSp>
      <p:grpSp>
        <p:nvGrpSpPr>
          <p:cNvPr id="293" name="Google Shape;293;p12"/>
          <p:cNvGrpSpPr/>
          <p:nvPr/>
        </p:nvGrpSpPr>
        <p:grpSpPr>
          <a:xfrm>
            <a:off x="7298926" y="5652772"/>
            <a:ext cx="3915114" cy="2551868"/>
            <a:chOff x="0" y="-28575"/>
            <a:chExt cx="5220152" cy="3402491"/>
          </a:xfrm>
        </p:grpSpPr>
        <p:sp>
          <p:nvSpPr>
            <p:cNvPr id="294" name="Google Shape;294;p12"/>
            <p:cNvSpPr txBox="1"/>
            <p:nvPr/>
          </p:nvSpPr>
          <p:spPr>
            <a:xfrm>
              <a:off x="0" y="-28575"/>
              <a:ext cx="5220152" cy="1298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SOCIAL MEDIA</a:t>
              </a:r>
              <a:endParaRPr/>
            </a:p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 ADS</a:t>
              </a:r>
              <a:endParaRPr/>
            </a:p>
          </p:txBody>
        </p:sp>
        <p:sp>
          <p:nvSpPr>
            <p:cNvPr id="295" name="Google Shape;295;p12"/>
            <p:cNvSpPr txBox="1"/>
            <p:nvPr/>
          </p:nvSpPr>
          <p:spPr>
            <a:xfrm>
              <a:off x="0" y="1430393"/>
              <a:ext cx="5220152" cy="1943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Nykaa's ads feel relatable, stylish, and well-targeted</a:t>
              </a:r>
              <a:endParaRPr/>
            </a:p>
          </p:txBody>
        </p:sp>
      </p:grpSp>
      <p:grpSp>
        <p:nvGrpSpPr>
          <p:cNvPr id="296" name="Google Shape;296;p12"/>
          <p:cNvGrpSpPr/>
          <p:nvPr/>
        </p:nvGrpSpPr>
        <p:grpSpPr>
          <a:xfrm>
            <a:off x="13166665" y="5555812"/>
            <a:ext cx="3915114" cy="3702488"/>
            <a:chOff x="0" y="-28575"/>
            <a:chExt cx="5220152" cy="4936651"/>
          </a:xfrm>
        </p:grpSpPr>
        <p:sp>
          <p:nvSpPr>
            <p:cNvPr id="297" name="Google Shape;297;p12"/>
            <p:cNvSpPr txBox="1"/>
            <p:nvPr/>
          </p:nvSpPr>
          <p:spPr>
            <a:xfrm>
              <a:off x="0" y="-28575"/>
              <a:ext cx="5220152" cy="1298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BRANDED PARTNERSHIPS</a:t>
              </a:r>
              <a:endParaRPr/>
            </a:p>
          </p:txBody>
        </p:sp>
        <p:sp>
          <p:nvSpPr>
            <p:cNvPr id="298" name="Google Shape;298;p12"/>
            <p:cNvSpPr txBox="1"/>
            <p:nvPr/>
          </p:nvSpPr>
          <p:spPr>
            <a:xfrm>
              <a:off x="0" y="1430393"/>
              <a:ext cx="5220152" cy="3477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Nykaa acts as both a marketplace and a strategic brand partner, offering visibility, sales channels, and marketing strength.</a:t>
              </a:r>
              <a:endParaRPr/>
            </a:p>
          </p:txBody>
        </p:sp>
      </p:grpSp>
      <p:sp>
        <p:nvSpPr>
          <p:cNvPr id="299" name="Google Shape;299;p12"/>
          <p:cNvSpPr/>
          <p:nvPr/>
        </p:nvSpPr>
        <p:spPr>
          <a:xfrm>
            <a:off x="8625248" y="3682505"/>
            <a:ext cx="1037505" cy="1134448"/>
          </a:xfrm>
          <a:custGeom>
            <a:avLst/>
            <a:gdLst/>
            <a:ahLst/>
            <a:cxnLst/>
            <a:rect l="l" t="t" r="r" b="b"/>
            <a:pathLst>
              <a:path w="1037505" h="1134448" extrusionOk="0">
                <a:moveTo>
                  <a:pt x="0" y="0"/>
                </a:moveTo>
                <a:lnTo>
                  <a:pt x="1037504" y="0"/>
                </a:lnTo>
                <a:lnTo>
                  <a:pt x="1037504" y="1134448"/>
                </a:lnTo>
                <a:lnTo>
                  <a:pt x="0" y="1134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0" name="Google Shape;300;p12"/>
          <p:cNvSpPr/>
          <p:nvPr/>
        </p:nvSpPr>
        <p:spPr>
          <a:xfrm>
            <a:off x="14615752" y="3874074"/>
            <a:ext cx="719859" cy="1134448"/>
          </a:xfrm>
          <a:custGeom>
            <a:avLst/>
            <a:gdLst/>
            <a:ahLst/>
            <a:cxnLst/>
            <a:rect l="l" t="t" r="r" b="b"/>
            <a:pathLst>
              <a:path w="719859" h="1134448" extrusionOk="0">
                <a:moveTo>
                  <a:pt x="0" y="0"/>
                </a:moveTo>
                <a:lnTo>
                  <a:pt x="719859" y="0"/>
                </a:lnTo>
                <a:lnTo>
                  <a:pt x="719859" y="1134448"/>
                </a:lnTo>
                <a:lnTo>
                  <a:pt x="0" y="1134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1" name="Google Shape;301;p12"/>
          <p:cNvSpPr/>
          <p:nvPr/>
        </p:nvSpPr>
        <p:spPr>
          <a:xfrm>
            <a:off x="2791981" y="3074785"/>
            <a:ext cx="880710" cy="929732"/>
          </a:xfrm>
          <a:custGeom>
            <a:avLst/>
            <a:gdLst/>
            <a:ahLst/>
            <a:cxnLst/>
            <a:rect l="l" t="t" r="r" b="b"/>
            <a:pathLst>
              <a:path w="880710" h="929732" extrusionOk="0">
                <a:moveTo>
                  <a:pt x="0" y="0"/>
                </a:moveTo>
                <a:lnTo>
                  <a:pt x="880710" y="0"/>
                </a:lnTo>
                <a:lnTo>
                  <a:pt x="880710" y="929732"/>
                </a:lnTo>
                <a:lnTo>
                  <a:pt x="0" y="929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0" y="0"/>
            <a:ext cx="8086703" cy="10287000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321885" y="3221037"/>
            <a:ext cx="4974424" cy="367627"/>
          </a:xfrm>
          <a:custGeom>
            <a:avLst/>
            <a:gdLst/>
            <a:ahLst/>
            <a:cxnLst/>
            <a:rect l="l" t="t" r="r" b="b"/>
            <a:pathLst>
              <a:path w="4974424" h="367627" extrusionOk="0">
                <a:moveTo>
                  <a:pt x="0" y="0"/>
                </a:moveTo>
                <a:lnTo>
                  <a:pt x="4974424" y="0"/>
                </a:lnTo>
                <a:lnTo>
                  <a:pt x="4974424" y="367628"/>
                </a:lnTo>
                <a:lnTo>
                  <a:pt x="0" y="367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308" name="Google Shape;308;p13"/>
          <p:cNvSpPr/>
          <p:nvPr/>
        </p:nvSpPr>
        <p:spPr>
          <a:xfrm>
            <a:off x="8086703" y="1405940"/>
            <a:ext cx="10201297" cy="5269212"/>
          </a:xfrm>
          <a:custGeom>
            <a:avLst/>
            <a:gdLst/>
            <a:ahLst/>
            <a:cxnLst/>
            <a:rect l="l" t="t" r="r" b="b"/>
            <a:pathLst>
              <a:path w="10481494" h="5269212" extrusionOk="0">
                <a:moveTo>
                  <a:pt x="0" y="0"/>
                </a:moveTo>
                <a:lnTo>
                  <a:pt x="10481494" y="0"/>
                </a:lnTo>
                <a:lnTo>
                  <a:pt x="10481494" y="5269212"/>
                </a:lnTo>
                <a:lnTo>
                  <a:pt x="0" y="5269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315" r="-4503"/>
            </a:stretch>
          </a:blipFill>
          <a:ln>
            <a:noFill/>
          </a:ln>
        </p:spPr>
      </p:sp>
      <p:sp>
        <p:nvSpPr>
          <p:cNvPr id="309" name="Google Shape;309;p13"/>
          <p:cNvSpPr txBox="1"/>
          <p:nvPr/>
        </p:nvSpPr>
        <p:spPr>
          <a:xfrm>
            <a:off x="550381" y="792162"/>
            <a:ext cx="5287982" cy="242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Nykaa Trends</a:t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8086703" y="7535147"/>
            <a:ext cx="10301385" cy="135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 Line: Nykaa’s stock price rising steadily from ₹165 to ₹202.</a:t>
            </a:r>
            <a:endParaRPr/>
          </a:p>
          <a:p>
            <a:pPr marL="0" marR="0" lvl="0" indent="0" algn="ctr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Dashed Line: Revenue growth percentage increasing from 10% to 25%.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8850749" y="589915"/>
            <a:ext cx="8408551" cy="43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Nykaa's recent market trends from January to July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/>
          <p:nvPr/>
        </p:nvSpPr>
        <p:spPr>
          <a:xfrm>
            <a:off x="0" y="0"/>
            <a:ext cx="8086703" cy="10287000"/>
          </a:xfrm>
          <a:prstGeom prst="rect">
            <a:avLst/>
          </a:prstGeom>
          <a:solidFill>
            <a:srgbClr val="C649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1171861" y="273807"/>
            <a:ext cx="4299905" cy="34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28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You can connect with</a:t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1171861" y="4195646"/>
            <a:ext cx="5287982" cy="390800"/>
          </a:xfrm>
          <a:custGeom>
            <a:avLst/>
            <a:gdLst/>
            <a:ahLst/>
            <a:cxnLst/>
            <a:rect l="l" t="t" r="r" b="b"/>
            <a:pathLst>
              <a:path w="5287982" h="390800" extrusionOk="0">
                <a:moveTo>
                  <a:pt x="0" y="0"/>
                </a:moveTo>
                <a:lnTo>
                  <a:pt x="5287981" y="0"/>
                </a:lnTo>
                <a:lnTo>
                  <a:pt x="5287981" y="390800"/>
                </a:lnTo>
                <a:lnTo>
                  <a:pt x="0" y="39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grpSp>
        <p:nvGrpSpPr>
          <p:cNvPr id="319" name="Google Shape;319;p14"/>
          <p:cNvGrpSpPr/>
          <p:nvPr/>
        </p:nvGrpSpPr>
        <p:grpSpPr>
          <a:xfrm>
            <a:off x="9420342" y="1947386"/>
            <a:ext cx="6881316" cy="1093433"/>
            <a:chOff x="0" y="-38100"/>
            <a:chExt cx="9175088" cy="1457910"/>
          </a:xfrm>
        </p:grpSpPr>
        <p:sp>
          <p:nvSpPr>
            <p:cNvPr id="320" name="Google Shape;320;p14"/>
            <p:cNvSpPr txBox="1"/>
            <p:nvPr/>
          </p:nvSpPr>
          <p:spPr>
            <a:xfrm>
              <a:off x="0" y="-38100"/>
              <a:ext cx="9175088" cy="740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9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Email </a:t>
              </a:r>
              <a:endParaRPr/>
            </a:p>
          </p:txBody>
        </p:sp>
        <p:sp>
          <p:nvSpPr>
            <p:cNvPr id="321" name="Google Shape;321;p14"/>
            <p:cNvSpPr txBox="1"/>
            <p:nvPr/>
          </p:nvSpPr>
          <p:spPr>
            <a:xfrm>
              <a:off x="0" y="863127"/>
              <a:ext cx="9175088" cy="556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support@nykaa.com</a:t>
              </a:r>
              <a:endParaRPr/>
            </a:p>
          </p:txBody>
        </p:sp>
      </p:grpSp>
      <p:grpSp>
        <p:nvGrpSpPr>
          <p:cNvPr id="322" name="Google Shape;322;p14"/>
          <p:cNvGrpSpPr/>
          <p:nvPr/>
        </p:nvGrpSpPr>
        <p:grpSpPr>
          <a:xfrm>
            <a:off x="9420342" y="4557871"/>
            <a:ext cx="6881316" cy="1093433"/>
            <a:chOff x="0" y="-38100"/>
            <a:chExt cx="9175088" cy="1457910"/>
          </a:xfrm>
        </p:grpSpPr>
        <p:sp>
          <p:nvSpPr>
            <p:cNvPr id="323" name="Google Shape;323;p14"/>
            <p:cNvSpPr txBox="1"/>
            <p:nvPr/>
          </p:nvSpPr>
          <p:spPr>
            <a:xfrm>
              <a:off x="0" y="-38100"/>
              <a:ext cx="9175088" cy="740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9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Social Media </a:t>
              </a:r>
              <a:endParaRPr/>
            </a:p>
          </p:txBody>
        </p:sp>
        <p:sp>
          <p:nvSpPr>
            <p:cNvPr id="324" name="Google Shape;324;p14"/>
            <p:cNvSpPr txBox="1"/>
            <p:nvPr/>
          </p:nvSpPr>
          <p:spPr>
            <a:xfrm>
              <a:off x="0" y="863127"/>
              <a:ext cx="9175088" cy="556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@mynykaa</a:t>
              </a:r>
              <a:endParaRPr/>
            </a:p>
          </p:txBody>
        </p:sp>
      </p:grpSp>
      <p:grpSp>
        <p:nvGrpSpPr>
          <p:cNvPr id="325" name="Google Shape;325;p14"/>
          <p:cNvGrpSpPr/>
          <p:nvPr/>
        </p:nvGrpSpPr>
        <p:grpSpPr>
          <a:xfrm>
            <a:off x="9420342" y="7212845"/>
            <a:ext cx="6881316" cy="1093433"/>
            <a:chOff x="0" y="-38100"/>
            <a:chExt cx="9175088" cy="1457910"/>
          </a:xfrm>
        </p:grpSpPr>
        <p:sp>
          <p:nvSpPr>
            <p:cNvPr id="326" name="Google Shape;326;p14"/>
            <p:cNvSpPr txBox="1"/>
            <p:nvPr/>
          </p:nvSpPr>
          <p:spPr>
            <a:xfrm>
              <a:off x="0" y="-38100"/>
              <a:ext cx="9175088" cy="740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9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Website</a:t>
              </a:r>
              <a:endParaRPr/>
            </a:p>
          </p:txBody>
        </p:sp>
        <p:sp>
          <p:nvSpPr>
            <p:cNvPr id="327" name="Google Shape;327;p14"/>
            <p:cNvSpPr txBox="1"/>
            <p:nvPr/>
          </p:nvSpPr>
          <p:spPr>
            <a:xfrm>
              <a:off x="0" y="863127"/>
              <a:ext cx="9175088" cy="556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https://www.nykaa.com</a:t>
              </a:r>
              <a:endParaRPr/>
            </a:p>
          </p:txBody>
        </p:sp>
      </p:grpSp>
      <p:cxnSp>
        <p:nvCxnSpPr>
          <p:cNvPr id="328" name="Google Shape;328;p14"/>
          <p:cNvCxnSpPr/>
          <p:nvPr/>
        </p:nvCxnSpPr>
        <p:spPr>
          <a:xfrm>
            <a:off x="9420342" y="3807270"/>
            <a:ext cx="6881316" cy="0"/>
          </a:xfrm>
          <a:prstGeom prst="straightConnector1">
            <a:avLst/>
          </a:prstGeom>
          <a:noFill/>
          <a:ln w="28575" cap="rnd" cmpd="sng">
            <a:solidFill>
              <a:srgbClr val="C6499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9" name="Google Shape;329;p14"/>
          <p:cNvCxnSpPr/>
          <p:nvPr/>
        </p:nvCxnSpPr>
        <p:spPr>
          <a:xfrm>
            <a:off x="9420342" y="6417756"/>
            <a:ext cx="6881316" cy="0"/>
          </a:xfrm>
          <a:prstGeom prst="straightConnector1">
            <a:avLst/>
          </a:prstGeom>
          <a:noFill/>
          <a:ln w="28575" cap="rnd" cmpd="sng">
            <a:solidFill>
              <a:srgbClr val="C6499D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/>
          <p:nvPr/>
        </p:nvSpPr>
        <p:spPr>
          <a:xfrm rot="5400000">
            <a:off x="-5335727" y="4742132"/>
            <a:ext cx="10861953" cy="802736"/>
          </a:xfrm>
          <a:custGeom>
            <a:avLst/>
            <a:gdLst/>
            <a:ahLst/>
            <a:cxnLst/>
            <a:rect l="l" t="t" r="r" b="b"/>
            <a:pathLst>
              <a:path w="10861953" h="802736" extrusionOk="0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70" t="-308576" r="-7086" b="-1042591"/>
            </a:stretch>
          </a:blipFill>
          <a:ln>
            <a:noFill/>
          </a:ln>
        </p:spPr>
      </p:sp>
      <p:sp>
        <p:nvSpPr>
          <p:cNvPr id="335" name="Google Shape;335;p15"/>
          <p:cNvSpPr txBox="1"/>
          <p:nvPr/>
        </p:nvSpPr>
        <p:spPr>
          <a:xfrm>
            <a:off x="1240306" y="225743"/>
            <a:ext cx="6466671" cy="239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My analysis</a:t>
            </a:r>
            <a:endParaRPr/>
          </a:p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99">
              <a:solidFill>
                <a:srgbClr val="000000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1240300" y="1637450"/>
            <a:ext cx="5515800" cy="3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Finally, as a business analyst i would like to conclude that Nykaa is a very good and more active brand in the current generation through Influencers , Content creators , Instagram , Websites , offer , Sale etc. Customer whoever paid and buy things from Nykaa , they are expecting the proper products , without any damaged packages and good customer support which is really a reasonable expectations from customers .</a:t>
            </a:r>
            <a:endParaRPr/>
          </a:p>
        </p:txBody>
      </p:sp>
      <p:grpSp>
        <p:nvGrpSpPr>
          <p:cNvPr id="337" name="Google Shape;337;p15"/>
          <p:cNvGrpSpPr/>
          <p:nvPr/>
        </p:nvGrpSpPr>
        <p:grpSpPr>
          <a:xfrm>
            <a:off x="8102940" y="1000125"/>
            <a:ext cx="8771798" cy="1144270"/>
            <a:chOff x="0" y="-38100"/>
            <a:chExt cx="11695731" cy="1525693"/>
          </a:xfrm>
        </p:grpSpPr>
        <p:sp>
          <p:nvSpPr>
            <p:cNvPr id="338" name="Google Shape;338;p15"/>
            <p:cNvSpPr/>
            <p:nvPr/>
          </p:nvSpPr>
          <p:spPr>
            <a:xfrm rot="5400000">
              <a:off x="226" y="126774"/>
              <a:ext cx="532260" cy="532712"/>
            </a:xfrm>
            <a:custGeom>
              <a:avLst/>
              <a:gdLst/>
              <a:ahLst/>
              <a:cxnLst/>
              <a:rect l="l" t="t" r="r" b="b"/>
              <a:pathLst>
                <a:path w="532260" h="532712" extrusionOk="0">
                  <a:moveTo>
                    <a:pt x="0" y="0"/>
                  </a:moveTo>
                  <a:lnTo>
                    <a:pt x="532260" y="0"/>
                  </a:lnTo>
                  <a:lnTo>
                    <a:pt x="532260" y="532712"/>
                  </a:lnTo>
                  <a:lnTo>
                    <a:pt x="0" y="5327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49" r="-32"/>
              </a:stretch>
            </a:blipFill>
            <a:ln>
              <a:noFill/>
            </a:ln>
          </p:spPr>
        </p:sp>
        <p:sp>
          <p:nvSpPr>
            <p:cNvPr id="339" name="Google Shape;339;p15"/>
            <p:cNvSpPr txBox="1"/>
            <p:nvPr/>
          </p:nvSpPr>
          <p:spPr>
            <a:xfrm>
              <a:off x="1093551" y="-38100"/>
              <a:ext cx="10602180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 a business analyst i have analysed Nykaa ‘s Business model, Swot , Competitors, Marketing growth ,Revenue , cost structure , trends , Consumer Segments ,etc..</a:t>
              </a:r>
              <a:endParaRPr/>
            </a:p>
          </p:txBody>
        </p:sp>
      </p:grpSp>
      <p:grpSp>
        <p:nvGrpSpPr>
          <p:cNvPr id="340" name="Google Shape;340;p15"/>
          <p:cNvGrpSpPr/>
          <p:nvPr/>
        </p:nvGrpSpPr>
        <p:grpSpPr>
          <a:xfrm>
            <a:off x="8102940" y="2591118"/>
            <a:ext cx="8771798" cy="1144270"/>
            <a:chOff x="0" y="-38100"/>
            <a:chExt cx="11695731" cy="1525693"/>
          </a:xfrm>
        </p:grpSpPr>
        <p:sp>
          <p:nvSpPr>
            <p:cNvPr id="341" name="Google Shape;341;p15"/>
            <p:cNvSpPr/>
            <p:nvPr/>
          </p:nvSpPr>
          <p:spPr>
            <a:xfrm rot="5400000">
              <a:off x="226" y="126774"/>
              <a:ext cx="532260" cy="532712"/>
            </a:xfrm>
            <a:custGeom>
              <a:avLst/>
              <a:gdLst/>
              <a:ahLst/>
              <a:cxnLst/>
              <a:rect l="l" t="t" r="r" b="b"/>
              <a:pathLst>
                <a:path w="532260" h="532712" extrusionOk="0">
                  <a:moveTo>
                    <a:pt x="0" y="0"/>
                  </a:moveTo>
                  <a:lnTo>
                    <a:pt x="532260" y="0"/>
                  </a:lnTo>
                  <a:lnTo>
                    <a:pt x="532260" y="532712"/>
                  </a:lnTo>
                  <a:lnTo>
                    <a:pt x="0" y="5327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49" r="-32"/>
              </a:stretch>
            </a:blipFill>
            <a:ln>
              <a:noFill/>
            </a:ln>
          </p:spPr>
        </p:sp>
        <p:sp>
          <p:nvSpPr>
            <p:cNvPr id="342" name="Google Shape;342;p15"/>
            <p:cNvSpPr txBox="1"/>
            <p:nvPr/>
          </p:nvSpPr>
          <p:spPr>
            <a:xfrm>
              <a:off x="1093551" y="-38100"/>
              <a:ext cx="10602180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 is very much important for the brand to focus more on customer satisfaction areas . Each and every brand will have both positive and negative reviews .</a:t>
              </a:r>
              <a:endParaRPr/>
            </a:p>
          </p:txBody>
        </p:sp>
      </p:grpSp>
      <p:grpSp>
        <p:nvGrpSpPr>
          <p:cNvPr id="343" name="Google Shape;343;p15"/>
          <p:cNvGrpSpPr/>
          <p:nvPr/>
        </p:nvGrpSpPr>
        <p:grpSpPr>
          <a:xfrm>
            <a:off x="8102940" y="3986848"/>
            <a:ext cx="8771798" cy="1144270"/>
            <a:chOff x="0" y="-38100"/>
            <a:chExt cx="11695731" cy="1525693"/>
          </a:xfrm>
        </p:grpSpPr>
        <p:sp>
          <p:nvSpPr>
            <p:cNvPr id="344" name="Google Shape;344;p15"/>
            <p:cNvSpPr/>
            <p:nvPr/>
          </p:nvSpPr>
          <p:spPr>
            <a:xfrm rot="5400000">
              <a:off x="226" y="126774"/>
              <a:ext cx="532260" cy="532712"/>
            </a:xfrm>
            <a:custGeom>
              <a:avLst/>
              <a:gdLst/>
              <a:ahLst/>
              <a:cxnLst/>
              <a:rect l="l" t="t" r="r" b="b"/>
              <a:pathLst>
                <a:path w="532260" h="532712" extrusionOk="0">
                  <a:moveTo>
                    <a:pt x="0" y="0"/>
                  </a:moveTo>
                  <a:lnTo>
                    <a:pt x="532260" y="0"/>
                  </a:lnTo>
                  <a:lnTo>
                    <a:pt x="532260" y="532712"/>
                  </a:lnTo>
                  <a:lnTo>
                    <a:pt x="0" y="5327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49" r="-32"/>
              </a:stretch>
            </a:blipFill>
            <a:ln>
              <a:noFill/>
            </a:ln>
          </p:spPr>
        </p:sp>
        <p:sp>
          <p:nvSpPr>
            <p:cNvPr id="345" name="Google Shape;345;p15"/>
            <p:cNvSpPr txBox="1"/>
            <p:nvPr/>
          </p:nvSpPr>
          <p:spPr>
            <a:xfrm>
              <a:off x="1093551" y="-38100"/>
              <a:ext cx="10602180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But from a consumer/customer point of view Nykaa need to take the reasonable actions regarding fake reviews , delivery issues , packing , poor customer support </a:t>
              </a:r>
              <a:endParaRPr/>
            </a:p>
          </p:txBody>
        </p:sp>
      </p:grpSp>
      <p:grpSp>
        <p:nvGrpSpPr>
          <p:cNvPr id="346" name="Google Shape;346;p15"/>
          <p:cNvGrpSpPr/>
          <p:nvPr/>
        </p:nvGrpSpPr>
        <p:grpSpPr>
          <a:xfrm>
            <a:off x="8102940" y="5335948"/>
            <a:ext cx="8771798" cy="1144270"/>
            <a:chOff x="0" y="-38100"/>
            <a:chExt cx="11695731" cy="1525693"/>
          </a:xfrm>
        </p:grpSpPr>
        <p:sp>
          <p:nvSpPr>
            <p:cNvPr id="347" name="Google Shape;347;p15"/>
            <p:cNvSpPr/>
            <p:nvPr/>
          </p:nvSpPr>
          <p:spPr>
            <a:xfrm rot="5400000">
              <a:off x="226" y="126774"/>
              <a:ext cx="532260" cy="532712"/>
            </a:xfrm>
            <a:custGeom>
              <a:avLst/>
              <a:gdLst/>
              <a:ahLst/>
              <a:cxnLst/>
              <a:rect l="l" t="t" r="r" b="b"/>
              <a:pathLst>
                <a:path w="532260" h="532712" extrusionOk="0">
                  <a:moveTo>
                    <a:pt x="0" y="0"/>
                  </a:moveTo>
                  <a:lnTo>
                    <a:pt x="532260" y="0"/>
                  </a:lnTo>
                  <a:lnTo>
                    <a:pt x="532260" y="532712"/>
                  </a:lnTo>
                  <a:lnTo>
                    <a:pt x="0" y="5327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49" r="-32"/>
              </a:stretch>
            </a:blipFill>
            <a:ln>
              <a:noFill/>
            </a:ln>
          </p:spPr>
        </p:sp>
        <p:sp>
          <p:nvSpPr>
            <p:cNvPr id="348" name="Google Shape;348;p15"/>
            <p:cNvSpPr txBox="1"/>
            <p:nvPr/>
          </p:nvSpPr>
          <p:spPr>
            <a:xfrm>
              <a:off x="1093551" y="-38100"/>
              <a:ext cx="10602180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Nykaa is a strong brand loyalty in beauty space . Especially Nykaa has a heavy competitors like Purple , Tira, My glamm, Amazon, Flipkart, Myntra , Ajio</a:t>
              </a:r>
              <a:endParaRPr/>
            </a:p>
          </p:txBody>
        </p:sp>
      </p:grpSp>
      <p:grpSp>
        <p:nvGrpSpPr>
          <p:cNvPr id="349" name="Google Shape;349;p15"/>
          <p:cNvGrpSpPr/>
          <p:nvPr/>
        </p:nvGrpSpPr>
        <p:grpSpPr>
          <a:xfrm>
            <a:off x="8102940" y="6727868"/>
            <a:ext cx="8771798" cy="1144270"/>
            <a:chOff x="0" y="-38100"/>
            <a:chExt cx="11695731" cy="1525693"/>
          </a:xfrm>
        </p:grpSpPr>
        <p:sp>
          <p:nvSpPr>
            <p:cNvPr id="350" name="Google Shape;350;p15"/>
            <p:cNvSpPr/>
            <p:nvPr/>
          </p:nvSpPr>
          <p:spPr>
            <a:xfrm rot="5400000">
              <a:off x="226" y="126774"/>
              <a:ext cx="532260" cy="532712"/>
            </a:xfrm>
            <a:custGeom>
              <a:avLst/>
              <a:gdLst/>
              <a:ahLst/>
              <a:cxnLst/>
              <a:rect l="l" t="t" r="r" b="b"/>
              <a:pathLst>
                <a:path w="532260" h="532712" extrusionOk="0">
                  <a:moveTo>
                    <a:pt x="0" y="0"/>
                  </a:moveTo>
                  <a:lnTo>
                    <a:pt x="532260" y="0"/>
                  </a:lnTo>
                  <a:lnTo>
                    <a:pt x="532260" y="532712"/>
                  </a:lnTo>
                  <a:lnTo>
                    <a:pt x="0" y="5327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49" r="-32"/>
              </a:stretch>
            </a:blipFill>
            <a:ln>
              <a:noFill/>
            </a:ln>
          </p:spPr>
        </p:sp>
        <p:sp>
          <p:nvSpPr>
            <p:cNvPr id="351" name="Google Shape;351;p15"/>
            <p:cNvSpPr txBox="1"/>
            <p:nvPr/>
          </p:nvSpPr>
          <p:spPr>
            <a:xfrm>
              <a:off x="1093551" y="-38100"/>
              <a:ext cx="10602180" cy="1525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Best part is Nykaa  app  is used by all  age group of people Gen Z, teenagers, Office women , Men , Above 45+ are also using Nykaa .</a:t>
              </a:r>
              <a:endParaRPr/>
            </a:p>
          </p:txBody>
        </p:sp>
      </p:grpSp>
      <p:grpSp>
        <p:nvGrpSpPr>
          <p:cNvPr id="352" name="Google Shape;352;p15"/>
          <p:cNvGrpSpPr/>
          <p:nvPr/>
        </p:nvGrpSpPr>
        <p:grpSpPr>
          <a:xfrm>
            <a:off x="8102940" y="8416925"/>
            <a:ext cx="8771798" cy="753745"/>
            <a:chOff x="0" y="-38100"/>
            <a:chExt cx="11695731" cy="1004993"/>
          </a:xfrm>
        </p:grpSpPr>
        <p:sp>
          <p:nvSpPr>
            <p:cNvPr id="353" name="Google Shape;353;p15"/>
            <p:cNvSpPr/>
            <p:nvPr/>
          </p:nvSpPr>
          <p:spPr>
            <a:xfrm rot="5400000">
              <a:off x="226" y="126774"/>
              <a:ext cx="532260" cy="532712"/>
            </a:xfrm>
            <a:custGeom>
              <a:avLst/>
              <a:gdLst/>
              <a:ahLst/>
              <a:cxnLst/>
              <a:rect l="l" t="t" r="r" b="b"/>
              <a:pathLst>
                <a:path w="532260" h="532712" extrusionOk="0">
                  <a:moveTo>
                    <a:pt x="0" y="0"/>
                  </a:moveTo>
                  <a:lnTo>
                    <a:pt x="532260" y="0"/>
                  </a:lnTo>
                  <a:lnTo>
                    <a:pt x="532260" y="532712"/>
                  </a:lnTo>
                  <a:lnTo>
                    <a:pt x="0" y="5327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49" r="-32"/>
              </a:stretch>
            </a:blipFill>
            <a:ln>
              <a:noFill/>
            </a:ln>
          </p:spPr>
        </p:sp>
        <p:sp>
          <p:nvSpPr>
            <p:cNvPr id="354" name="Google Shape;354;p15"/>
            <p:cNvSpPr txBox="1"/>
            <p:nvPr/>
          </p:nvSpPr>
          <p:spPr>
            <a:xfrm>
              <a:off x="1093551" y="-38100"/>
              <a:ext cx="10602180" cy="1004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When compared to FY 24, Nykaa reached more than 24% increase in revenue . </a:t>
              </a:r>
              <a:endParaRPr/>
            </a:p>
          </p:txBody>
        </p:sp>
      </p:grpSp>
      <p:sp>
        <p:nvSpPr>
          <p:cNvPr id="355" name="Google Shape;355;p15"/>
          <p:cNvSpPr txBox="1"/>
          <p:nvPr/>
        </p:nvSpPr>
        <p:spPr>
          <a:xfrm>
            <a:off x="1240300" y="5335950"/>
            <a:ext cx="55158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the duty of the brands to concentrate more on delivering the quality products rather than promoting a good one to influencers .</a:t>
            </a:r>
            <a:endParaRPr/>
          </a:p>
        </p:txBody>
      </p:sp>
      <p:sp>
        <p:nvSpPr>
          <p:cNvPr id="356" name="Google Shape;356;p15"/>
          <p:cNvSpPr txBox="1"/>
          <p:nvPr/>
        </p:nvSpPr>
        <p:spPr>
          <a:xfrm>
            <a:off x="1240306" y="6548025"/>
            <a:ext cx="5515651" cy="27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i would recommend Nykaa is good brand in beauty , fashions , makeup , skincare . Every brand has a pros and cons . In the sameway Nykaa also having both pros and cons . From my personal experience Nykaa is a good app where i can get deliveries quickly when compared to others . But i cannot make a insights as a individual point of view .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5687524" y="9686925"/>
            <a:ext cx="6476872" cy="32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they following “ Your Beauty Our passion” correctly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1286</Words>
  <Application>Microsoft Office PowerPoint</Application>
  <PresentationFormat>Custom</PresentationFormat>
  <Paragraphs>155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Open Sans</vt:lpstr>
      <vt:lpstr>DM Serif Display</vt:lpstr>
      <vt:lpstr>Calibri</vt:lpstr>
      <vt:lpstr>Hammersmith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 Keyan</cp:lastModifiedBy>
  <cp:revision>3</cp:revision>
  <dcterms:created xsi:type="dcterms:W3CDTF">2006-08-16T00:00:00Z</dcterms:created>
  <dcterms:modified xsi:type="dcterms:W3CDTF">2025-09-23T05:09:18Z</dcterms:modified>
</cp:coreProperties>
</file>