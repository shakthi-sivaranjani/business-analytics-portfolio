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0287000" cx="18288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  <p:embeddedFont>
      <p:font typeface="Atkinson Hyperlegible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gN9Wh9oQTxCH8HHPLSxemnYAvl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tkinsonHyperlegible-regular.fntdata"/><Relationship Id="rId11" Type="http://schemas.openxmlformats.org/officeDocument/2006/relationships/slide" Target="slides/slide6.xml"/><Relationship Id="rId22" Type="http://schemas.openxmlformats.org/officeDocument/2006/relationships/font" Target="fonts/AtkinsonHyperlegible-italic.fntdata"/><Relationship Id="rId10" Type="http://schemas.openxmlformats.org/officeDocument/2006/relationships/slide" Target="slides/slide5.xml"/><Relationship Id="rId21" Type="http://schemas.openxmlformats.org/officeDocument/2006/relationships/font" Target="fonts/AtkinsonHyperlegible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AtkinsonHyperlegible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1354072" y="8384375"/>
            <a:ext cx="16230600" cy="955112"/>
            <a:chOff x="0" y="-38100"/>
            <a:chExt cx="4274726" cy="251552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4274726" cy="213452"/>
            </a:xfrm>
            <a:custGeom>
              <a:rect b="b" l="l" r="r" t="t"/>
              <a:pathLst>
                <a:path extrusionOk="0" h="213452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89125"/>
                  </a:lnTo>
                  <a:cubicBezTo>
                    <a:pt x="4274726" y="195577"/>
                    <a:pt x="4272163" y="201765"/>
                    <a:pt x="4267601" y="206327"/>
                  </a:cubicBezTo>
                  <a:cubicBezTo>
                    <a:pt x="4263039" y="210889"/>
                    <a:pt x="4256851" y="213452"/>
                    <a:pt x="4250399" y="213452"/>
                  </a:cubicBezTo>
                  <a:lnTo>
                    <a:pt x="24327" y="213452"/>
                  </a:lnTo>
                  <a:cubicBezTo>
                    <a:pt x="10891" y="213452"/>
                    <a:pt x="0" y="202561"/>
                    <a:pt x="0" y="189125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38100"/>
              <a:ext cx="4274726" cy="251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oogle Shape;87;p1"/>
          <p:cNvGrpSpPr/>
          <p:nvPr/>
        </p:nvGrpSpPr>
        <p:grpSpPr>
          <a:xfrm>
            <a:off x="1354072" y="8384375"/>
            <a:ext cx="3143207" cy="955112"/>
            <a:chOff x="0" y="-38100"/>
            <a:chExt cx="827841" cy="251552"/>
          </a:xfrm>
        </p:grpSpPr>
        <p:sp>
          <p:nvSpPr>
            <p:cNvPr id="88" name="Google Shape;88;p1"/>
            <p:cNvSpPr/>
            <p:nvPr/>
          </p:nvSpPr>
          <p:spPr>
            <a:xfrm>
              <a:off x="0" y="0"/>
              <a:ext cx="827841" cy="213452"/>
            </a:xfrm>
            <a:custGeom>
              <a:rect b="b" l="l" r="r" t="t"/>
              <a:pathLst>
                <a:path extrusionOk="0" h="213452" w="827841">
                  <a:moveTo>
                    <a:pt x="106726" y="0"/>
                  </a:moveTo>
                  <a:lnTo>
                    <a:pt x="721115" y="0"/>
                  </a:lnTo>
                  <a:cubicBezTo>
                    <a:pt x="780058" y="0"/>
                    <a:pt x="827841" y="47783"/>
                    <a:pt x="827841" y="106726"/>
                  </a:cubicBezTo>
                  <a:lnTo>
                    <a:pt x="827841" y="106726"/>
                  </a:lnTo>
                  <a:cubicBezTo>
                    <a:pt x="827841" y="135031"/>
                    <a:pt x="816596" y="162178"/>
                    <a:pt x="796581" y="182193"/>
                  </a:cubicBezTo>
                  <a:cubicBezTo>
                    <a:pt x="776566" y="202208"/>
                    <a:pt x="749420" y="213452"/>
                    <a:pt x="721115" y="213452"/>
                  </a:cubicBezTo>
                  <a:lnTo>
                    <a:pt x="106726" y="213452"/>
                  </a:lnTo>
                  <a:cubicBezTo>
                    <a:pt x="78421" y="213452"/>
                    <a:pt x="51274" y="202208"/>
                    <a:pt x="31259" y="182193"/>
                  </a:cubicBezTo>
                  <a:cubicBezTo>
                    <a:pt x="11244" y="162178"/>
                    <a:pt x="0" y="135031"/>
                    <a:pt x="0" y="106726"/>
                  </a:cubicBezTo>
                  <a:lnTo>
                    <a:pt x="0" y="106726"/>
                  </a:lnTo>
                  <a:cubicBezTo>
                    <a:pt x="0" y="78421"/>
                    <a:pt x="11244" y="51274"/>
                    <a:pt x="31259" y="31259"/>
                  </a:cubicBezTo>
                  <a:cubicBezTo>
                    <a:pt x="51274" y="11244"/>
                    <a:pt x="78421" y="0"/>
                    <a:pt x="106726" y="0"/>
                  </a:cubicBezTo>
                  <a:close/>
                </a:path>
              </a:pathLst>
            </a:custGeom>
            <a:solidFill>
              <a:srgbClr val="06DF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"/>
            <p:cNvSpPr txBox="1"/>
            <p:nvPr/>
          </p:nvSpPr>
          <p:spPr>
            <a:xfrm>
              <a:off x="0" y="-38100"/>
              <a:ext cx="827841" cy="251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"/>
          <p:cNvSpPr/>
          <p:nvPr/>
        </p:nvSpPr>
        <p:spPr>
          <a:xfrm rot="10800000">
            <a:off x="6487551" y="2451137"/>
            <a:ext cx="6982590" cy="6982590"/>
          </a:xfrm>
          <a:custGeom>
            <a:rect b="b" l="l" r="r" t="t"/>
            <a:pathLst>
              <a:path extrusionOk="0" h="6982590" w="6982590">
                <a:moveTo>
                  <a:pt x="0" y="0"/>
                </a:moveTo>
                <a:lnTo>
                  <a:pt x="6982590" y="0"/>
                </a:lnTo>
                <a:lnTo>
                  <a:pt x="6982590" y="6982589"/>
                </a:lnTo>
                <a:lnTo>
                  <a:pt x="0" y="69825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"/>
          <p:cNvSpPr txBox="1"/>
          <p:nvPr/>
        </p:nvSpPr>
        <p:spPr>
          <a:xfrm>
            <a:off x="1556579" y="2503621"/>
            <a:ext cx="9861900" cy="60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89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Digital Marketing</a:t>
            </a:r>
            <a:endParaRPr/>
          </a:p>
          <a:p>
            <a:pPr indent="0" lvl="0" marL="0" marR="0" rtl="0" algn="l">
              <a:lnSpc>
                <a:spcPct val="9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89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Campaigns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1556579" y="1572077"/>
            <a:ext cx="7725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Data-driven insights for </a:t>
            </a:r>
            <a:endParaRPr/>
          </a:p>
        </p:txBody>
      </p:sp>
      <p:grpSp>
        <p:nvGrpSpPr>
          <p:cNvPr id="93" name="Google Shape;93;p1"/>
          <p:cNvGrpSpPr/>
          <p:nvPr/>
        </p:nvGrpSpPr>
        <p:grpSpPr>
          <a:xfrm>
            <a:off x="3694348" y="8433520"/>
            <a:ext cx="662862" cy="824780"/>
            <a:chOff x="0" y="-38100"/>
            <a:chExt cx="174581" cy="217226"/>
          </a:xfrm>
        </p:grpSpPr>
        <p:sp>
          <p:nvSpPr>
            <p:cNvPr id="94" name="Google Shape;94;p1"/>
            <p:cNvSpPr/>
            <p:nvPr/>
          </p:nvSpPr>
          <p:spPr>
            <a:xfrm>
              <a:off x="0" y="0"/>
              <a:ext cx="174581" cy="179126"/>
            </a:xfrm>
            <a:custGeom>
              <a:rect b="b" l="l" r="r" t="t"/>
              <a:pathLst>
                <a:path extrusionOk="0" h="179126" w="174581">
                  <a:moveTo>
                    <a:pt x="87291" y="0"/>
                  </a:moveTo>
                  <a:lnTo>
                    <a:pt x="87291" y="0"/>
                  </a:lnTo>
                  <a:cubicBezTo>
                    <a:pt x="110441" y="0"/>
                    <a:pt x="132644" y="9197"/>
                    <a:pt x="149014" y="25567"/>
                  </a:cubicBezTo>
                  <a:cubicBezTo>
                    <a:pt x="165384" y="41937"/>
                    <a:pt x="174581" y="64140"/>
                    <a:pt x="174581" y="87291"/>
                  </a:cubicBezTo>
                  <a:lnTo>
                    <a:pt x="174581" y="91835"/>
                  </a:lnTo>
                  <a:cubicBezTo>
                    <a:pt x="174581" y="114986"/>
                    <a:pt x="165384" y="137189"/>
                    <a:pt x="149014" y="153559"/>
                  </a:cubicBezTo>
                  <a:cubicBezTo>
                    <a:pt x="132644" y="169929"/>
                    <a:pt x="110441" y="179126"/>
                    <a:pt x="87291" y="179126"/>
                  </a:cubicBezTo>
                  <a:lnTo>
                    <a:pt x="87291" y="179126"/>
                  </a:lnTo>
                  <a:cubicBezTo>
                    <a:pt x="64140" y="179126"/>
                    <a:pt x="41937" y="169929"/>
                    <a:pt x="25567" y="153559"/>
                  </a:cubicBezTo>
                  <a:cubicBezTo>
                    <a:pt x="9197" y="137189"/>
                    <a:pt x="0" y="114986"/>
                    <a:pt x="0" y="91835"/>
                  </a:cubicBezTo>
                  <a:lnTo>
                    <a:pt x="0" y="87291"/>
                  </a:lnTo>
                  <a:cubicBezTo>
                    <a:pt x="0" y="64140"/>
                    <a:pt x="9197" y="41937"/>
                    <a:pt x="25567" y="25567"/>
                  </a:cubicBezTo>
                  <a:cubicBezTo>
                    <a:pt x="41937" y="9197"/>
                    <a:pt x="64140" y="0"/>
                    <a:pt x="872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"/>
            <p:cNvSpPr txBox="1"/>
            <p:nvPr/>
          </p:nvSpPr>
          <p:spPr>
            <a:xfrm>
              <a:off x="0" y="-38100"/>
              <a:ext cx="174581" cy="2172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1"/>
          <p:cNvSpPr/>
          <p:nvPr/>
        </p:nvSpPr>
        <p:spPr>
          <a:xfrm>
            <a:off x="1028700" y="611194"/>
            <a:ext cx="650744" cy="515862"/>
          </a:xfrm>
          <a:custGeom>
            <a:rect b="b" l="l" r="r" t="t"/>
            <a:pathLst>
              <a:path extrusionOk="0" h="515862" w="650744">
                <a:moveTo>
                  <a:pt x="0" y="0"/>
                </a:moveTo>
                <a:lnTo>
                  <a:pt x="650744" y="0"/>
                </a:lnTo>
                <a:lnTo>
                  <a:pt x="650744" y="515862"/>
                </a:lnTo>
                <a:lnTo>
                  <a:pt x="0" y="5158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p1"/>
          <p:cNvSpPr txBox="1"/>
          <p:nvPr/>
        </p:nvSpPr>
        <p:spPr>
          <a:xfrm>
            <a:off x="1880696" y="609787"/>
            <a:ext cx="3293004" cy="461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-6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1028700" y="8303188"/>
            <a:ext cx="16230600" cy="955112"/>
            <a:chOff x="0" y="-38100"/>
            <a:chExt cx="4274726" cy="251552"/>
          </a:xfrm>
        </p:grpSpPr>
        <p:sp>
          <p:nvSpPr>
            <p:cNvPr id="103" name="Google Shape;103;p2"/>
            <p:cNvSpPr/>
            <p:nvPr/>
          </p:nvSpPr>
          <p:spPr>
            <a:xfrm>
              <a:off x="0" y="0"/>
              <a:ext cx="4274726" cy="213452"/>
            </a:xfrm>
            <a:custGeom>
              <a:rect b="b" l="l" r="r" t="t"/>
              <a:pathLst>
                <a:path extrusionOk="0" h="213452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89125"/>
                  </a:lnTo>
                  <a:cubicBezTo>
                    <a:pt x="4274726" y="195577"/>
                    <a:pt x="4272163" y="201765"/>
                    <a:pt x="4267601" y="206327"/>
                  </a:cubicBezTo>
                  <a:cubicBezTo>
                    <a:pt x="4263039" y="210889"/>
                    <a:pt x="4256851" y="213452"/>
                    <a:pt x="4250399" y="213452"/>
                  </a:cubicBezTo>
                  <a:lnTo>
                    <a:pt x="24327" y="213452"/>
                  </a:lnTo>
                  <a:cubicBezTo>
                    <a:pt x="10891" y="213452"/>
                    <a:pt x="0" y="202561"/>
                    <a:pt x="0" y="189125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2"/>
            <p:cNvSpPr txBox="1"/>
            <p:nvPr/>
          </p:nvSpPr>
          <p:spPr>
            <a:xfrm>
              <a:off x="0" y="-38100"/>
              <a:ext cx="4274726" cy="251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2"/>
          <p:cNvGrpSpPr/>
          <p:nvPr/>
        </p:nvGrpSpPr>
        <p:grpSpPr>
          <a:xfrm>
            <a:off x="1028700" y="8303188"/>
            <a:ext cx="4110176" cy="955112"/>
            <a:chOff x="0" y="-38100"/>
            <a:chExt cx="1082516" cy="251552"/>
          </a:xfrm>
        </p:grpSpPr>
        <p:sp>
          <p:nvSpPr>
            <p:cNvPr id="106" name="Google Shape;106;p2"/>
            <p:cNvSpPr/>
            <p:nvPr/>
          </p:nvSpPr>
          <p:spPr>
            <a:xfrm>
              <a:off x="0" y="0"/>
              <a:ext cx="1082516" cy="213452"/>
            </a:xfrm>
            <a:custGeom>
              <a:rect b="b" l="l" r="r" t="t"/>
              <a:pathLst>
                <a:path extrusionOk="0" h="213452" w="1082516">
                  <a:moveTo>
                    <a:pt x="96063" y="0"/>
                  </a:moveTo>
                  <a:lnTo>
                    <a:pt x="986452" y="0"/>
                  </a:lnTo>
                  <a:cubicBezTo>
                    <a:pt x="1011930" y="0"/>
                    <a:pt x="1036364" y="10121"/>
                    <a:pt x="1054379" y="28136"/>
                  </a:cubicBezTo>
                  <a:cubicBezTo>
                    <a:pt x="1072395" y="46152"/>
                    <a:pt x="1082516" y="70586"/>
                    <a:pt x="1082516" y="96063"/>
                  </a:cubicBezTo>
                  <a:lnTo>
                    <a:pt x="1082516" y="117388"/>
                  </a:lnTo>
                  <a:cubicBezTo>
                    <a:pt x="1082516" y="170443"/>
                    <a:pt x="1039507" y="213452"/>
                    <a:pt x="986452" y="213452"/>
                  </a:cubicBezTo>
                  <a:lnTo>
                    <a:pt x="96063" y="213452"/>
                  </a:lnTo>
                  <a:cubicBezTo>
                    <a:pt x="43009" y="213452"/>
                    <a:pt x="0" y="170443"/>
                    <a:pt x="0" y="117388"/>
                  </a:cubicBezTo>
                  <a:lnTo>
                    <a:pt x="0" y="96063"/>
                  </a:lnTo>
                  <a:cubicBezTo>
                    <a:pt x="0" y="43009"/>
                    <a:pt x="43009" y="0"/>
                    <a:pt x="96063" y="0"/>
                  </a:cubicBezTo>
                  <a:close/>
                </a:path>
              </a:pathLst>
            </a:custGeom>
            <a:solidFill>
              <a:srgbClr val="06DF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2"/>
            <p:cNvSpPr txBox="1"/>
            <p:nvPr/>
          </p:nvSpPr>
          <p:spPr>
            <a:xfrm>
              <a:off x="0" y="-38100"/>
              <a:ext cx="1082516" cy="251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;p2"/>
          <p:cNvGrpSpPr/>
          <p:nvPr/>
        </p:nvGrpSpPr>
        <p:grpSpPr>
          <a:xfrm>
            <a:off x="4415588" y="8368354"/>
            <a:ext cx="662862" cy="824780"/>
            <a:chOff x="0" y="-38100"/>
            <a:chExt cx="174581" cy="217226"/>
          </a:xfrm>
        </p:grpSpPr>
        <p:sp>
          <p:nvSpPr>
            <p:cNvPr id="109" name="Google Shape;109;p2"/>
            <p:cNvSpPr/>
            <p:nvPr/>
          </p:nvSpPr>
          <p:spPr>
            <a:xfrm>
              <a:off x="0" y="0"/>
              <a:ext cx="174581" cy="179126"/>
            </a:xfrm>
            <a:custGeom>
              <a:rect b="b" l="l" r="r" t="t"/>
              <a:pathLst>
                <a:path extrusionOk="0" h="179126" w="174581">
                  <a:moveTo>
                    <a:pt x="87291" y="0"/>
                  </a:moveTo>
                  <a:lnTo>
                    <a:pt x="87291" y="0"/>
                  </a:lnTo>
                  <a:cubicBezTo>
                    <a:pt x="110441" y="0"/>
                    <a:pt x="132644" y="9197"/>
                    <a:pt x="149014" y="25567"/>
                  </a:cubicBezTo>
                  <a:cubicBezTo>
                    <a:pt x="165384" y="41937"/>
                    <a:pt x="174581" y="64140"/>
                    <a:pt x="174581" y="87291"/>
                  </a:cubicBezTo>
                  <a:lnTo>
                    <a:pt x="174581" y="91835"/>
                  </a:lnTo>
                  <a:cubicBezTo>
                    <a:pt x="174581" y="114986"/>
                    <a:pt x="165384" y="137189"/>
                    <a:pt x="149014" y="153559"/>
                  </a:cubicBezTo>
                  <a:cubicBezTo>
                    <a:pt x="132644" y="169929"/>
                    <a:pt x="110441" y="179126"/>
                    <a:pt x="87291" y="179126"/>
                  </a:cubicBezTo>
                  <a:lnTo>
                    <a:pt x="87291" y="179126"/>
                  </a:lnTo>
                  <a:cubicBezTo>
                    <a:pt x="64140" y="179126"/>
                    <a:pt x="41937" y="169929"/>
                    <a:pt x="25567" y="153559"/>
                  </a:cubicBezTo>
                  <a:cubicBezTo>
                    <a:pt x="9197" y="137189"/>
                    <a:pt x="0" y="114986"/>
                    <a:pt x="0" y="91835"/>
                  </a:cubicBezTo>
                  <a:lnTo>
                    <a:pt x="0" y="87291"/>
                  </a:lnTo>
                  <a:cubicBezTo>
                    <a:pt x="0" y="64140"/>
                    <a:pt x="9197" y="41937"/>
                    <a:pt x="25567" y="25567"/>
                  </a:cubicBezTo>
                  <a:cubicBezTo>
                    <a:pt x="41937" y="9197"/>
                    <a:pt x="64140" y="0"/>
                    <a:pt x="872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0" y="-38100"/>
              <a:ext cx="174581" cy="2172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2"/>
          <p:cNvSpPr txBox="1"/>
          <p:nvPr/>
        </p:nvSpPr>
        <p:spPr>
          <a:xfrm>
            <a:off x="1028700" y="667904"/>
            <a:ext cx="16065813" cy="1782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924" u="sng" cap="none" strike="noStrike">
                <a:solidFill>
                  <a:srgbClr val="06DFD2"/>
                </a:solidFill>
                <a:latin typeface="Arial"/>
                <a:ea typeface="Arial"/>
                <a:cs typeface="Arial"/>
                <a:sym typeface="Arial"/>
              </a:rPr>
              <a:t>Traffic Acquisition &amp; Campaign Performance Analysis (GA4)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1167289" y="7223336"/>
            <a:ext cx="5231305" cy="665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9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24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Presented by : Shakthi sivaranjani .R</a:t>
            </a:r>
            <a:endParaRPr/>
          </a:p>
          <a:p>
            <a:pPr indent="0" lvl="0" marL="0" marR="0" rtl="0" algn="just">
              <a:lnSpc>
                <a:spcPct val="119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24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1344270" y="3357294"/>
            <a:ext cx="8397600" cy="24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9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99" u="none" cap="none" strike="noStrike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Tools : Excel ( Data cleaning and preprocessing </a:t>
            </a:r>
            <a:endParaRPr/>
          </a:p>
          <a:p>
            <a:pPr indent="0" lvl="0" marL="0" marR="0" rtl="0" algn="just">
              <a:lnSpc>
                <a:spcPct val="119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99" u="none" cap="none" strike="noStrike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      Power BI ( Visu</a:t>
            </a:r>
            <a:r>
              <a:rPr lang="en-US" sz="3499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aliz</a:t>
            </a:r>
            <a:r>
              <a:rPr b="0" i="0" lang="en-US" sz="3499" u="none" cap="none" strike="noStrike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ation &amp; Dashboard)</a:t>
            </a:r>
            <a:endParaRPr/>
          </a:p>
          <a:p>
            <a:pPr indent="0" lvl="0" marL="0" marR="0" rtl="0" algn="just">
              <a:lnSpc>
                <a:spcPct val="119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99" u="none" cap="none" strike="noStrike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516545" y="3357294"/>
            <a:ext cx="650744" cy="515862"/>
          </a:xfrm>
          <a:custGeom>
            <a:rect b="b" l="l" r="r" t="t"/>
            <a:pathLst>
              <a:path extrusionOk="0" h="515862" w="650744">
                <a:moveTo>
                  <a:pt x="0" y="0"/>
                </a:moveTo>
                <a:lnTo>
                  <a:pt x="650744" y="0"/>
                </a:lnTo>
                <a:lnTo>
                  <a:pt x="650744" y="515862"/>
                </a:lnTo>
                <a:lnTo>
                  <a:pt x="0" y="5158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2"/>
          <p:cNvSpPr txBox="1"/>
          <p:nvPr/>
        </p:nvSpPr>
        <p:spPr>
          <a:xfrm>
            <a:off x="1344320" y="5878280"/>
            <a:ext cx="83976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9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99" u="none" cap="none" strike="noStrike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Topic : Digital Marketing using BI tools </a:t>
            </a:r>
            <a:endParaRPr/>
          </a:p>
        </p:txBody>
      </p:sp>
      <p:sp>
        <p:nvSpPr>
          <p:cNvPr id="116" name="Google Shape;116;p2"/>
          <p:cNvSpPr/>
          <p:nvPr/>
        </p:nvSpPr>
        <p:spPr>
          <a:xfrm>
            <a:off x="516545" y="6092918"/>
            <a:ext cx="650744" cy="515862"/>
          </a:xfrm>
          <a:custGeom>
            <a:rect b="b" l="l" r="r" t="t"/>
            <a:pathLst>
              <a:path extrusionOk="0" h="515862" w="650744">
                <a:moveTo>
                  <a:pt x="0" y="0"/>
                </a:moveTo>
                <a:lnTo>
                  <a:pt x="650744" y="0"/>
                </a:lnTo>
                <a:lnTo>
                  <a:pt x="650744" y="515863"/>
                </a:lnTo>
                <a:lnTo>
                  <a:pt x="0" y="5158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2"/>
          <p:cNvSpPr/>
          <p:nvPr/>
        </p:nvSpPr>
        <p:spPr>
          <a:xfrm rot="10800000">
            <a:off x="11443034" y="3304410"/>
            <a:ext cx="6982590" cy="6982590"/>
          </a:xfrm>
          <a:custGeom>
            <a:rect b="b" l="l" r="r" t="t"/>
            <a:pathLst>
              <a:path extrusionOk="0" h="6982590" w="6982590">
                <a:moveTo>
                  <a:pt x="0" y="0"/>
                </a:moveTo>
                <a:lnTo>
                  <a:pt x="6982589" y="0"/>
                </a:lnTo>
                <a:lnTo>
                  <a:pt x="6982589" y="6982590"/>
                </a:lnTo>
                <a:lnTo>
                  <a:pt x="0" y="69825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3"/>
          <p:cNvGrpSpPr/>
          <p:nvPr/>
        </p:nvGrpSpPr>
        <p:grpSpPr>
          <a:xfrm>
            <a:off x="1216239" y="8643248"/>
            <a:ext cx="16230600" cy="955112"/>
            <a:chOff x="0" y="-38100"/>
            <a:chExt cx="4274726" cy="251552"/>
          </a:xfrm>
        </p:grpSpPr>
        <p:sp>
          <p:nvSpPr>
            <p:cNvPr id="123" name="Google Shape;123;p3"/>
            <p:cNvSpPr/>
            <p:nvPr/>
          </p:nvSpPr>
          <p:spPr>
            <a:xfrm>
              <a:off x="0" y="0"/>
              <a:ext cx="4274726" cy="213452"/>
            </a:xfrm>
            <a:custGeom>
              <a:rect b="b" l="l" r="r" t="t"/>
              <a:pathLst>
                <a:path extrusionOk="0" h="213452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89125"/>
                  </a:lnTo>
                  <a:cubicBezTo>
                    <a:pt x="4274726" y="195577"/>
                    <a:pt x="4272163" y="201765"/>
                    <a:pt x="4267601" y="206327"/>
                  </a:cubicBezTo>
                  <a:cubicBezTo>
                    <a:pt x="4263039" y="210889"/>
                    <a:pt x="4256851" y="213452"/>
                    <a:pt x="4250399" y="213452"/>
                  </a:cubicBezTo>
                  <a:lnTo>
                    <a:pt x="24327" y="213452"/>
                  </a:lnTo>
                  <a:cubicBezTo>
                    <a:pt x="10891" y="213452"/>
                    <a:pt x="0" y="202561"/>
                    <a:pt x="0" y="189125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3"/>
            <p:cNvSpPr txBox="1"/>
            <p:nvPr/>
          </p:nvSpPr>
          <p:spPr>
            <a:xfrm>
              <a:off x="0" y="-38100"/>
              <a:ext cx="4274726" cy="251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" name="Google Shape;125;p3"/>
          <p:cNvGrpSpPr/>
          <p:nvPr/>
        </p:nvGrpSpPr>
        <p:grpSpPr>
          <a:xfrm>
            <a:off x="1216239" y="8643248"/>
            <a:ext cx="4641121" cy="955112"/>
            <a:chOff x="0" y="-38100"/>
            <a:chExt cx="1222353" cy="251552"/>
          </a:xfrm>
        </p:grpSpPr>
        <p:sp>
          <p:nvSpPr>
            <p:cNvPr id="126" name="Google Shape;126;p3"/>
            <p:cNvSpPr/>
            <p:nvPr/>
          </p:nvSpPr>
          <p:spPr>
            <a:xfrm>
              <a:off x="0" y="0"/>
              <a:ext cx="1222353" cy="213452"/>
            </a:xfrm>
            <a:custGeom>
              <a:rect b="b" l="l" r="r" t="t"/>
              <a:pathLst>
                <a:path extrusionOk="0" h="213452" w="1222353">
                  <a:moveTo>
                    <a:pt x="85074" y="0"/>
                  </a:moveTo>
                  <a:lnTo>
                    <a:pt x="1137279" y="0"/>
                  </a:lnTo>
                  <a:cubicBezTo>
                    <a:pt x="1184264" y="0"/>
                    <a:pt x="1222353" y="38089"/>
                    <a:pt x="1222353" y="85074"/>
                  </a:cubicBezTo>
                  <a:lnTo>
                    <a:pt x="1222353" y="128378"/>
                  </a:lnTo>
                  <a:cubicBezTo>
                    <a:pt x="1222353" y="175363"/>
                    <a:pt x="1184264" y="213452"/>
                    <a:pt x="1137279" y="213452"/>
                  </a:cubicBezTo>
                  <a:lnTo>
                    <a:pt x="85074" y="213452"/>
                  </a:lnTo>
                  <a:cubicBezTo>
                    <a:pt x="38089" y="213452"/>
                    <a:pt x="0" y="175363"/>
                    <a:pt x="0" y="128378"/>
                  </a:cubicBezTo>
                  <a:lnTo>
                    <a:pt x="0" y="85074"/>
                  </a:lnTo>
                  <a:cubicBezTo>
                    <a:pt x="0" y="38089"/>
                    <a:pt x="38089" y="0"/>
                    <a:pt x="85074" y="0"/>
                  </a:cubicBezTo>
                  <a:close/>
                </a:path>
              </a:pathLst>
            </a:custGeom>
            <a:solidFill>
              <a:srgbClr val="06DF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3"/>
            <p:cNvSpPr txBox="1"/>
            <p:nvPr/>
          </p:nvSpPr>
          <p:spPr>
            <a:xfrm>
              <a:off x="0" y="-38100"/>
              <a:ext cx="1222353" cy="251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" name="Google Shape;128;p3"/>
          <p:cNvGrpSpPr/>
          <p:nvPr/>
        </p:nvGrpSpPr>
        <p:grpSpPr>
          <a:xfrm>
            <a:off x="5135347" y="8708414"/>
            <a:ext cx="662862" cy="824780"/>
            <a:chOff x="0" y="-38100"/>
            <a:chExt cx="174581" cy="217226"/>
          </a:xfrm>
        </p:grpSpPr>
        <p:sp>
          <p:nvSpPr>
            <p:cNvPr id="129" name="Google Shape;129;p3"/>
            <p:cNvSpPr/>
            <p:nvPr/>
          </p:nvSpPr>
          <p:spPr>
            <a:xfrm>
              <a:off x="0" y="0"/>
              <a:ext cx="174581" cy="179126"/>
            </a:xfrm>
            <a:custGeom>
              <a:rect b="b" l="l" r="r" t="t"/>
              <a:pathLst>
                <a:path extrusionOk="0" h="179126" w="174581">
                  <a:moveTo>
                    <a:pt x="87291" y="0"/>
                  </a:moveTo>
                  <a:lnTo>
                    <a:pt x="87291" y="0"/>
                  </a:lnTo>
                  <a:cubicBezTo>
                    <a:pt x="110441" y="0"/>
                    <a:pt x="132644" y="9197"/>
                    <a:pt x="149014" y="25567"/>
                  </a:cubicBezTo>
                  <a:cubicBezTo>
                    <a:pt x="165384" y="41937"/>
                    <a:pt x="174581" y="64140"/>
                    <a:pt x="174581" y="87291"/>
                  </a:cubicBezTo>
                  <a:lnTo>
                    <a:pt x="174581" y="91835"/>
                  </a:lnTo>
                  <a:cubicBezTo>
                    <a:pt x="174581" y="114986"/>
                    <a:pt x="165384" y="137189"/>
                    <a:pt x="149014" y="153559"/>
                  </a:cubicBezTo>
                  <a:cubicBezTo>
                    <a:pt x="132644" y="169929"/>
                    <a:pt x="110441" y="179126"/>
                    <a:pt x="87291" y="179126"/>
                  </a:cubicBezTo>
                  <a:lnTo>
                    <a:pt x="87291" y="179126"/>
                  </a:lnTo>
                  <a:cubicBezTo>
                    <a:pt x="64140" y="179126"/>
                    <a:pt x="41937" y="169929"/>
                    <a:pt x="25567" y="153559"/>
                  </a:cubicBezTo>
                  <a:cubicBezTo>
                    <a:pt x="9197" y="137189"/>
                    <a:pt x="0" y="114986"/>
                    <a:pt x="0" y="91835"/>
                  </a:cubicBezTo>
                  <a:lnTo>
                    <a:pt x="0" y="87291"/>
                  </a:lnTo>
                  <a:cubicBezTo>
                    <a:pt x="0" y="64140"/>
                    <a:pt x="9197" y="41937"/>
                    <a:pt x="25567" y="25567"/>
                  </a:cubicBezTo>
                  <a:cubicBezTo>
                    <a:pt x="41937" y="9197"/>
                    <a:pt x="64140" y="0"/>
                    <a:pt x="872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3"/>
            <p:cNvSpPr txBox="1"/>
            <p:nvPr/>
          </p:nvSpPr>
          <p:spPr>
            <a:xfrm>
              <a:off x="0" y="-38100"/>
              <a:ext cx="174581" cy="2172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1" name="Google Shape;131;p3"/>
          <p:cNvSpPr txBox="1"/>
          <p:nvPr/>
        </p:nvSpPr>
        <p:spPr>
          <a:xfrm>
            <a:off x="3622446" y="242904"/>
            <a:ext cx="11043109" cy="13344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15" u="none" cap="none" strike="noStrike">
                <a:solidFill>
                  <a:srgbClr val="06DFD2"/>
                </a:solidFill>
                <a:latin typeface="Arial"/>
                <a:ea typeface="Arial"/>
                <a:cs typeface="Arial"/>
                <a:sym typeface="Arial"/>
              </a:rPr>
              <a:t>Project objective </a:t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 rot="10800000">
            <a:off x="13729644" y="5908952"/>
            <a:ext cx="4192939" cy="4192939"/>
          </a:xfrm>
          <a:custGeom>
            <a:rect b="b" l="l" r="r" t="t"/>
            <a:pathLst>
              <a:path extrusionOk="0" h="4192939" w="4192939">
                <a:moveTo>
                  <a:pt x="0" y="0"/>
                </a:moveTo>
                <a:lnTo>
                  <a:pt x="4192939" y="0"/>
                </a:lnTo>
                <a:lnTo>
                  <a:pt x="4192939" y="4192939"/>
                </a:lnTo>
                <a:lnTo>
                  <a:pt x="0" y="41929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3" name="Google Shape;133;p3"/>
          <p:cNvSpPr/>
          <p:nvPr/>
        </p:nvSpPr>
        <p:spPr>
          <a:xfrm flipH="1">
            <a:off x="1216239" y="3657075"/>
            <a:ext cx="433553" cy="433553"/>
          </a:xfrm>
          <a:custGeom>
            <a:rect b="b" l="l" r="r" t="t"/>
            <a:pathLst>
              <a:path extrusionOk="0" h="433553" w="433553">
                <a:moveTo>
                  <a:pt x="0" y="433553"/>
                </a:moveTo>
                <a:lnTo>
                  <a:pt x="433553" y="433553"/>
                </a:lnTo>
                <a:lnTo>
                  <a:pt x="433553" y="0"/>
                </a:lnTo>
                <a:lnTo>
                  <a:pt x="0" y="0"/>
                </a:lnTo>
                <a:lnTo>
                  <a:pt x="0" y="43355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3"/>
          <p:cNvSpPr/>
          <p:nvPr/>
        </p:nvSpPr>
        <p:spPr>
          <a:xfrm>
            <a:off x="1028700" y="611194"/>
            <a:ext cx="650744" cy="515862"/>
          </a:xfrm>
          <a:custGeom>
            <a:rect b="b" l="l" r="r" t="t"/>
            <a:pathLst>
              <a:path extrusionOk="0" h="515862" w="650744">
                <a:moveTo>
                  <a:pt x="0" y="0"/>
                </a:moveTo>
                <a:lnTo>
                  <a:pt x="650744" y="0"/>
                </a:lnTo>
                <a:lnTo>
                  <a:pt x="650744" y="515862"/>
                </a:lnTo>
                <a:lnTo>
                  <a:pt x="0" y="5158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3"/>
          <p:cNvSpPr txBox="1"/>
          <p:nvPr/>
        </p:nvSpPr>
        <p:spPr>
          <a:xfrm>
            <a:off x="1978145" y="2506452"/>
            <a:ext cx="6977265" cy="3554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Analyze digital marketing campaign performance </a:t>
            </a:r>
            <a:endParaRPr/>
          </a:p>
        </p:txBody>
      </p:sp>
      <p:sp>
        <p:nvSpPr>
          <p:cNvPr id="136" name="Google Shape;136;p3"/>
          <p:cNvSpPr txBox="1"/>
          <p:nvPr/>
        </p:nvSpPr>
        <p:spPr>
          <a:xfrm>
            <a:off x="2020382" y="3696114"/>
            <a:ext cx="697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Evaluate channel effectiveness using KPIs</a:t>
            </a:r>
            <a:endParaRPr/>
          </a:p>
        </p:txBody>
      </p:sp>
      <p:sp>
        <p:nvSpPr>
          <p:cNvPr id="137" name="Google Shape;137;p3"/>
          <p:cNvSpPr txBox="1"/>
          <p:nvPr/>
        </p:nvSpPr>
        <p:spPr>
          <a:xfrm>
            <a:off x="1978145" y="5987032"/>
            <a:ext cx="6977265" cy="3554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Identify high-performing channels</a:t>
            </a:r>
            <a:endParaRPr/>
          </a:p>
        </p:txBody>
      </p:sp>
      <p:sp>
        <p:nvSpPr>
          <p:cNvPr id="138" name="Google Shape;138;p3"/>
          <p:cNvSpPr txBox="1"/>
          <p:nvPr/>
        </p:nvSpPr>
        <p:spPr>
          <a:xfrm>
            <a:off x="1978145" y="6972197"/>
            <a:ext cx="6977265" cy="3554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Optimize ROI and engagement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1978145" y="4297875"/>
            <a:ext cx="75081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Provide</a:t>
            </a: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0" i="0" lang="en-US" sz="2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actionable, data-driven recommendations</a:t>
            </a:r>
            <a:endParaRPr/>
          </a:p>
        </p:txBody>
      </p:sp>
      <p:sp>
        <p:nvSpPr>
          <p:cNvPr id="140" name="Google Shape;140;p3"/>
          <p:cNvSpPr/>
          <p:nvPr/>
        </p:nvSpPr>
        <p:spPr>
          <a:xfrm flipH="1">
            <a:off x="1216239" y="2428372"/>
            <a:ext cx="433553" cy="433553"/>
          </a:xfrm>
          <a:custGeom>
            <a:rect b="b" l="l" r="r" t="t"/>
            <a:pathLst>
              <a:path extrusionOk="0" h="433553" w="433553">
                <a:moveTo>
                  <a:pt x="0" y="433553"/>
                </a:moveTo>
                <a:lnTo>
                  <a:pt x="433553" y="433553"/>
                </a:lnTo>
                <a:lnTo>
                  <a:pt x="433553" y="0"/>
                </a:lnTo>
                <a:lnTo>
                  <a:pt x="0" y="0"/>
                </a:lnTo>
                <a:lnTo>
                  <a:pt x="0" y="43355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3"/>
          <p:cNvSpPr/>
          <p:nvPr/>
        </p:nvSpPr>
        <p:spPr>
          <a:xfrm flipH="1">
            <a:off x="1216239" y="4211509"/>
            <a:ext cx="433553" cy="433553"/>
          </a:xfrm>
          <a:custGeom>
            <a:rect b="b" l="l" r="r" t="t"/>
            <a:pathLst>
              <a:path extrusionOk="0" h="433553" w="433553">
                <a:moveTo>
                  <a:pt x="0" y="433553"/>
                </a:moveTo>
                <a:lnTo>
                  <a:pt x="433553" y="433553"/>
                </a:lnTo>
                <a:lnTo>
                  <a:pt x="433553" y="0"/>
                </a:lnTo>
                <a:lnTo>
                  <a:pt x="0" y="0"/>
                </a:lnTo>
                <a:lnTo>
                  <a:pt x="0" y="43355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3"/>
          <p:cNvSpPr txBox="1"/>
          <p:nvPr/>
        </p:nvSpPr>
        <p:spPr>
          <a:xfrm>
            <a:off x="1433016" y="1434435"/>
            <a:ext cx="4585644" cy="7299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84" u="sng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/>
          </a:p>
        </p:txBody>
      </p:sp>
      <p:sp>
        <p:nvSpPr>
          <p:cNvPr id="143" name="Google Shape;143;p3"/>
          <p:cNvSpPr txBox="1"/>
          <p:nvPr/>
        </p:nvSpPr>
        <p:spPr>
          <a:xfrm>
            <a:off x="1216249" y="5114792"/>
            <a:ext cx="80811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84" u="sng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Why analysis is important ?</a:t>
            </a:r>
            <a:endParaRPr/>
          </a:p>
        </p:txBody>
      </p:sp>
      <p:sp>
        <p:nvSpPr>
          <p:cNvPr id="144" name="Google Shape;144;p3"/>
          <p:cNvSpPr txBox="1"/>
          <p:nvPr/>
        </p:nvSpPr>
        <p:spPr>
          <a:xfrm>
            <a:off x="2020387" y="7870595"/>
            <a:ext cx="6977265" cy="717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Support strategic marketing decisions</a:t>
            </a:r>
            <a:endParaRPr/>
          </a:p>
          <a:p>
            <a:pPr indent="0" lvl="0" marL="0" marR="0" rtl="0" algn="just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3"/>
          <p:cNvSpPr/>
          <p:nvPr/>
        </p:nvSpPr>
        <p:spPr>
          <a:xfrm flipH="1">
            <a:off x="1216239" y="7880120"/>
            <a:ext cx="433553" cy="433553"/>
          </a:xfrm>
          <a:custGeom>
            <a:rect b="b" l="l" r="r" t="t"/>
            <a:pathLst>
              <a:path extrusionOk="0" h="433553" w="433553">
                <a:moveTo>
                  <a:pt x="0" y="433553"/>
                </a:moveTo>
                <a:lnTo>
                  <a:pt x="433553" y="433553"/>
                </a:lnTo>
                <a:lnTo>
                  <a:pt x="433553" y="0"/>
                </a:lnTo>
                <a:lnTo>
                  <a:pt x="0" y="0"/>
                </a:lnTo>
                <a:lnTo>
                  <a:pt x="0" y="43355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6" name="Google Shape;146;p3"/>
          <p:cNvSpPr/>
          <p:nvPr/>
        </p:nvSpPr>
        <p:spPr>
          <a:xfrm flipH="1">
            <a:off x="1216239" y="6894117"/>
            <a:ext cx="433553" cy="433553"/>
          </a:xfrm>
          <a:custGeom>
            <a:rect b="b" l="l" r="r" t="t"/>
            <a:pathLst>
              <a:path extrusionOk="0" h="433553" w="433553">
                <a:moveTo>
                  <a:pt x="0" y="433553"/>
                </a:moveTo>
                <a:lnTo>
                  <a:pt x="433553" y="433553"/>
                </a:lnTo>
                <a:lnTo>
                  <a:pt x="433553" y="0"/>
                </a:lnTo>
                <a:lnTo>
                  <a:pt x="0" y="0"/>
                </a:lnTo>
                <a:lnTo>
                  <a:pt x="0" y="43355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3"/>
          <p:cNvSpPr/>
          <p:nvPr/>
        </p:nvSpPr>
        <p:spPr>
          <a:xfrm flipH="1">
            <a:off x="1216239" y="5908952"/>
            <a:ext cx="433553" cy="433553"/>
          </a:xfrm>
          <a:custGeom>
            <a:rect b="b" l="l" r="r" t="t"/>
            <a:pathLst>
              <a:path extrusionOk="0" h="433553" w="433553">
                <a:moveTo>
                  <a:pt x="0" y="433553"/>
                </a:moveTo>
                <a:lnTo>
                  <a:pt x="433553" y="433553"/>
                </a:lnTo>
                <a:lnTo>
                  <a:pt x="433553" y="0"/>
                </a:lnTo>
                <a:lnTo>
                  <a:pt x="0" y="0"/>
                </a:lnTo>
                <a:lnTo>
                  <a:pt x="0" y="43355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52;p4"/>
          <p:cNvGrpSpPr/>
          <p:nvPr/>
        </p:nvGrpSpPr>
        <p:grpSpPr>
          <a:xfrm>
            <a:off x="1028700" y="8303188"/>
            <a:ext cx="16230600" cy="955112"/>
            <a:chOff x="0" y="-38100"/>
            <a:chExt cx="4274726" cy="251552"/>
          </a:xfrm>
        </p:grpSpPr>
        <p:sp>
          <p:nvSpPr>
            <p:cNvPr id="153" name="Google Shape;153;p4"/>
            <p:cNvSpPr/>
            <p:nvPr/>
          </p:nvSpPr>
          <p:spPr>
            <a:xfrm>
              <a:off x="0" y="0"/>
              <a:ext cx="4274726" cy="213452"/>
            </a:xfrm>
            <a:custGeom>
              <a:rect b="b" l="l" r="r" t="t"/>
              <a:pathLst>
                <a:path extrusionOk="0" h="213452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89125"/>
                  </a:lnTo>
                  <a:cubicBezTo>
                    <a:pt x="4274726" y="195577"/>
                    <a:pt x="4272163" y="201765"/>
                    <a:pt x="4267601" y="206327"/>
                  </a:cubicBezTo>
                  <a:cubicBezTo>
                    <a:pt x="4263039" y="210889"/>
                    <a:pt x="4256851" y="213452"/>
                    <a:pt x="4250399" y="213452"/>
                  </a:cubicBezTo>
                  <a:lnTo>
                    <a:pt x="24327" y="213452"/>
                  </a:lnTo>
                  <a:cubicBezTo>
                    <a:pt x="10891" y="213452"/>
                    <a:pt x="0" y="202561"/>
                    <a:pt x="0" y="189125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4"/>
            <p:cNvSpPr txBox="1"/>
            <p:nvPr/>
          </p:nvSpPr>
          <p:spPr>
            <a:xfrm>
              <a:off x="0" y="-38100"/>
              <a:ext cx="4274726" cy="251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5" name="Google Shape;155;p4"/>
          <p:cNvGrpSpPr/>
          <p:nvPr/>
        </p:nvGrpSpPr>
        <p:grpSpPr>
          <a:xfrm>
            <a:off x="1028700" y="8303187"/>
            <a:ext cx="5634535" cy="955118"/>
            <a:chOff x="0" y="-38100"/>
            <a:chExt cx="1483983" cy="251552"/>
          </a:xfrm>
        </p:grpSpPr>
        <p:sp>
          <p:nvSpPr>
            <p:cNvPr id="156" name="Google Shape;156;p4"/>
            <p:cNvSpPr/>
            <p:nvPr/>
          </p:nvSpPr>
          <p:spPr>
            <a:xfrm>
              <a:off x="0" y="0"/>
              <a:ext cx="1483983" cy="213452"/>
            </a:xfrm>
            <a:custGeom>
              <a:rect b="b" l="l" r="r" t="t"/>
              <a:pathLst>
                <a:path extrusionOk="0" h="213452" w="1483983">
                  <a:moveTo>
                    <a:pt x="70075" y="0"/>
                  </a:moveTo>
                  <a:lnTo>
                    <a:pt x="1413908" y="0"/>
                  </a:lnTo>
                  <a:cubicBezTo>
                    <a:pt x="1432493" y="0"/>
                    <a:pt x="1450317" y="7383"/>
                    <a:pt x="1463458" y="20525"/>
                  </a:cubicBezTo>
                  <a:cubicBezTo>
                    <a:pt x="1476600" y="33666"/>
                    <a:pt x="1483983" y="51490"/>
                    <a:pt x="1483983" y="70075"/>
                  </a:cubicBezTo>
                  <a:lnTo>
                    <a:pt x="1483983" y="143377"/>
                  </a:lnTo>
                  <a:cubicBezTo>
                    <a:pt x="1483983" y="161962"/>
                    <a:pt x="1476600" y="179786"/>
                    <a:pt x="1463458" y="192927"/>
                  </a:cubicBezTo>
                  <a:cubicBezTo>
                    <a:pt x="1450317" y="206069"/>
                    <a:pt x="1432493" y="213452"/>
                    <a:pt x="1413908" y="213452"/>
                  </a:cubicBezTo>
                  <a:lnTo>
                    <a:pt x="70075" y="213452"/>
                  </a:lnTo>
                  <a:cubicBezTo>
                    <a:pt x="31374" y="213452"/>
                    <a:pt x="0" y="182078"/>
                    <a:pt x="0" y="143377"/>
                  </a:cubicBezTo>
                  <a:lnTo>
                    <a:pt x="0" y="70075"/>
                  </a:lnTo>
                  <a:cubicBezTo>
                    <a:pt x="0" y="51490"/>
                    <a:pt x="7383" y="33666"/>
                    <a:pt x="20525" y="20525"/>
                  </a:cubicBezTo>
                  <a:cubicBezTo>
                    <a:pt x="33666" y="7383"/>
                    <a:pt x="51490" y="0"/>
                    <a:pt x="70075" y="0"/>
                  </a:cubicBezTo>
                  <a:close/>
                </a:path>
              </a:pathLst>
            </a:custGeom>
            <a:solidFill>
              <a:srgbClr val="06DF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4"/>
            <p:cNvSpPr txBox="1"/>
            <p:nvPr/>
          </p:nvSpPr>
          <p:spPr>
            <a:xfrm>
              <a:off x="0" y="-38100"/>
              <a:ext cx="1483983" cy="251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8" name="Google Shape;158;p4"/>
          <p:cNvGrpSpPr/>
          <p:nvPr/>
        </p:nvGrpSpPr>
        <p:grpSpPr>
          <a:xfrm>
            <a:off x="5943185" y="8368354"/>
            <a:ext cx="662862" cy="824780"/>
            <a:chOff x="0" y="-38100"/>
            <a:chExt cx="174581" cy="217226"/>
          </a:xfrm>
        </p:grpSpPr>
        <p:sp>
          <p:nvSpPr>
            <p:cNvPr id="159" name="Google Shape;159;p4"/>
            <p:cNvSpPr/>
            <p:nvPr/>
          </p:nvSpPr>
          <p:spPr>
            <a:xfrm>
              <a:off x="0" y="0"/>
              <a:ext cx="174581" cy="179126"/>
            </a:xfrm>
            <a:custGeom>
              <a:rect b="b" l="l" r="r" t="t"/>
              <a:pathLst>
                <a:path extrusionOk="0" h="179126" w="174581">
                  <a:moveTo>
                    <a:pt x="87291" y="0"/>
                  </a:moveTo>
                  <a:lnTo>
                    <a:pt x="87291" y="0"/>
                  </a:lnTo>
                  <a:cubicBezTo>
                    <a:pt x="110441" y="0"/>
                    <a:pt x="132644" y="9197"/>
                    <a:pt x="149014" y="25567"/>
                  </a:cubicBezTo>
                  <a:cubicBezTo>
                    <a:pt x="165384" y="41937"/>
                    <a:pt x="174581" y="64140"/>
                    <a:pt x="174581" y="87291"/>
                  </a:cubicBezTo>
                  <a:lnTo>
                    <a:pt x="174581" y="91835"/>
                  </a:lnTo>
                  <a:cubicBezTo>
                    <a:pt x="174581" y="114986"/>
                    <a:pt x="165384" y="137189"/>
                    <a:pt x="149014" y="153559"/>
                  </a:cubicBezTo>
                  <a:cubicBezTo>
                    <a:pt x="132644" y="169929"/>
                    <a:pt x="110441" y="179126"/>
                    <a:pt x="87291" y="179126"/>
                  </a:cubicBezTo>
                  <a:lnTo>
                    <a:pt x="87291" y="179126"/>
                  </a:lnTo>
                  <a:cubicBezTo>
                    <a:pt x="64140" y="179126"/>
                    <a:pt x="41937" y="169929"/>
                    <a:pt x="25567" y="153559"/>
                  </a:cubicBezTo>
                  <a:cubicBezTo>
                    <a:pt x="9197" y="137189"/>
                    <a:pt x="0" y="114986"/>
                    <a:pt x="0" y="91835"/>
                  </a:cubicBezTo>
                  <a:lnTo>
                    <a:pt x="0" y="87291"/>
                  </a:lnTo>
                  <a:cubicBezTo>
                    <a:pt x="0" y="64140"/>
                    <a:pt x="9197" y="41937"/>
                    <a:pt x="25567" y="25567"/>
                  </a:cubicBezTo>
                  <a:cubicBezTo>
                    <a:pt x="41937" y="9197"/>
                    <a:pt x="64140" y="0"/>
                    <a:pt x="872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4"/>
            <p:cNvSpPr txBox="1"/>
            <p:nvPr/>
          </p:nvSpPr>
          <p:spPr>
            <a:xfrm>
              <a:off x="0" y="-38100"/>
              <a:ext cx="174581" cy="2172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1" name="Google Shape;161;p4"/>
          <p:cNvSpPr/>
          <p:nvPr/>
        </p:nvSpPr>
        <p:spPr>
          <a:xfrm>
            <a:off x="10666085" y="2131683"/>
            <a:ext cx="6355769" cy="5246370"/>
          </a:xfrm>
          <a:custGeom>
            <a:rect b="b" l="l" r="r" t="t"/>
            <a:pathLst>
              <a:path extrusionOk="0" h="812800" w="984675">
                <a:moveTo>
                  <a:pt x="80394" y="0"/>
                </a:moveTo>
                <a:lnTo>
                  <a:pt x="904281" y="0"/>
                </a:lnTo>
                <a:cubicBezTo>
                  <a:pt x="925603" y="0"/>
                  <a:pt x="946051" y="8470"/>
                  <a:pt x="961128" y="23547"/>
                </a:cubicBezTo>
                <a:cubicBezTo>
                  <a:pt x="976205" y="38624"/>
                  <a:pt x="984675" y="59072"/>
                  <a:pt x="984675" y="80394"/>
                </a:cubicBezTo>
                <a:lnTo>
                  <a:pt x="984675" y="732406"/>
                </a:lnTo>
                <a:cubicBezTo>
                  <a:pt x="984675" y="753728"/>
                  <a:pt x="976205" y="774176"/>
                  <a:pt x="961128" y="789253"/>
                </a:cubicBezTo>
                <a:cubicBezTo>
                  <a:pt x="946051" y="804330"/>
                  <a:pt x="925603" y="812800"/>
                  <a:pt x="904281" y="812800"/>
                </a:cubicBezTo>
                <a:lnTo>
                  <a:pt x="80394" y="812800"/>
                </a:lnTo>
                <a:cubicBezTo>
                  <a:pt x="59072" y="812800"/>
                  <a:pt x="38624" y="804330"/>
                  <a:pt x="23547" y="789253"/>
                </a:cubicBezTo>
                <a:cubicBezTo>
                  <a:pt x="8470" y="774176"/>
                  <a:pt x="0" y="753728"/>
                  <a:pt x="0" y="732406"/>
                </a:cubicBezTo>
                <a:lnTo>
                  <a:pt x="0" y="80394"/>
                </a:lnTo>
                <a:cubicBezTo>
                  <a:pt x="0" y="59072"/>
                  <a:pt x="8470" y="38624"/>
                  <a:pt x="23547" y="23547"/>
                </a:cubicBezTo>
                <a:cubicBezTo>
                  <a:pt x="38624" y="8470"/>
                  <a:pt x="59072" y="0"/>
                  <a:pt x="80394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1830" r="-11829" t="0"/>
            </a:stretch>
          </a:blipFill>
          <a:ln cap="rnd" cmpd="sng" w="219075">
            <a:solidFill>
              <a:srgbClr val="06DF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1028700" y="611194"/>
            <a:ext cx="650744" cy="515862"/>
          </a:xfrm>
          <a:custGeom>
            <a:rect b="b" l="l" r="r" t="t"/>
            <a:pathLst>
              <a:path extrusionOk="0" h="515862" w="650744">
                <a:moveTo>
                  <a:pt x="0" y="0"/>
                </a:moveTo>
                <a:lnTo>
                  <a:pt x="650744" y="0"/>
                </a:lnTo>
                <a:lnTo>
                  <a:pt x="650744" y="515862"/>
                </a:lnTo>
                <a:lnTo>
                  <a:pt x="0" y="5158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4"/>
          <p:cNvSpPr txBox="1"/>
          <p:nvPr/>
        </p:nvSpPr>
        <p:spPr>
          <a:xfrm>
            <a:off x="1107961" y="1744160"/>
            <a:ext cx="5688603" cy="887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20" u="sng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 source :</a:t>
            </a:r>
            <a:endParaRPr/>
          </a:p>
        </p:txBody>
      </p:sp>
      <p:sp>
        <p:nvSpPr>
          <p:cNvPr id="164" name="Google Shape;164;p4"/>
          <p:cNvSpPr txBox="1"/>
          <p:nvPr/>
        </p:nvSpPr>
        <p:spPr>
          <a:xfrm>
            <a:off x="5088866" y="405890"/>
            <a:ext cx="8072168" cy="993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0" u="none" cap="none" strike="noStrike">
                <a:solidFill>
                  <a:srgbClr val="06DFD2"/>
                </a:solidFill>
                <a:latin typeface="Arial"/>
                <a:ea typeface="Arial"/>
                <a:cs typeface="Arial"/>
                <a:sym typeface="Arial"/>
              </a:rPr>
              <a:t>Data set over view </a:t>
            </a:r>
            <a:endParaRPr/>
          </a:p>
        </p:txBody>
      </p:sp>
      <p:sp>
        <p:nvSpPr>
          <p:cNvPr id="165" name="Google Shape;165;p4"/>
          <p:cNvSpPr txBox="1"/>
          <p:nvPr/>
        </p:nvSpPr>
        <p:spPr>
          <a:xfrm>
            <a:off x="1107961" y="4252170"/>
            <a:ext cx="9012553" cy="31751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9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1.Data Collection – GA4 dataset</a:t>
            </a:r>
            <a:endParaRPr/>
          </a:p>
          <a:p>
            <a:pPr indent="0" lvl="0" marL="0" marR="0" rtl="0" algn="just">
              <a:lnSpc>
                <a:spcPct val="119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99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9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2.Data Cleaning – handling missing values &amp; formatting</a:t>
            </a:r>
            <a:endParaRPr/>
          </a:p>
          <a:p>
            <a:pPr indent="0" lvl="0" marL="0" marR="0" rtl="0" algn="just">
              <a:lnSpc>
                <a:spcPct val="119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99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9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3.KPI Identification – ROI, CPS, Engagement, Key Events</a:t>
            </a:r>
            <a:endParaRPr/>
          </a:p>
          <a:p>
            <a:pPr indent="0" lvl="0" marL="0" marR="0" rtl="0" algn="just">
              <a:lnSpc>
                <a:spcPct val="119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99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9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4.Dashboard Creation – Power BI</a:t>
            </a:r>
            <a:endParaRPr/>
          </a:p>
          <a:p>
            <a:pPr indent="0" lvl="0" marL="0" marR="0" rtl="0" algn="just">
              <a:lnSpc>
                <a:spcPct val="1101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99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p4"/>
          <p:cNvSpPr txBox="1"/>
          <p:nvPr/>
        </p:nvSpPr>
        <p:spPr>
          <a:xfrm>
            <a:off x="1107961" y="2851384"/>
            <a:ext cx="11617484" cy="6370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Google Analytics 4 (Traffic Acquisition data)</a:t>
            </a:r>
            <a:endParaRPr/>
          </a:p>
        </p:txBody>
      </p:sp>
      <p:sp>
        <p:nvSpPr>
          <p:cNvPr id="167" name="Google Shape;167;p4"/>
          <p:cNvSpPr/>
          <p:nvPr/>
        </p:nvSpPr>
        <p:spPr>
          <a:xfrm rot="10800000">
            <a:off x="14925384" y="-396015"/>
            <a:ext cx="4192939" cy="4192939"/>
          </a:xfrm>
          <a:custGeom>
            <a:rect b="b" l="l" r="r" t="t"/>
            <a:pathLst>
              <a:path extrusionOk="0" h="4192939" w="4192939">
                <a:moveTo>
                  <a:pt x="0" y="0"/>
                </a:moveTo>
                <a:lnTo>
                  <a:pt x="4192939" y="0"/>
                </a:lnTo>
                <a:lnTo>
                  <a:pt x="4192939" y="4192939"/>
                </a:lnTo>
                <a:lnTo>
                  <a:pt x="0" y="41929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"/>
          <p:cNvSpPr/>
          <p:nvPr/>
        </p:nvSpPr>
        <p:spPr>
          <a:xfrm flipH="1">
            <a:off x="15876229" y="-682735"/>
            <a:ext cx="3141820" cy="3141820"/>
          </a:xfrm>
          <a:custGeom>
            <a:rect b="b" l="l" r="r" t="t"/>
            <a:pathLst>
              <a:path extrusionOk="0" h="3141820" w="3141820">
                <a:moveTo>
                  <a:pt x="0" y="3141820"/>
                </a:moveTo>
                <a:lnTo>
                  <a:pt x="3141820" y="3141820"/>
                </a:lnTo>
                <a:lnTo>
                  <a:pt x="3141820" y="0"/>
                </a:lnTo>
                <a:lnTo>
                  <a:pt x="0" y="0"/>
                </a:lnTo>
                <a:lnTo>
                  <a:pt x="0" y="314182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3" name="Google Shape;173;p5"/>
          <p:cNvGrpSpPr/>
          <p:nvPr/>
        </p:nvGrpSpPr>
        <p:grpSpPr>
          <a:xfrm>
            <a:off x="895408" y="8708414"/>
            <a:ext cx="16230600" cy="955112"/>
            <a:chOff x="0" y="-38100"/>
            <a:chExt cx="4274726" cy="251552"/>
          </a:xfrm>
        </p:grpSpPr>
        <p:sp>
          <p:nvSpPr>
            <p:cNvPr id="174" name="Google Shape;174;p5"/>
            <p:cNvSpPr/>
            <p:nvPr/>
          </p:nvSpPr>
          <p:spPr>
            <a:xfrm>
              <a:off x="0" y="0"/>
              <a:ext cx="4274726" cy="213452"/>
            </a:xfrm>
            <a:custGeom>
              <a:rect b="b" l="l" r="r" t="t"/>
              <a:pathLst>
                <a:path extrusionOk="0" h="213452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89125"/>
                  </a:lnTo>
                  <a:cubicBezTo>
                    <a:pt x="4274726" y="195577"/>
                    <a:pt x="4272163" y="201765"/>
                    <a:pt x="4267601" y="206327"/>
                  </a:cubicBezTo>
                  <a:cubicBezTo>
                    <a:pt x="4263039" y="210889"/>
                    <a:pt x="4256851" y="213452"/>
                    <a:pt x="4250399" y="213452"/>
                  </a:cubicBezTo>
                  <a:lnTo>
                    <a:pt x="24327" y="213452"/>
                  </a:lnTo>
                  <a:cubicBezTo>
                    <a:pt x="10891" y="213452"/>
                    <a:pt x="0" y="202561"/>
                    <a:pt x="0" y="189125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5"/>
            <p:cNvSpPr txBox="1"/>
            <p:nvPr/>
          </p:nvSpPr>
          <p:spPr>
            <a:xfrm>
              <a:off x="0" y="-38100"/>
              <a:ext cx="4274726" cy="251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6" name="Google Shape;176;p5"/>
          <p:cNvGrpSpPr/>
          <p:nvPr/>
        </p:nvGrpSpPr>
        <p:grpSpPr>
          <a:xfrm>
            <a:off x="952500" y="8708414"/>
            <a:ext cx="8115300" cy="955112"/>
            <a:chOff x="0" y="-38100"/>
            <a:chExt cx="2137363" cy="251552"/>
          </a:xfrm>
        </p:grpSpPr>
        <p:sp>
          <p:nvSpPr>
            <p:cNvPr id="177" name="Google Shape;177;p5"/>
            <p:cNvSpPr/>
            <p:nvPr/>
          </p:nvSpPr>
          <p:spPr>
            <a:xfrm>
              <a:off x="0" y="0"/>
              <a:ext cx="2137363" cy="213452"/>
            </a:xfrm>
            <a:custGeom>
              <a:rect b="b" l="l" r="r" t="t"/>
              <a:pathLst>
                <a:path extrusionOk="0" h="213452" w="2137363">
                  <a:moveTo>
                    <a:pt x="48654" y="0"/>
                  </a:moveTo>
                  <a:lnTo>
                    <a:pt x="2088710" y="0"/>
                  </a:lnTo>
                  <a:cubicBezTo>
                    <a:pt x="2115580" y="0"/>
                    <a:pt x="2137363" y="21783"/>
                    <a:pt x="2137363" y="48654"/>
                  </a:cubicBezTo>
                  <a:lnTo>
                    <a:pt x="2137363" y="164798"/>
                  </a:lnTo>
                  <a:cubicBezTo>
                    <a:pt x="2137363" y="191669"/>
                    <a:pt x="2115580" y="213452"/>
                    <a:pt x="2088710" y="213452"/>
                  </a:cubicBezTo>
                  <a:lnTo>
                    <a:pt x="48654" y="213452"/>
                  </a:lnTo>
                  <a:cubicBezTo>
                    <a:pt x="21783" y="213452"/>
                    <a:pt x="0" y="191669"/>
                    <a:pt x="0" y="164798"/>
                  </a:cubicBezTo>
                  <a:lnTo>
                    <a:pt x="0" y="48654"/>
                  </a:lnTo>
                  <a:cubicBezTo>
                    <a:pt x="0" y="21783"/>
                    <a:pt x="21783" y="0"/>
                    <a:pt x="48654" y="0"/>
                  </a:cubicBezTo>
                  <a:close/>
                </a:path>
              </a:pathLst>
            </a:custGeom>
            <a:solidFill>
              <a:srgbClr val="06DF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5"/>
            <p:cNvSpPr txBox="1"/>
            <p:nvPr/>
          </p:nvSpPr>
          <p:spPr>
            <a:xfrm>
              <a:off x="0" y="-38100"/>
              <a:ext cx="2137363" cy="251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" name="Google Shape;179;p5"/>
          <p:cNvGrpSpPr/>
          <p:nvPr/>
        </p:nvGrpSpPr>
        <p:grpSpPr>
          <a:xfrm>
            <a:off x="8347846" y="8765823"/>
            <a:ext cx="662862" cy="840292"/>
            <a:chOff x="0" y="-38100"/>
            <a:chExt cx="174581" cy="221312"/>
          </a:xfrm>
        </p:grpSpPr>
        <p:sp>
          <p:nvSpPr>
            <p:cNvPr id="180" name="Google Shape;180;p5"/>
            <p:cNvSpPr/>
            <p:nvPr/>
          </p:nvSpPr>
          <p:spPr>
            <a:xfrm>
              <a:off x="0" y="0"/>
              <a:ext cx="174581" cy="183212"/>
            </a:xfrm>
            <a:custGeom>
              <a:rect b="b" l="l" r="r" t="t"/>
              <a:pathLst>
                <a:path extrusionOk="0" h="183212" w="174581">
                  <a:moveTo>
                    <a:pt x="87291" y="0"/>
                  </a:moveTo>
                  <a:lnTo>
                    <a:pt x="87291" y="0"/>
                  </a:lnTo>
                  <a:cubicBezTo>
                    <a:pt x="110441" y="0"/>
                    <a:pt x="132644" y="9197"/>
                    <a:pt x="149014" y="25567"/>
                  </a:cubicBezTo>
                  <a:cubicBezTo>
                    <a:pt x="165384" y="41937"/>
                    <a:pt x="174581" y="64140"/>
                    <a:pt x="174581" y="87291"/>
                  </a:cubicBezTo>
                  <a:lnTo>
                    <a:pt x="174581" y="95921"/>
                  </a:lnTo>
                  <a:cubicBezTo>
                    <a:pt x="174581" y="119072"/>
                    <a:pt x="165384" y="141275"/>
                    <a:pt x="149014" y="157645"/>
                  </a:cubicBezTo>
                  <a:cubicBezTo>
                    <a:pt x="132644" y="174015"/>
                    <a:pt x="110441" y="183212"/>
                    <a:pt x="87291" y="183212"/>
                  </a:cubicBezTo>
                  <a:lnTo>
                    <a:pt x="87291" y="183212"/>
                  </a:lnTo>
                  <a:cubicBezTo>
                    <a:pt x="64140" y="183212"/>
                    <a:pt x="41937" y="174015"/>
                    <a:pt x="25567" y="157645"/>
                  </a:cubicBezTo>
                  <a:cubicBezTo>
                    <a:pt x="9197" y="141275"/>
                    <a:pt x="0" y="119072"/>
                    <a:pt x="0" y="95921"/>
                  </a:cubicBezTo>
                  <a:lnTo>
                    <a:pt x="0" y="87291"/>
                  </a:lnTo>
                  <a:cubicBezTo>
                    <a:pt x="0" y="64140"/>
                    <a:pt x="9197" y="41937"/>
                    <a:pt x="25567" y="25567"/>
                  </a:cubicBezTo>
                  <a:cubicBezTo>
                    <a:pt x="41937" y="9197"/>
                    <a:pt x="64140" y="0"/>
                    <a:pt x="872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5"/>
            <p:cNvSpPr txBox="1"/>
            <p:nvPr/>
          </p:nvSpPr>
          <p:spPr>
            <a:xfrm>
              <a:off x="0" y="-38100"/>
              <a:ext cx="174581" cy="221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2" name="Google Shape;182;p5"/>
          <p:cNvSpPr/>
          <p:nvPr/>
        </p:nvSpPr>
        <p:spPr>
          <a:xfrm>
            <a:off x="1028700" y="611194"/>
            <a:ext cx="650744" cy="515862"/>
          </a:xfrm>
          <a:custGeom>
            <a:rect b="b" l="l" r="r" t="t"/>
            <a:pathLst>
              <a:path extrusionOk="0" h="515862" w="650744">
                <a:moveTo>
                  <a:pt x="0" y="0"/>
                </a:moveTo>
                <a:lnTo>
                  <a:pt x="650744" y="0"/>
                </a:lnTo>
                <a:lnTo>
                  <a:pt x="650744" y="515862"/>
                </a:lnTo>
                <a:lnTo>
                  <a:pt x="0" y="5158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5"/>
          <p:cNvSpPr/>
          <p:nvPr/>
        </p:nvSpPr>
        <p:spPr>
          <a:xfrm>
            <a:off x="2771404" y="1523513"/>
            <a:ext cx="11854326" cy="5897570"/>
          </a:xfrm>
          <a:custGeom>
            <a:rect b="b" l="l" r="r" t="t"/>
            <a:pathLst>
              <a:path extrusionOk="0" h="5897570" w="11854326">
                <a:moveTo>
                  <a:pt x="0" y="0"/>
                </a:moveTo>
                <a:lnTo>
                  <a:pt x="11854326" y="0"/>
                </a:lnTo>
                <a:lnTo>
                  <a:pt x="11854326" y="5897570"/>
                </a:lnTo>
                <a:lnTo>
                  <a:pt x="0" y="5897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932" l="0" r="-1118" t="-2976"/>
            </a:stretch>
          </a:blipFill>
          <a:ln>
            <a:noFill/>
          </a:ln>
        </p:spPr>
      </p:sp>
      <p:sp>
        <p:nvSpPr>
          <p:cNvPr id="184" name="Google Shape;184;p5"/>
          <p:cNvSpPr txBox="1"/>
          <p:nvPr/>
        </p:nvSpPr>
        <p:spPr>
          <a:xfrm>
            <a:off x="1880696" y="590737"/>
            <a:ext cx="7263304" cy="586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4" u="none" cap="none" strike="noStrike">
                <a:solidFill>
                  <a:srgbClr val="06DFD2"/>
                </a:solidFill>
                <a:latin typeface="Arial"/>
                <a:ea typeface="Arial"/>
                <a:cs typeface="Arial"/>
                <a:sym typeface="Arial"/>
              </a:rPr>
              <a:t>Dashboard Visualization-1 </a:t>
            </a:r>
            <a:endParaRPr/>
          </a:p>
        </p:txBody>
      </p:sp>
      <p:sp>
        <p:nvSpPr>
          <p:cNvPr id="185" name="Google Shape;185;p5"/>
          <p:cNvSpPr txBox="1"/>
          <p:nvPr/>
        </p:nvSpPr>
        <p:spPr>
          <a:xfrm>
            <a:off x="12386515" y="7991427"/>
            <a:ext cx="7310133" cy="461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Insights , recommendations  -----&gt;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p6"/>
          <p:cNvGrpSpPr/>
          <p:nvPr/>
        </p:nvGrpSpPr>
        <p:grpSpPr>
          <a:xfrm>
            <a:off x="1028700" y="8493688"/>
            <a:ext cx="16230600" cy="955112"/>
            <a:chOff x="0" y="-38100"/>
            <a:chExt cx="4274726" cy="251552"/>
          </a:xfrm>
        </p:grpSpPr>
        <p:sp>
          <p:nvSpPr>
            <p:cNvPr id="191" name="Google Shape;191;p6"/>
            <p:cNvSpPr/>
            <p:nvPr/>
          </p:nvSpPr>
          <p:spPr>
            <a:xfrm>
              <a:off x="0" y="0"/>
              <a:ext cx="4274726" cy="213452"/>
            </a:xfrm>
            <a:custGeom>
              <a:rect b="b" l="l" r="r" t="t"/>
              <a:pathLst>
                <a:path extrusionOk="0" h="213452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89125"/>
                  </a:lnTo>
                  <a:cubicBezTo>
                    <a:pt x="4274726" y="195577"/>
                    <a:pt x="4272163" y="201765"/>
                    <a:pt x="4267601" y="206327"/>
                  </a:cubicBezTo>
                  <a:cubicBezTo>
                    <a:pt x="4263039" y="210889"/>
                    <a:pt x="4256851" y="213452"/>
                    <a:pt x="4250399" y="213452"/>
                  </a:cubicBezTo>
                  <a:lnTo>
                    <a:pt x="24327" y="213452"/>
                  </a:lnTo>
                  <a:cubicBezTo>
                    <a:pt x="10891" y="213452"/>
                    <a:pt x="0" y="202561"/>
                    <a:pt x="0" y="189125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6"/>
            <p:cNvSpPr txBox="1"/>
            <p:nvPr/>
          </p:nvSpPr>
          <p:spPr>
            <a:xfrm>
              <a:off x="0" y="-38100"/>
              <a:ext cx="4274726" cy="251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3" name="Google Shape;193;p6"/>
          <p:cNvGrpSpPr/>
          <p:nvPr/>
        </p:nvGrpSpPr>
        <p:grpSpPr>
          <a:xfrm>
            <a:off x="1028700" y="8493688"/>
            <a:ext cx="9299384" cy="955112"/>
            <a:chOff x="0" y="-38100"/>
            <a:chExt cx="2449220" cy="251552"/>
          </a:xfrm>
        </p:grpSpPr>
        <p:sp>
          <p:nvSpPr>
            <p:cNvPr id="194" name="Google Shape;194;p6"/>
            <p:cNvSpPr/>
            <p:nvPr/>
          </p:nvSpPr>
          <p:spPr>
            <a:xfrm>
              <a:off x="0" y="0"/>
              <a:ext cx="2449220" cy="213452"/>
            </a:xfrm>
            <a:custGeom>
              <a:rect b="b" l="l" r="r" t="t"/>
              <a:pathLst>
                <a:path extrusionOk="0" h="213452" w="2449220">
                  <a:moveTo>
                    <a:pt x="42459" y="0"/>
                  </a:moveTo>
                  <a:lnTo>
                    <a:pt x="2406762" y="0"/>
                  </a:lnTo>
                  <a:cubicBezTo>
                    <a:pt x="2430211" y="0"/>
                    <a:pt x="2449220" y="19009"/>
                    <a:pt x="2449220" y="42459"/>
                  </a:cubicBezTo>
                  <a:lnTo>
                    <a:pt x="2449220" y="170993"/>
                  </a:lnTo>
                  <a:cubicBezTo>
                    <a:pt x="2449220" y="194443"/>
                    <a:pt x="2430211" y="213452"/>
                    <a:pt x="2406762" y="213452"/>
                  </a:cubicBezTo>
                  <a:lnTo>
                    <a:pt x="42459" y="213452"/>
                  </a:lnTo>
                  <a:cubicBezTo>
                    <a:pt x="19009" y="213452"/>
                    <a:pt x="0" y="194443"/>
                    <a:pt x="0" y="170993"/>
                  </a:cubicBezTo>
                  <a:lnTo>
                    <a:pt x="0" y="42459"/>
                  </a:lnTo>
                  <a:cubicBezTo>
                    <a:pt x="0" y="19009"/>
                    <a:pt x="19009" y="0"/>
                    <a:pt x="42459" y="0"/>
                  </a:cubicBezTo>
                  <a:close/>
                </a:path>
              </a:pathLst>
            </a:custGeom>
            <a:solidFill>
              <a:srgbClr val="06DF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6"/>
            <p:cNvSpPr txBox="1"/>
            <p:nvPr/>
          </p:nvSpPr>
          <p:spPr>
            <a:xfrm>
              <a:off x="0" y="-38100"/>
              <a:ext cx="2449220" cy="251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6" name="Google Shape;196;p6"/>
          <p:cNvGrpSpPr/>
          <p:nvPr/>
        </p:nvGrpSpPr>
        <p:grpSpPr>
          <a:xfrm>
            <a:off x="9582217" y="8558854"/>
            <a:ext cx="662862" cy="824780"/>
            <a:chOff x="0" y="-38100"/>
            <a:chExt cx="174581" cy="217226"/>
          </a:xfrm>
        </p:grpSpPr>
        <p:sp>
          <p:nvSpPr>
            <p:cNvPr id="197" name="Google Shape;197;p6"/>
            <p:cNvSpPr/>
            <p:nvPr/>
          </p:nvSpPr>
          <p:spPr>
            <a:xfrm>
              <a:off x="0" y="0"/>
              <a:ext cx="174581" cy="179126"/>
            </a:xfrm>
            <a:custGeom>
              <a:rect b="b" l="l" r="r" t="t"/>
              <a:pathLst>
                <a:path extrusionOk="0" h="179126" w="174581">
                  <a:moveTo>
                    <a:pt x="87291" y="0"/>
                  </a:moveTo>
                  <a:lnTo>
                    <a:pt x="87291" y="0"/>
                  </a:lnTo>
                  <a:cubicBezTo>
                    <a:pt x="110441" y="0"/>
                    <a:pt x="132644" y="9197"/>
                    <a:pt x="149014" y="25567"/>
                  </a:cubicBezTo>
                  <a:cubicBezTo>
                    <a:pt x="165384" y="41937"/>
                    <a:pt x="174581" y="64140"/>
                    <a:pt x="174581" y="87291"/>
                  </a:cubicBezTo>
                  <a:lnTo>
                    <a:pt x="174581" y="91835"/>
                  </a:lnTo>
                  <a:cubicBezTo>
                    <a:pt x="174581" y="114986"/>
                    <a:pt x="165384" y="137189"/>
                    <a:pt x="149014" y="153559"/>
                  </a:cubicBezTo>
                  <a:cubicBezTo>
                    <a:pt x="132644" y="169929"/>
                    <a:pt x="110441" y="179126"/>
                    <a:pt x="87291" y="179126"/>
                  </a:cubicBezTo>
                  <a:lnTo>
                    <a:pt x="87291" y="179126"/>
                  </a:lnTo>
                  <a:cubicBezTo>
                    <a:pt x="64140" y="179126"/>
                    <a:pt x="41937" y="169929"/>
                    <a:pt x="25567" y="153559"/>
                  </a:cubicBezTo>
                  <a:cubicBezTo>
                    <a:pt x="9197" y="137189"/>
                    <a:pt x="0" y="114986"/>
                    <a:pt x="0" y="91835"/>
                  </a:cubicBezTo>
                  <a:lnTo>
                    <a:pt x="0" y="87291"/>
                  </a:lnTo>
                  <a:cubicBezTo>
                    <a:pt x="0" y="64140"/>
                    <a:pt x="9197" y="41937"/>
                    <a:pt x="25567" y="25567"/>
                  </a:cubicBezTo>
                  <a:cubicBezTo>
                    <a:pt x="41937" y="9197"/>
                    <a:pt x="64140" y="0"/>
                    <a:pt x="872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6"/>
            <p:cNvSpPr txBox="1"/>
            <p:nvPr/>
          </p:nvSpPr>
          <p:spPr>
            <a:xfrm>
              <a:off x="0" y="-38100"/>
              <a:ext cx="174581" cy="2172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9" name="Google Shape;199;p6"/>
          <p:cNvSpPr/>
          <p:nvPr/>
        </p:nvSpPr>
        <p:spPr>
          <a:xfrm rot="10800000">
            <a:off x="15645942" y="-312403"/>
            <a:ext cx="3624682" cy="3624682"/>
          </a:xfrm>
          <a:custGeom>
            <a:rect b="b" l="l" r="r" t="t"/>
            <a:pathLst>
              <a:path extrusionOk="0" h="3624682" w="3624682">
                <a:moveTo>
                  <a:pt x="0" y="0"/>
                </a:moveTo>
                <a:lnTo>
                  <a:pt x="3624682" y="0"/>
                </a:lnTo>
                <a:lnTo>
                  <a:pt x="3624682" y="3624682"/>
                </a:lnTo>
                <a:lnTo>
                  <a:pt x="0" y="36246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0" name="Google Shape;200;p6"/>
          <p:cNvSpPr/>
          <p:nvPr/>
        </p:nvSpPr>
        <p:spPr>
          <a:xfrm>
            <a:off x="1028700" y="611194"/>
            <a:ext cx="650744" cy="515862"/>
          </a:xfrm>
          <a:custGeom>
            <a:rect b="b" l="l" r="r" t="t"/>
            <a:pathLst>
              <a:path extrusionOk="0" h="515862" w="650744">
                <a:moveTo>
                  <a:pt x="0" y="0"/>
                </a:moveTo>
                <a:lnTo>
                  <a:pt x="650744" y="0"/>
                </a:lnTo>
                <a:lnTo>
                  <a:pt x="650744" y="515862"/>
                </a:lnTo>
                <a:lnTo>
                  <a:pt x="0" y="5158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1" name="Google Shape;201;p6"/>
          <p:cNvSpPr txBox="1"/>
          <p:nvPr/>
        </p:nvSpPr>
        <p:spPr>
          <a:xfrm>
            <a:off x="516506" y="1714783"/>
            <a:ext cx="5933970" cy="7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sng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Insights :</a:t>
            </a:r>
            <a:endParaRPr/>
          </a:p>
        </p:txBody>
      </p:sp>
      <p:sp>
        <p:nvSpPr>
          <p:cNvPr id="202" name="Google Shape;202;p6"/>
          <p:cNvSpPr txBox="1"/>
          <p:nvPr/>
        </p:nvSpPr>
        <p:spPr>
          <a:xfrm>
            <a:off x="1880696" y="590737"/>
            <a:ext cx="12783639" cy="586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4" u="none" cap="none" strike="noStrike">
                <a:solidFill>
                  <a:srgbClr val="06DFD2"/>
                </a:solidFill>
                <a:latin typeface="Arial"/>
                <a:ea typeface="Arial"/>
                <a:cs typeface="Arial"/>
                <a:sym typeface="Arial"/>
              </a:rPr>
              <a:t>Dashboard - 1  Key Insights  &amp; Recommendations </a:t>
            </a:r>
            <a:endParaRPr/>
          </a:p>
        </p:txBody>
      </p:sp>
      <p:sp>
        <p:nvSpPr>
          <p:cNvPr id="203" name="Google Shape;203;p6"/>
          <p:cNvSpPr txBox="1"/>
          <p:nvPr/>
        </p:nvSpPr>
        <p:spPr>
          <a:xfrm>
            <a:off x="166622" y="2902189"/>
            <a:ext cx="9552001" cy="5205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7369" lvl="1" marL="594738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54"/>
              <a:buFont typeface="Arial"/>
              <a:buAutoNum type="arabicPeriod"/>
            </a:pPr>
            <a:r>
              <a:rPr b="1" i="0" lang="en-US" sz="27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Organic search generates the highest revenue </a:t>
            </a:r>
            <a:endParaRPr/>
          </a:p>
        </p:txBody>
      </p:sp>
      <p:sp>
        <p:nvSpPr>
          <p:cNvPr id="204" name="Google Shape;204;p6"/>
          <p:cNvSpPr txBox="1"/>
          <p:nvPr/>
        </p:nvSpPr>
        <p:spPr>
          <a:xfrm>
            <a:off x="516506" y="6949133"/>
            <a:ext cx="9552001" cy="5205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4.Some channels generate traffic but no revenue</a:t>
            </a:r>
            <a:endParaRPr/>
          </a:p>
        </p:txBody>
      </p:sp>
      <p:sp>
        <p:nvSpPr>
          <p:cNvPr id="205" name="Google Shape;205;p6"/>
          <p:cNvSpPr txBox="1"/>
          <p:nvPr/>
        </p:nvSpPr>
        <p:spPr>
          <a:xfrm>
            <a:off x="166622" y="5876102"/>
            <a:ext cx="9552001" cy="5205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3. Direct traffic gives steady but moderate results</a:t>
            </a:r>
            <a:endParaRPr/>
          </a:p>
        </p:txBody>
      </p:sp>
      <p:sp>
        <p:nvSpPr>
          <p:cNvPr id="206" name="Google Shape;206;p6"/>
          <p:cNvSpPr txBox="1"/>
          <p:nvPr/>
        </p:nvSpPr>
        <p:spPr>
          <a:xfrm>
            <a:off x="166622" y="4320590"/>
            <a:ext cx="9552001" cy="1492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2. Paid Search shows extremely high ROI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75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75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6"/>
          <p:cNvSpPr txBox="1"/>
          <p:nvPr/>
        </p:nvSpPr>
        <p:spPr>
          <a:xfrm>
            <a:off x="9398623" y="2902189"/>
            <a:ext cx="9144000" cy="1006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7369" lvl="1" marL="594738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54"/>
              <a:buFont typeface="Arial"/>
              <a:buAutoNum type="arabicPeriod"/>
            </a:pPr>
            <a:r>
              <a:rPr b="1" i="0" lang="en-US" sz="27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Increase focus on Organic Search because it brings stable revenue.</a:t>
            </a:r>
            <a:endParaRPr/>
          </a:p>
        </p:txBody>
      </p:sp>
      <p:sp>
        <p:nvSpPr>
          <p:cNvPr id="208" name="Google Shape;208;p6"/>
          <p:cNvSpPr txBox="1"/>
          <p:nvPr/>
        </p:nvSpPr>
        <p:spPr>
          <a:xfrm>
            <a:off x="9718623" y="4320590"/>
            <a:ext cx="8705783" cy="1006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2.Optimize Paid Search carefully to maintain high ROI.</a:t>
            </a:r>
            <a:endParaRPr/>
          </a:p>
        </p:txBody>
      </p:sp>
      <p:sp>
        <p:nvSpPr>
          <p:cNvPr id="209" name="Google Shape;209;p6"/>
          <p:cNvSpPr txBox="1"/>
          <p:nvPr/>
        </p:nvSpPr>
        <p:spPr>
          <a:xfrm>
            <a:off x="9718623" y="5876102"/>
            <a:ext cx="7540677" cy="5205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3.Review or redesign low-revenue channels.</a:t>
            </a:r>
            <a:endParaRPr/>
          </a:p>
        </p:txBody>
      </p:sp>
      <p:sp>
        <p:nvSpPr>
          <p:cNvPr id="210" name="Google Shape;210;p6"/>
          <p:cNvSpPr txBox="1"/>
          <p:nvPr/>
        </p:nvSpPr>
        <p:spPr>
          <a:xfrm>
            <a:off x="9718623" y="6975826"/>
            <a:ext cx="8047658" cy="1492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4.Allocate budget based on both revenue and ROI, not ROI alone.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75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6"/>
          <p:cNvSpPr txBox="1"/>
          <p:nvPr/>
        </p:nvSpPr>
        <p:spPr>
          <a:xfrm>
            <a:off x="9718623" y="1714783"/>
            <a:ext cx="5933970" cy="7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sng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Recommendations: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7"/>
          <p:cNvGrpSpPr/>
          <p:nvPr/>
        </p:nvGrpSpPr>
        <p:grpSpPr>
          <a:xfrm>
            <a:off x="895408" y="8708414"/>
            <a:ext cx="16230600" cy="955112"/>
            <a:chOff x="0" y="-38100"/>
            <a:chExt cx="4274726" cy="251552"/>
          </a:xfrm>
        </p:grpSpPr>
        <p:sp>
          <p:nvSpPr>
            <p:cNvPr id="217" name="Google Shape;217;p7"/>
            <p:cNvSpPr/>
            <p:nvPr/>
          </p:nvSpPr>
          <p:spPr>
            <a:xfrm>
              <a:off x="0" y="0"/>
              <a:ext cx="4274726" cy="213452"/>
            </a:xfrm>
            <a:custGeom>
              <a:rect b="b" l="l" r="r" t="t"/>
              <a:pathLst>
                <a:path extrusionOk="0" h="213452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89125"/>
                  </a:lnTo>
                  <a:cubicBezTo>
                    <a:pt x="4274726" y="195577"/>
                    <a:pt x="4272163" y="201765"/>
                    <a:pt x="4267601" y="206327"/>
                  </a:cubicBezTo>
                  <a:cubicBezTo>
                    <a:pt x="4263039" y="210889"/>
                    <a:pt x="4256851" y="213452"/>
                    <a:pt x="4250399" y="213452"/>
                  </a:cubicBezTo>
                  <a:lnTo>
                    <a:pt x="24327" y="213452"/>
                  </a:lnTo>
                  <a:cubicBezTo>
                    <a:pt x="10891" y="213452"/>
                    <a:pt x="0" y="202561"/>
                    <a:pt x="0" y="189125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7"/>
            <p:cNvSpPr txBox="1"/>
            <p:nvPr/>
          </p:nvSpPr>
          <p:spPr>
            <a:xfrm>
              <a:off x="0" y="-38100"/>
              <a:ext cx="4274726" cy="251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9" name="Google Shape;219;p7"/>
          <p:cNvGrpSpPr/>
          <p:nvPr/>
        </p:nvGrpSpPr>
        <p:grpSpPr>
          <a:xfrm>
            <a:off x="895408" y="8708414"/>
            <a:ext cx="10901380" cy="955112"/>
            <a:chOff x="0" y="-38100"/>
            <a:chExt cx="2871145" cy="251552"/>
          </a:xfrm>
        </p:grpSpPr>
        <p:sp>
          <p:nvSpPr>
            <p:cNvPr id="220" name="Google Shape;220;p7"/>
            <p:cNvSpPr/>
            <p:nvPr/>
          </p:nvSpPr>
          <p:spPr>
            <a:xfrm>
              <a:off x="0" y="0"/>
              <a:ext cx="2871145" cy="213452"/>
            </a:xfrm>
            <a:custGeom>
              <a:rect b="b" l="l" r="r" t="t"/>
              <a:pathLst>
                <a:path extrusionOk="0" h="213452" w="2871145">
                  <a:moveTo>
                    <a:pt x="36219" y="0"/>
                  </a:moveTo>
                  <a:lnTo>
                    <a:pt x="2834926" y="0"/>
                  </a:lnTo>
                  <a:cubicBezTo>
                    <a:pt x="2844532" y="0"/>
                    <a:pt x="2853745" y="3816"/>
                    <a:pt x="2860537" y="10608"/>
                  </a:cubicBezTo>
                  <a:cubicBezTo>
                    <a:pt x="2867329" y="17401"/>
                    <a:pt x="2871145" y="26613"/>
                    <a:pt x="2871145" y="36219"/>
                  </a:cubicBezTo>
                  <a:lnTo>
                    <a:pt x="2871145" y="177233"/>
                  </a:lnTo>
                  <a:cubicBezTo>
                    <a:pt x="2871145" y="186839"/>
                    <a:pt x="2867329" y="196051"/>
                    <a:pt x="2860537" y="202844"/>
                  </a:cubicBezTo>
                  <a:cubicBezTo>
                    <a:pt x="2853745" y="209636"/>
                    <a:pt x="2844532" y="213452"/>
                    <a:pt x="2834926" y="213452"/>
                  </a:cubicBezTo>
                  <a:lnTo>
                    <a:pt x="36219" y="213452"/>
                  </a:lnTo>
                  <a:cubicBezTo>
                    <a:pt x="26613" y="213452"/>
                    <a:pt x="17401" y="209636"/>
                    <a:pt x="10608" y="202844"/>
                  </a:cubicBezTo>
                  <a:cubicBezTo>
                    <a:pt x="3816" y="196051"/>
                    <a:pt x="0" y="186839"/>
                    <a:pt x="0" y="177233"/>
                  </a:cubicBezTo>
                  <a:lnTo>
                    <a:pt x="0" y="36219"/>
                  </a:lnTo>
                  <a:cubicBezTo>
                    <a:pt x="0" y="26613"/>
                    <a:pt x="3816" y="17401"/>
                    <a:pt x="10608" y="10608"/>
                  </a:cubicBezTo>
                  <a:cubicBezTo>
                    <a:pt x="17401" y="3816"/>
                    <a:pt x="26613" y="0"/>
                    <a:pt x="36219" y="0"/>
                  </a:cubicBezTo>
                  <a:close/>
                </a:path>
              </a:pathLst>
            </a:custGeom>
            <a:solidFill>
              <a:srgbClr val="06DF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7"/>
            <p:cNvSpPr txBox="1"/>
            <p:nvPr/>
          </p:nvSpPr>
          <p:spPr>
            <a:xfrm>
              <a:off x="0" y="-38100"/>
              <a:ext cx="2871145" cy="251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2" name="Google Shape;222;p7"/>
          <p:cNvGrpSpPr/>
          <p:nvPr/>
        </p:nvGrpSpPr>
        <p:grpSpPr>
          <a:xfrm>
            <a:off x="10979066" y="8773580"/>
            <a:ext cx="662862" cy="824780"/>
            <a:chOff x="0" y="-38100"/>
            <a:chExt cx="174581" cy="217226"/>
          </a:xfrm>
        </p:grpSpPr>
        <p:sp>
          <p:nvSpPr>
            <p:cNvPr id="223" name="Google Shape;223;p7"/>
            <p:cNvSpPr/>
            <p:nvPr/>
          </p:nvSpPr>
          <p:spPr>
            <a:xfrm>
              <a:off x="0" y="0"/>
              <a:ext cx="174581" cy="179126"/>
            </a:xfrm>
            <a:custGeom>
              <a:rect b="b" l="l" r="r" t="t"/>
              <a:pathLst>
                <a:path extrusionOk="0" h="179126" w="174581">
                  <a:moveTo>
                    <a:pt x="87291" y="0"/>
                  </a:moveTo>
                  <a:lnTo>
                    <a:pt x="87291" y="0"/>
                  </a:lnTo>
                  <a:cubicBezTo>
                    <a:pt x="110441" y="0"/>
                    <a:pt x="132644" y="9197"/>
                    <a:pt x="149014" y="25567"/>
                  </a:cubicBezTo>
                  <a:cubicBezTo>
                    <a:pt x="165384" y="41937"/>
                    <a:pt x="174581" y="64140"/>
                    <a:pt x="174581" y="87291"/>
                  </a:cubicBezTo>
                  <a:lnTo>
                    <a:pt x="174581" y="91835"/>
                  </a:lnTo>
                  <a:cubicBezTo>
                    <a:pt x="174581" y="114986"/>
                    <a:pt x="165384" y="137189"/>
                    <a:pt x="149014" y="153559"/>
                  </a:cubicBezTo>
                  <a:cubicBezTo>
                    <a:pt x="132644" y="169929"/>
                    <a:pt x="110441" y="179126"/>
                    <a:pt x="87291" y="179126"/>
                  </a:cubicBezTo>
                  <a:lnTo>
                    <a:pt x="87291" y="179126"/>
                  </a:lnTo>
                  <a:cubicBezTo>
                    <a:pt x="64140" y="179126"/>
                    <a:pt x="41937" y="169929"/>
                    <a:pt x="25567" y="153559"/>
                  </a:cubicBezTo>
                  <a:cubicBezTo>
                    <a:pt x="9197" y="137189"/>
                    <a:pt x="0" y="114986"/>
                    <a:pt x="0" y="91835"/>
                  </a:cubicBezTo>
                  <a:lnTo>
                    <a:pt x="0" y="87291"/>
                  </a:lnTo>
                  <a:cubicBezTo>
                    <a:pt x="0" y="64140"/>
                    <a:pt x="9197" y="41937"/>
                    <a:pt x="25567" y="25567"/>
                  </a:cubicBezTo>
                  <a:cubicBezTo>
                    <a:pt x="41937" y="9197"/>
                    <a:pt x="64140" y="0"/>
                    <a:pt x="872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7"/>
            <p:cNvSpPr txBox="1"/>
            <p:nvPr/>
          </p:nvSpPr>
          <p:spPr>
            <a:xfrm>
              <a:off x="0" y="-38100"/>
              <a:ext cx="174581" cy="2172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5" name="Google Shape;225;p7"/>
          <p:cNvSpPr/>
          <p:nvPr/>
        </p:nvSpPr>
        <p:spPr>
          <a:xfrm flipH="1">
            <a:off x="15876229" y="-682735"/>
            <a:ext cx="3141820" cy="3141820"/>
          </a:xfrm>
          <a:custGeom>
            <a:rect b="b" l="l" r="r" t="t"/>
            <a:pathLst>
              <a:path extrusionOk="0" h="3141820" w="3141820">
                <a:moveTo>
                  <a:pt x="0" y="3141820"/>
                </a:moveTo>
                <a:lnTo>
                  <a:pt x="3141820" y="3141820"/>
                </a:lnTo>
                <a:lnTo>
                  <a:pt x="3141820" y="0"/>
                </a:lnTo>
                <a:lnTo>
                  <a:pt x="0" y="0"/>
                </a:lnTo>
                <a:lnTo>
                  <a:pt x="0" y="314182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6" name="Google Shape;226;p7"/>
          <p:cNvSpPr/>
          <p:nvPr/>
        </p:nvSpPr>
        <p:spPr>
          <a:xfrm>
            <a:off x="1028700" y="611194"/>
            <a:ext cx="650744" cy="515862"/>
          </a:xfrm>
          <a:custGeom>
            <a:rect b="b" l="l" r="r" t="t"/>
            <a:pathLst>
              <a:path extrusionOk="0" h="515862" w="650744">
                <a:moveTo>
                  <a:pt x="0" y="0"/>
                </a:moveTo>
                <a:lnTo>
                  <a:pt x="650744" y="0"/>
                </a:lnTo>
                <a:lnTo>
                  <a:pt x="650744" y="515862"/>
                </a:lnTo>
                <a:lnTo>
                  <a:pt x="0" y="5158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7" name="Google Shape;227;p7"/>
          <p:cNvSpPr/>
          <p:nvPr/>
        </p:nvSpPr>
        <p:spPr>
          <a:xfrm>
            <a:off x="3138852" y="1660023"/>
            <a:ext cx="11743713" cy="6356425"/>
          </a:xfrm>
          <a:custGeom>
            <a:rect b="b" l="l" r="r" t="t"/>
            <a:pathLst>
              <a:path extrusionOk="0" h="6356425" w="11743713">
                <a:moveTo>
                  <a:pt x="0" y="0"/>
                </a:moveTo>
                <a:lnTo>
                  <a:pt x="11743712" y="0"/>
                </a:lnTo>
                <a:lnTo>
                  <a:pt x="11743712" y="6356424"/>
                </a:lnTo>
                <a:lnTo>
                  <a:pt x="0" y="63564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262" r="-263" t="-1917"/>
            </a:stretch>
          </a:blipFill>
          <a:ln>
            <a:noFill/>
          </a:ln>
        </p:spPr>
      </p:sp>
      <p:sp>
        <p:nvSpPr>
          <p:cNvPr id="228" name="Google Shape;228;p7"/>
          <p:cNvSpPr txBox="1"/>
          <p:nvPr/>
        </p:nvSpPr>
        <p:spPr>
          <a:xfrm>
            <a:off x="1880696" y="590737"/>
            <a:ext cx="7263304" cy="586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4" u="none" cap="none" strike="noStrike">
                <a:solidFill>
                  <a:srgbClr val="06DFD2"/>
                </a:solidFill>
                <a:latin typeface="Arial"/>
                <a:ea typeface="Arial"/>
                <a:cs typeface="Arial"/>
                <a:sym typeface="Arial"/>
              </a:rPr>
              <a:t>Dashboard Visualization-2</a:t>
            </a:r>
            <a:endParaRPr/>
          </a:p>
        </p:txBody>
      </p:sp>
      <p:sp>
        <p:nvSpPr>
          <p:cNvPr id="229" name="Google Shape;229;p7"/>
          <p:cNvSpPr txBox="1"/>
          <p:nvPr/>
        </p:nvSpPr>
        <p:spPr>
          <a:xfrm>
            <a:off x="12221162" y="8156373"/>
            <a:ext cx="7310133" cy="461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Insights , recommendations -----&gt;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oogle Shape;234;p8"/>
          <p:cNvGrpSpPr/>
          <p:nvPr/>
        </p:nvGrpSpPr>
        <p:grpSpPr>
          <a:xfrm>
            <a:off x="1028700" y="8493688"/>
            <a:ext cx="16230600" cy="955112"/>
            <a:chOff x="0" y="-38100"/>
            <a:chExt cx="4274726" cy="251552"/>
          </a:xfrm>
        </p:grpSpPr>
        <p:sp>
          <p:nvSpPr>
            <p:cNvPr id="235" name="Google Shape;235;p8"/>
            <p:cNvSpPr/>
            <p:nvPr/>
          </p:nvSpPr>
          <p:spPr>
            <a:xfrm>
              <a:off x="0" y="0"/>
              <a:ext cx="4274726" cy="213452"/>
            </a:xfrm>
            <a:custGeom>
              <a:rect b="b" l="l" r="r" t="t"/>
              <a:pathLst>
                <a:path extrusionOk="0" h="213452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89125"/>
                  </a:lnTo>
                  <a:cubicBezTo>
                    <a:pt x="4274726" y="195577"/>
                    <a:pt x="4272163" y="201765"/>
                    <a:pt x="4267601" y="206327"/>
                  </a:cubicBezTo>
                  <a:cubicBezTo>
                    <a:pt x="4263039" y="210889"/>
                    <a:pt x="4256851" y="213452"/>
                    <a:pt x="4250399" y="213452"/>
                  </a:cubicBezTo>
                  <a:lnTo>
                    <a:pt x="24327" y="213452"/>
                  </a:lnTo>
                  <a:cubicBezTo>
                    <a:pt x="10891" y="213452"/>
                    <a:pt x="0" y="202561"/>
                    <a:pt x="0" y="189125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8"/>
            <p:cNvSpPr txBox="1"/>
            <p:nvPr/>
          </p:nvSpPr>
          <p:spPr>
            <a:xfrm>
              <a:off x="0" y="-38100"/>
              <a:ext cx="4274726" cy="251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7" name="Google Shape;237;p8"/>
          <p:cNvGrpSpPr/>
          <p:nvPr/>
        </p:nvGrpSpPr>
        <p:grpSpPr>
          <a:xfrm>
            <a:off x="1028700" y="8493688"/>
            <a:ext cx="12622829" cy="955112"/>
            <a:chOff x="0" y="-38100"/>
            <a:chExt cx="3324531" cy="251552"/>
          </a:xfrm>
        </p:grpSpPr>
        <p:sp>
          <p:nvSpPr>
            <p:cNvPr id="238" name="Google Shape;238;p8"/>
            <p:cNvSpPr/>
            <p:nvPr/>
          </p:nvSpPr>
          <p:spPr>
            <a:xfrm>
              <a:off x="0" y="0"/>
              <a:ext cx="3324531" cy="213452"/>
            </a:xfrm>
            <a:custGeom>
              <a:rect b="b" l="l" r="r" t="t"/>
              <a:pathLst>
                <a:path extrusionOk="0" h="213452" w="3324531">
                  <a:moveTo>
                    <a:pt x="31280" y="0"/>
                  </a:moveTo>
                  <a:lnTo>
                    <a:pt x="3293252" y="0"/>
                  </a:lnTo>
                  <a:cubicBezTo>
                    <a:pt x="3301547" y="0"/>
                    <a:pt x="3309503" y="3296"/>
                    <a:pt x="3315370" y="9162"/>
                  </a:cubicBezTo>
                  <a:cubicBezTo>
                    <a:pt x="3321236" y="15028"/>
                    <a:pt x="3324531" y="22984"/>
                    <a:pt x="3324531" y="31280"/>
                  </a:cubicBezTo>
                  <a:lnTo>
                    <a:pt x="3324531" y="182172"/>
                  </a:lnTo>
                  <a:cubicBezTo>
                    <a:pt x="3324531" y="190468"/>
                    <a:pt x="3321236" y="198424"/>
                    <a:pt x="3315370" y="204290"/>
                  </a:cubicBezTo>
                  <a:cubicBezTo>
                    <a:pt x="3309503" y="210156"/>
                    <a:pt x="3301547" y="213452"/>
                    <a:pt x="3293252" y="213452"/>
                  </a:cubicBezTo>
                  <a:lnTo>
                    <a:pt x="31280" y="213452"/>
                  </a:lnTo>
                  <a:cubicBezTo>
                    <a:pt x="22984" y="213452"/>
                    <a:pt x="15028" y="210156"/>
                    <a:pt x="9162" y="204290"/>
                  </a:cubicBezTo>
                  <a:cubicBezTo>
                    <a:pt x="3296" y="198424"/>
                    <a:pt x="0" y="190468"/>
                    <a:pt x="0" y="182172"/>
                  </a:cubicBezTo>
                  <a:lnTo>
                    <a:pt x="0" y="31280"/>
                  </a:lnTo>
                  <a:cubicBezTo>
                    <a:pt x="0" y="22984"/>
                    <a:pt x="3296" y="15028"/>
                    <a:pt x="9162" y="9162"/>
                  </a:cubicBezTo>
                  <a:cubicBezTo>
                    <a:pt x="15028" y="3296"/>
                    <a:pt x="22984" y="0"/>
                    <a:pt x="31280" y="0"/>
                  </a:cubicBezTo>
                  <a:close/>
                </a:path>
              </a:pathLst>
            </a:custGeom>
            <a:solidFill>
              <a:srgbClr val="06DF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8"/>
            <p:cNvSpPr txBox="1"/>
            <p:nvPr/>
          </p:nvSpPr>
          <p:spPr>
            <a:xfrm>
              <a:off x="0" y="-38100"/>
              <a:ext cx="3324531" cy="251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0" name="Google Shape;240;p8"/>
          <p:cNvGrpSpPr/>
          <p:nvPr/>
        </p:nvGrpSpPr>
        <p:grpSpPr>
          <a:xfrm>
            <a:off x="12905551" y="8558854"/>
            <a:ext cx="662862" cy="824780"/>
            <a:chOff x="0" y="-38100"/>
            <a:chExt cx="174581" cy="217226"/>
          </a:xfrm>
        </p:grpSpPr>
        <p:sp>
          <p:nvSpPr>
            <p:cNvPr id="241" name="Google Shape;241;p8"/>
            <p:cNvSpPr/>
            <p:nvPr/>
          </p:nvSpPr>
          <p:spPr>
            <a:xfrm>
              <a:off x="0" y="0"/>
              <a:ext cx="174581" cy="179126"/>
            </a:xfrm>
            <a:custGeom>
              <a:rect b="b" l="l" r="r" t="t"/>
              <a:pathLst>
                <a:path extrusionOk="0" h="179126" w="174581">
                  <a:moveTo>
                    <a:pt x="87291" y="0"/>
                  </a:moveTo>
                  <a:lnTo>
                    <a:pt x="87291" y="0"/>
                  </a:lnTo>
                  <a:cubicBezTo>
                    <a:pt x="110441" y="0"/>
                    <a:pt x="132644" y="9197"/>
                    <a:pt x="149014" y="25567"/>
                  </a:cubicBezTo>
                  <a:cubicBezTo>
                    <a:pt x="165384" y="41937"/>
                    <a:pt x="174581" y="64140"/>
                    <a:pt x="174581" y="87291"/>
                  </a:cubicBezTo>
                  <a:lnTo>
                    <a:pt x="174581" y="91835"/>
                  </a:lnTo>
                  <a:cubicBezTo>
                    <a:pt x="174581" y="114986"/>
                    <a:pt x="165384" y="137189"/>
                    <a:pt x="149014" y="153559"/>
                  </a:cubicBezTo>
                  <a:cubicBezTo>
                    <a:pt x="132644" y="169929"/>
                    <a:pt x="110441" y="179126"/>
                    <a:pt x="87291" y="179126"/>
                  </a:cubicBezTo>
                  <a:lnTo>
                    <a:pt x="87291" y="179126"/>
                  </a:lnTo>
                  <a:cubicBezTo>
                    <a:pt x="64140" y="179126"/>
                    <a:pt x="41937" y="169929"/>
                    <a:pt x="25567" y="153559"/>
                  </a:cubicBezTo>
                  <a:cubicBezTo>
                    <a:pt x="9197" y="137189"/>
                    <a:pt x="0" y="114986"/>
                    <a:pt x="0" y="91835"/>
                  </a:cubicBezTo>
                  <a:lnTo>
                    <a:pt x="0" y="87291"/>
                  </a:lnTo>
                  <a:cubicBezTo>
                    <a:pt x="0" y="64140"/>
                    <a:pt x="9197" y="41937"/>
                    <a:pt x="25567" y="25567"/>
                  </a:cubicBezTo>
                  <a:cubicBezTo>
                    <a:pt x="41937" y="9197"/>
                    <a:pt x="64140" y="0"/>
                    <a:pt x="872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8"/>
            <p:cNvSpPr txBox="1"/>
            <p:nvPr/>
          </p:nvSpPr>
          <p:spPr>
            <a:xfrm>
              <a:off x="0" y="-38100"/>
              <a:ext cx="174581" cy="2172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3" name="Google Shape;243;p8"/>
          <p:cNvSpPr/>
          <p:nvPr/>
        </p:nvSpPr>
        <p:spPr>
          <a:xfrm rot="10800000">
            <a:off x="15645942" y="-312403"/>
            <a:ext cx="3624682" cy="3624682"/>
          </a:xfrm>
          <a:custGeom>
            <a:rect b="b" l="l" r="r" t="t"/>
            <a:pathLst>
              <a:path extrusionOk="0" h="3624682" w="3624682">
                <a:moveTo>
                  <a:pt x="0" y="0"/>
                </a:moveTo>
                <a:lnTo>
                  <a:pt x="3624682" y="0"/>
                </a:lnTo>
                <a:lnTo>
                  <a:pt x="3624682" y="3624682"/>
                </a:lnTo>
                <a:lnTo>
                  <a:pt x="0" y="36246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4" name="Google Shape;244;p8"/>
          <p:cNvSpPr/>
          <p:nvPr/>
        </p:nvSpPr>
        <p:spPr>
          <a:xfrm>
            <a:off x="1028700" y="611194"/>
            <a:ext cx="650744" cy="515862"/>
          </a:xfrm>
          <a:custGeom>
            <a:rect b="b" l="l" r="r" t="t"/>
            <a:pathLst>
              <a:path extrusionOk="0" h="515862" w="650744">
                <a:moveTo>
                  <a:pt x="0" y="0"/>
                </a:moveTo>
                <a:lnTo>
                  <a:pt x="650744" y="0"/>
                </a:lnTo>
                <a:lnTo>
                  <a:pt x="650744" y="515862"/>
                </a:lnTo>
                <a:lnTo>
                  <a:pt x="0" y="5158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5" name="Google Shape;245;p8"/>
          <p:cNvSpPr txBox="1"/>
          <p:nvPr/>
        </p:nvSpPr>
        <p:spPr>
          <a:xfrm>
            <a:off x="1880696" y="590737"/>
            <a:ext cx="12783639" cy="586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4" u="none" cap="none" strike="noStrike">
                <a:solidFill>
                  <a:srgbClr val="06DFD2"/>
                </a:solidFill>
                <a:latin typeface="Arial"/>
                <a:ea typeface="Arial"/>
                <a:cs typeface="Arial"/>
                <a:sym typeface="Arial"/>
              </a:rPr>
              <a:t>Dashboard - 2  Key Insights  &amp; Recommendations </a:t>
            </a:r>
            <a:endParaRPr/>
          </a:p>
        </p:txBody>
      </p:sp>
      <p:sp>
        <p:nvSpPr>
          <p:cNvPr id="246" name="Google Shape;246;p8"/>
          <p:cNvSpPr txBox="1"/>
          <p:nvPr/>
        </p:nvSpPr>
        <p:spPr>
          <a:xfrm>
            <a:off x="516506" y="1714783"/>
            <a:ext cx="5933970" cy="7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sng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Insights :</a:t>
            </a:r>
            <a:endParaRPr/>
          </a:p>
        </p:txBody>
      </p:sp>
      <p:sp>
        <p:nvSpPr>
          <p:cNvPr id="247" name="Google Shape;247;p8"/>
          <p:cNvSpPr txBox="1"/>
          <p:nvPr/>
        </p:nvSpPr>
        <p:spPr>
          <a:xfrm>
            <a:off x="9718623" y="1714783"/>
            <a:ext cx="5933970" cy="7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sng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Recommendations:</a:t>
            </a:r>
            <a:endParaRPr/>
          </a:p>
        </p:txBody>
      </p:sp>
      <p:sp>
        <p:nvSpPr>
          <p:cNvPr id="248" name="Google Shape;248;p8"/>
          <p:cNvSpPr txBox="1"/>
          <p:nvPr/>
        </p:nvSpPr>
        <p:spPr>
          <a:xfrm>
            <a:off x="166622" y="2902189"/>
            <a:ext cx="9552001" cy="5205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7369" lvl="1" marL="594738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54"/>
              <a:buFont typeface="Arial"/>
              <a:buAutoNum type="arabicPeriod"/>
            </a:pPr>
            <a:r>
              <a:rPr b="1" i="0" lang="en-US" sz="27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Organic Video has the highest engagement</a:t>
            </a:r>
            <a:endParaRPr/>
          </a:p>
        </p:txBody>
      </p:sp>
      <p:sp>
        <p:nvSpPr>
          <p:cNvPr id="249" name="Google Shape;249;p8"/>
          <p:cNvSpPr txBox="1"/>
          <p:nvPr/>
        </p:nvSpPr>
        <p:spPr>
          <a:xfrm>
            <a:off x="166622" y="4320590"/>
            <a:ext cx="9552001" cy="1006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2. Referral traffic shows strong user quality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75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8"/>
          <p:cNvSpPr txBox="1"/>
          <p:nvPr/>
        </p:nvSpPr>
        <p:spPr>
          <a:xfrm>
            <a:off x="166622" y="5736521"/>
            <a:ext cx="9552001" cy="1006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3. High sessions do not always mean high 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    engagement</a:t>
            </a:r>
            <a:endParaRPr/>
          </a:p>
        </p:txBody>
      </p:sp>
      <p:sp>
        <p:nvSpPr>
          <p:cNvPr id="251" name="Google Shape;251;p8"/>
          <p:cNvSpPr txBox="1"/>
          <p:nvPr/>
        </p:nvSpPr>
        <p:spPr>
          <a:xfrm>
            <a:off x="516506" y="7204838"/>
            <a:ext cx="9552001" cy="5205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4.Overall conversion actions are low</a:t>
            </a:r>
            <a:endParaRPr/>
          </a:p>
        </p:txBody>
      </p:sp>
      <p:sp>
        <p:nvSpPr>
          <p:cNvPr id="252" name="Google Shape;252;p8"/>
          <p:cNvSpPr txBox="1"/>
          <p:nvPr/>
        </p:nvSpPr>
        <p:spPr>
          <a:xfrm>
            <a:off x="9398623" y="2902189"/>
            <a:ext cx="9144000" cy="1006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7369" lvl="1" marL="594738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54"/>
              <a:buFont typeface="Arial"/>
              <a:buAutoNum type="arabicPeriod"/>
            </a:pPr>
            <a:r>
              <a:rPr b="1" i="0" lang="en-US" sz="27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Invest more in high-engagement channels like Organic Video.</a:t>
            </a:r>
            <a:endParaRPr/>
          </a:p>
        </p:txBody>
      </p:sp>
      <p:sp>
        <p:nvSpPr>
          <p:cNvPr id="253" name="Google Shape;253;p8"/>
          <p:cNvSpPr txBox="1"/>
          <p:nvPr/>
        </p:nvSpPr>
        <p:spPr>
          <a:xfrm>
            <a:off x="9718623" y="4320590"/>
            <a:ext cx="8705783" cy="1006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2.Improve website content and call-to-action elements.</a:t>
            </a:r>
            <a:endParaRPr/>
          </a:p>
        </p:txBody>
      </p:sp>
      <p:sp>
        <p:nvSpPr>
          <p:cNvPr id="254" name="Google Shape;254;p8"/>
          <p:cNvSpPr txBox="1"/>
          <p:nvPr/>
        </p:nvSpPr>
        <p:spPr>
          <a:xfrm>
            <a:off x="9718623" y="5876102"/>
            <a:ext cx="7540677" cy="1006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3.Optimize landing pages to increase conversions.</a:t>
            </a:r>
            <a:endParaRPr/>
          </a:p>
        </p:txBody>
      </p:sp>
      <p:sp>
        <p:nvSpPr>
          <p:cNvPr id="255" name="Google Shape;255;p8"/>
          <p:cNvSpPr txBox="1"/>
          <p:nvPr/>
        </p:nvSpPr>
        <p:spPr>
          <a:xfrm>
            <a:off x="9718623" y="7211384"/>
            <a:ext cx="8047658" cy="1492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4.Focus on improving user experience, not just traffic numbers.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75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Google Shape;260;p9"/>
          <p:cNvGrpSpPr/>
          <p:nvPr/>
        </p:nvGrpSpPr>
        <p:grpSpPr>
          <a:xfrm>
            <a:off x="1028700" y="8493688"/>
            <a:ext cx="16230600" cy="955112"/>
            <a:chOff x="0" y="-38100"/>
            <a:chExt cx="4274726" cy="251552"/>
          </a:xfrm>
        </p:grpSpPr>
        <p:sp>
          <p:nvSpPr>
            <p:cNvPr id="261" name="Google Shape;261;p9"/>
            <p:cNvSpPr/>
            <p:nvPr/>
          </p:nvSpPr>
          <p:spPr>
            <a:xfrm>
              <a:off x="0" y="0"/>
              <a:ext cx="4274726" cy="213452"/>
            </a:xfrm>
            <a:custGeom>
              <a:rect b="b" l="l" r="r" t="t"/>
              <a:pathLst>
                <a:path extrusionOk="0" h="213452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89125"/>
                  </a:lnTo>
                  <a:cubicBezTo>
                    <a:pt x="4274726" y="195577"/>
                    <a:pt x="4272163" y="201765"/>
                    <a:pt x="4267601" y="206327"/>
                  </a:cubicBezTo>
                  <a:cubicBezTo>
                    <a:pt x="4263039" y="210889"/>
                    <a:pt x="4256851" y="213452"/>
                    <a:pt x="4250399" y="213452"/>
                  </a:cubicBezTo>
                  <a:lnTo>
                    <a:pt x="24327" y="213452"/>
                  </a:lnTo>
                  <a:cubicBezTo>
                    <a:pt x="10891" y="213452"/>
                    <a:pt x="0" y="202561"/>
                    <a:pt x="0" y="189125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9"/>
            <p:cNvSpPr txBox="1"/>
            <p:nvPr/>
          </p:nvSpPr>
          <p:spPr>
            <a:xfrm>
              <a:off x="0" y="-38100"/>
              <a:ext cx="4274726" cy="251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3" name="Google Shape;263;p9"/>
          <p:cNvGrpSpPr/>
          <p:nvPr/>
        </p:nvGrpSpPr>
        <p:grpSpPr>
          <a:xfrm>
            <a:off x="1028700" y="8493688"/>
            <a:ext cx="14149295" cy="955112"/>
            <a:chOff x="0" y="-38100"/>
            <a:chExt cx="3726563" cy="251552"/>
          </a:xfrm>
        </p:grpSpPr>
        <p:sp>
          <p:nvSpPr>
            <p:cNvPr id="264" name="Google Shape;264;p9"/>
            <p:cNvSpPr/>
            <p:nvPr/>
          </p:nvSpPr>
          <p:spPr>
            <a:xfrm>
              <a:off x="0" y="0"/>
              <a:ext cx="3726563" cy="213452"/>
            </a:xfrm>
            <a:custGeom>
              <a:rect b="b" l="l" r="r" t="t"/>
              <a:pathLst>
                <a:path extrusionOk="0" h="213452" w="3726563">
                  <a:moveTo>
                    <a:pt x="27905" y="0"/>
                  </a:moveTo>
                  <a:lnTo>
                    <a:pt x="3698658" y="0"/>
                  </a:lnTo>
                  <a:cubicBezTo>
                    <a:pt x="3714070" y="0"/>
                    <a:pt x="3726563" y="12494"/>
                    <a:pt x="3726563" y="27905"/>
                  </a:cubicBezTo>
                  <a:lnTo>
                    <a:pt x="3726563" y="185547"/>
                  </a:lnTo>
                  <a:cubicBezTo>
                    <a:pt x="3726563" y="192948"/>
                    <a:pt x="3723623" y="200046"/>
                    <a:pt x="3718390" y="205279"/>
                  </a:cubicBezTo>
                  <a:cubicBezTo>
                    <a:pt x="3713157" y="210512"/>
                    <a:pt x="3706059" y="213452"/>
                    <a:pt x="3698658" y="213452"/>
                  </a:cubicBezTo>
                  <a:lnTo>
                    <a:pt x="27905" y="213452"/>
                  </a:lnTo>
                  <a:cubicBezTo>
                    <a:pt x="12494" y="213452"/>
                    <a:pt x="0" y="200958"/>
                    <a:pt x="0" y="185547"/>
                  </a:cubicBezTo>
                  <a:lnTo>
                    <a:pt x="0" y="27905"/>
                  </a:lnTo>
                  <a:cubicBezTo>
                    <a:pt x="0" y="12494"/>
                    <a:pt x="12494" y="0"/>
                    <a:pt x="27905" y="0"/>
                  </a:cubicBezTo>
                  <a:close/>
                </a:path>
              </a:pathLst>
            </a:custGeom>
            <a:solidFill>
              <a:srgbClr val="06DF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9"/>
            <p:cNvSpPr txBox="1"/>
            <p:nvPr/>
          </p:nvSpPr>
          <p:spPr>
            <a:xfrm>
              <a:off x="0" y="-38100"/>
              <a:ext cx="3726563" cy="251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6" name="Google Shape;266;p9"/>
          <p:cNvGrpSpPr/>
          <p:nvPr/>
        </p:nvGrpSpPr>
        <p:grpSpPr>
          <a:xfrm>
            <a:off x="14412213" y="8558854"/>
            <a:ext cx="662862" cy="824780"/>
            <a:chOff x="0" y="-38100"/>
            <a:chExt cx="174581" cy="217226"/>
          </a:xfrm>
        </p:grpSpPr>
        <p:sp>
          <p:nvSpPr>
            <p:cNvPr id="267" name="Google Shape;267;p9"/>
            <p:cNvSpPr/>
            <p:nvPr/>
          </p:nvSpPr>
          <p:spPr>
            <a:xfrm>
              <a:off x="0" y="0"/>
              <a:ext cx="174581" cy="179126"/>
            </a:xfrm>
            <a:custGeom>
              <a:rect b="b" l="l" r="r" t="t"/>
              <a:pathLst>
                <a:path extrusionOk="0" h="179126" w="174581">
                  <a:moveTo>
                    <a:pt x="87291" y="0"/>
                  </a:moveTo>
                  <a:lnTo>
                    <a:pt x="87291" y="0"/>
                  </a:lnTo>
                  <a:cubicBezTo>
                    <a:pt x="110441" y="0"/>
                    <a:pt x="132644" y="9197"/>
                    <a:pt x="149014" y="25567"/>
                  </a:cubicBezTo>
                  <a:cubicBezTo>
                    <a:pt x="165384" y="41937"/>
                    <a:pt x="174581" y="64140"/>
                    <a:pt x="174581" y="87291"/>
                  </a:cubicBezTo>
                  <a:lnTo>
                    <a:pt x="174581" y="91835"/>
                  </a:lnTo>
                  <a:cubicBezTo>
                    <a:pt x="174581" y="114986"/>
                    <a:pt x="165384" y="137189"/>
                    <a:pt x="149014" y="153559"/>
                  </a:cubicBezTo>
                  <a:cubicBezTo>
                    <a:pt x="132644" y="169929"/>
                    <a:pt x="110441" y="179126"/>
                    <a:pt x="87291" y="179126"/>
                  </a:cubicBezTo>
                  <a:lnTo>
                    <a:pt x="87291" y="179126"/>
                  </a:lnTo>
                  <a:cubicBezTo>
                    <a:pt x="64140" y="179126"/>
                    <a:pt x="41937" y="169929"/>
                    <a:pt x="25567" y="153559"/>
                  </a:cubicBezTo>
                  <a:cubicBezTo>
                    <a:pt x="9197" y="137189"/>
                    <a:pt x="0" y="114986"/>
                    <a:pt x="0" y="91835"/>
                  </a:cubicBezTo>
                  <a:lnTo>
                    <a:pt x="0" y="87291"/>
                  </a:lnTo>
                  <a:cubicBezTo>
                    <a:pt x="0" y="64140"/>
                    <a:pt x="9197" y="41937"/>
                    <a:pt x="25567" y="25567"/>
                  </a:cubicBezTo>
                  <a:cubicBezTo>
                    <a:pt x="41937" y="9197"/>
                    <a:pt x="64140" y="0"/>
                    <a:pt x="872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9"/>
            <p:cNvSpPr txBox="1"/>
            <p:nvPr/>
          </p:nvSpPr>
          <p:spPr>
            <a:xfrm>
              <a:off x="0" y="-38100"/>
              <a:ext cx="174581" cy="2172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9" name="Google Shape;269;p9"/>
          <p:cNvSpPr/>
          <p:nvPr/>
        </p:nvSpPr>
        <p:spPr>
          <a:xfrm>
            <a:off x="1028700" y="611194"/>
            <a:ext cx="650744" cy="515862"/>
          </a:xfrm>
          <a:custGeom>
            <a:rect b="b" l="l" r="r" t="t"/>
            <a:pathLst>
              <a:path extrusionOk="0" h="515862" w="650744">
                <a:moveTo>
                  <a:pt x="0" y="0"/>
                </a:moveTo>
                <a:lnTo>
                  <a:pt x="650744" y="0"/>
                </a:lnTo>
                <a:lnTo>
                  <a:pt x="650744" y="515862"/>
                </a:lnTo>
                <a:lnTo>
                  <a:pt x="0" y="5158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0" name="Google Shape;270;p9"/>
          <p:cNvSpPr txBox="1"/>
          <p:nvPr/>
        </p:nvSpPr>
        <p:spPr>
          <a:xfrm>
            <a:off x="3364975" y="2135323"/>
            <a:ext cx="13096136" cy="105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 a Digital marketing consultant </a:t>
            </a:r>
            <a:endParaRPr/>
          </a:p>
        </p:txBody>
      </p:sp>
      <p:sp>
        <p:nvSpPr>
          <p:cNvPr id="271" name="Google Shape;271;p9"/>
          <p:cNvSpPr txBox="1"/>
          <p:nvPr/>
        </p:nvSpPr>
        <p:spPr>
          <a:xfrm>
            <a:off x="6335985" y="565465"/>
            <a:ext cx="5616029" cy="993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0" u="none" cap="none" strike="noStrike">
                <a:solidFill>
                  <a:srgbClr val="06DFD2"/>
                </a:solidFill>
                <a:latin typeface="Arial"/>
                <a:ea typeface="Arial"/>
                <a:cs typeface="Arial"/>
                <a:sym typeface="Arial"/>
              </a:rPr>
              <a:t>Conclusion </a:t>
            </a:r>
            <a:endParaRPr/>
          </a:p>
        </p:txBody>
      </p:sp>
      <p:sp>
        <p:nvSpPr>
          <p:cNvPr id="272" name="Google Shape;272;p9"/>
          <p:cNvSpPr txBox="1"/>
          <p:nvPr/>
        </p:nvSpPr>
        <p:spPr>
          <a:xfrm>
            <a:off x="1645465" y="4144047"/>
            <a:ext cx="15777067" cy="35380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This project used data analytics and dashboards to evaluate the performance of digital marketing campaigns across multiple channels. The analysis helped identify high-performing channels in terms of revenue, ROI, and user engagement. Insights from the dashboards support data-driven decisions to optimize marketing spend and improve campaign effectiveness. Overall, the project demonstrates how analytics can enhance ROI and client satisfaction through better strategic planning.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Google Shape;277;p10"/>
          <p:cNvGrpSpPr/>
          <p:nvPr/>
        </p:nvGrpSpPr>
        <p:grpSpPr>
          <a:xfrm>
            <a:off x="1028700" y="8493688"/>
            <a:ext cx="16230600" cy="955112"/>
            <a:chOff x="0" y="-38100"/>
            <a:chExt cx="4274726" cy="251552"/>
          </a:xfrm>
        </p:grpSpPr>
        <p:sp>
          <p:nvSpPr>
            <p:cNvPr id="278" name="Google Shape;278;p10"/>
            <p:cNvSpPr/>
            <p:nvPr/>
          </p:nvSpPr>
          <p:spPr>
            <a:xfrm>
              <a:off x="0" y="0"/>
              <a:ext cx="4274726" cy="213452"/>
            </a:xfrm>
            <a:custGeom>
              <a:rect b="b" l="l" r="r" t="t"/>
              <a:pathLst>
                <a:path extrusionOk="0" h="213452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89125"/>
                  </a:lnTo>
                  <a:cubicBezTo>
                    <a:pt x="4274726" y="195577"/>
                    <a:pt x="4272163" y="201765"/>
                    <a:pt x="4267601" y="206327"/>
                  </a:cubicBezTo>
                  <a:cubicBezTo>
                    <a:pt x="4263039" y="210889"/>
                    <a:pt x="4256851" y="213452"/>
                    <a:pt x="4250399" y="213452"/>
                  </a:cubicBezTo>
                  <a:lnTo>
                    <a:pt x="24327" y="213452"/>
                  </a:lnTo>
                  <a:cubicBezTo>
                    <a:pt x="10891" y="213452"/>
                    <a:pt x="0" y="202561"/>
                    <a:pt x="0" y="189125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0"/>
            <p:cNvSpPr txBox="1"/>
            <p:nvPr/>
          </p:nvSpPr>
          <p:spPr>
            <a:xfrm>
              <a:off x="0" y="-38100"/>
              <a:ext cx="4274726" cy="251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0" name="Google Shape;280;p10"/>
          <p:cNvGrpSpPr/>
          <p:nvPr/>
        </p:nvGrpSpPr>
        <p:grpSpPr>
          <a:xfrm>
            <a:off x="1028700" y="8493688"/>
            <a:ext cx="16230600" cy="955112"/>
            <a:chOff x="0" y="-38100"/>
            <a:chExt cx="4274726" cy="251552"/>
          </a:xfrm>
        </p:grpSpPr>
        <p:sp>
          <p:nvSpPr>
            <p:cNvPr id="281" name="Google Shape;281;p10"/>
            <p:cNvSpPr/>
            <p:nvPr/>
          </p:nvSpPr>
          <p:spPr>
            <a:xfrm>
              <a:off x="0" y="0"/>
              <a:ext cx="4274726" cy="213452"/>
            </a:xfrm>
            <a:custGeom>
              <a:rect b="b" l="l" r="r" t="t"/>
              <a:pathLst>
                <a:path extrusionOk="0" h="213452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89125"/>
                  </a:lnTo>
                  <a:cubicBezTo>
                    <a:pt x="4274726" y="195577"/>
                    <a:pt x="4272163" y="201765"/>
                    <a:pt x="4267601" y="206327"/>
                  </a:cubicBezTo>
                  <a:cubicBezTo>
                    <a:pt x="4263039" y="210889"/>
                    <a:pt x="4256851" y="213452"/>
                    <a:pt x="4250399" y="213452"/>
                  </a:cubicBezTo>
                  <a:lnTo>
                    <a:pt x="24327" y="213452"/>
                  </a:lnTo>
                  <a:cubicBezTo>
                    <a:pt x="10891" y="213452"/>
                    <a:pt x="0" y="202561"/>
                    <a:pt x="0" y="189125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06DF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0"/>
            <p:cNvSpPr txBox="1"/>
            <p:nvPr/>
          </p:nvSpPr>
          <p:spPr>
            <a:xfrm>
              <a:off x="0" y="-38100"/>
              <a:ext cx="4274726" cy="251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3" name="Google Shape;283;p10"/>
          <p:cNvGrpSpPr/>
          <p:nvPr/>
        </p:nvGrpSpPr>
        <p:grpSpPr>
          <a:xfrm>
            <a:off x="16508199" y="8558854"/>
            <a:ext cx="662862" cy="824780"/>
            <a:chOff x="0" y="-38100"/>
            <a:chExt cx="174581" cy="217226"/>
          </a:xfrm>
        </p:grpSpPr>
        <p:sp>
          <p:nvSpPr>
            <p:cNvPr id="284" name="Google Shape;284;p10"/>
            <p:cNvSpPr/>
            <p:nvPr/>
          </p:nvSpPr>
          <p:spPr>
            <a:xfrm>
              <a:off x="0" y="0"/>
              <a:ext cx="174581" cy="179126"/>
            </a:xfrm>
            <a:custGeom>
              <a:rect b="b" l="l" r="r" t="t"/>
              <a:pathLst>
                <a:path extrusionOk="0" h="179126" w="174581">
                  <a:moveTo>
                    <a:pt x="87291" y="0"/>
                  </a:moveTo>
                  <a:lnTo>
                    <a:pt x="87291" y="0"/>
                  </a:lnTo>
                  <a:cubicBezTo>
                    <a:pt x="110441" y="0"/>
                    <a:pt x="132644" y="9197"/>
                    <a:pt x="149014" y="25567"/>
                  </a:cubicBezTo>
                  <a:cubicBezTo>
                    <a:pt x="165384" y="41937"/>
                    <a:pt x="174581" y="64140"/>
                    <a:pt x="174581" y="87291"/>
                  </a:cubicBezTo>
                  <a:lnTo>
                    <a:pt x="174581" y="91835"/>
                  </a:lnTo>
                  <a:cubicBezTo>
                    <a:pt x="174581" y="114986"/>
                    <a:pt x="165384" y="137189"/>
                    <a:pt x="149014" y="153559"/>
                  </a:cubicBezTo>
                  <a:cubicBezTo>
                    <a:pt x="132644" y="169929"/>
                    <a:pt x="110441" y="179126"/>
                    <a:pt x="87291" y="179126"/>
                  </a:cubicBezTo>
                  <a:lnTo>
                    <a:pt x="87291" y="179126"/>
                  </a:lnTo>
                  <a:cubicBezTo>
                    <a:pt x="64140" y="179126"/>
                    <a:pt x="41937" y="169929"/>
                    <a:pt x="25567" y="153559"/>
                  </a:cubicBezTo>
                  <a:cubicBezTo>
                    <a:pt x="9197" y="137189"/>
                    <a:pt x="0" y="114986"/>
                    <a:pt x="0" y="91835"/>
                  </a:cubicBezTo>
                  <a:lnTo>
                    <a:pt x="0" y="87291"/>
                  </a:lnTo>
                  <a:cubicBezTo>
                    <a:pt x="0" y="64140"/>
                    <a:pt x="9197" y="41937"/>
                    <a:pt x="25567" y="25567"/>
                  </a:cubicBezTo>
                  <a:cubicBezTo>
                    <a:pt x="41937" y="9197"/>
                    <a:pt x="64140" y="0"/>
                    <a:pt x="872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0"/>
            <p:cNvSpPr txBox="1"/>
            <p:nvPr/>
          </p:nvSpPr>
          <p:spPr>
            <a:xfrm>
              <a:off x="0" y="-38100"/>
              <a:ext cx="174581" cy="2172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6" name="Google Shape;286;p10"/>
          <p:cNvSpPr/>
          <p:nvPr/>
        </p:nvSpPr>
        <p:spPr>
          <a:xfrm>
            <a:off x="1028700" y="611194"/>
            <a:ext cx="650744" cy="515862"/>
          </a:xfrm>
          <a:custGeom>
            <a:rect b="b" l="l" r="r" t="t"/>
            <a:pathLst>
              <a:path extrusionOk="0" h="515862" w="650744">
                <a:moveTo>
                  <a:pt x="0" y="0"/>
                </a:moveTo>
                <a:lnTo>
                  <a:pt x="650744" y="0"/>
                </a:lnTo>
                <a:lnTo>
                  <a:pt x="650744" y="515862"/>
                </a:lnTo>
                <a:lnTo>
                  <a:pt x="0" y="5158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7" name="Google Shape;287;p10"/>
          <p:cNvSpPr/>
          <p:nvPr/>
        </p:nvSpPr>
        <p:spPr>
          <a:xfrm rot="10800000">
            <a:off x="5819059" y="2311836"/>
            <a:ext cx="5150392" cy="5150392"/>
          </a:xfrm>
          <a:custGeom>
            <a:rect b="b" l="l" r="r" t="t"/>
            <a:pathLst>
              <a:path extrusionOk="0" h="5150392" w="5150392">
                <a:moveTo>
                  <a:pt x="0" y="0"/>
                </a:moveTo>
                <a:lnTo>
                  <a:pt x="5150392" y="0"/>
                </a:lnTo>
                <a:lnTo>
                  <a:pt x="5150392" y="5150392"/>
                </a:lnTo>
                <a:lnTo>
                  <a:pt x="0" y="5150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8" name="Google Shape;288;p10"/>
          <p:cNvSpPr txBox="1"/>
          <p:nvPr/>
        </p:nvSpPr>
        <p:spPr>
          <a:xfrm>
            <a:off x="1354072" y="2503203"/>
            <a:ext cx="8357069" cy="495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2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  <p:sp>
        <p:nvSpPr>
          <p:cNvPr id="289" name="Google Shape;289;p10"/>
          <p:cNvSpPr txBox="1"/>
          <p:nvPr/>
        </p:nvSpPr>
        <p:spPr>
          <a:xfrm>
            <a:off x="1354072" y="7722407"/>
            <a:ext cx="5231305" cy="665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9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24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Presented by : Shakthi sivaranjani .R</a:t>
            </a:r>
            <a:endParaRPr/>
          </a:p>
          <a:p>
            <a:pPr indent="0" lvl="0" marL="0" marR="0" rtl="0" algn="just">
              <a:lnSpc>
                <a:spcPct val="119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24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