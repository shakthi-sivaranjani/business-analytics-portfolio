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Open Sauce Bold" charset="1" panose="00000800000000000000"/>
      <p:regular r:id="rId22"/>
    </p:embeddedFont>
    <p:embeddedFont>
      <p:font typeface="Overpass" charset="1" panose="00000500000000000000"/>
      <p:regular r:id="rId23"/>
    </p:embeddedFont>
    <p:embeddedFont>
      <p:font typeface="Overpass Light Italics" charset="1" panose="00000400000000000000"/>
      <p:regular r:id="rId24"/>
    </p:embeddedFont>
    <p:embeddedFont>
      <p:font typeface="Overpass Light" charset="1" panose="00000400000000000000"/>
      <p:regular r:id="rId25"/>
    </p:embeddedFont>
    <p:embeddedFont>
      <p:font typeface="Overpass Ultra-Bold" charset="1" panose="000009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308920" y="1984352"/>
            <a:ext cx="18467057" cy="4034349"/>
          </a:xfrm>
          <a:prstGeom prst="rect">
            <a:avLst/>
          </a:prstGeom>
        </p:spPr>
        <p:txBody>
          <a:bodyPr anchor="t" rtlCol="false" tIns="0" lIns="0" bIns="0" rIns="0">
            <a:spAutoFit/>
          </a:bodyPr>
          <a:lstStyle/>
          <a:p>
            <a:pPr algn="ctr">
              <a:lnSpc>
                <a:spcPts val="16190"/>
              </a:lnSpc>
            </a:pPr>
            <a:r>
              <a:rPr lang="en-US" b="true" sz="11564">
                <a:solidFill>
                  <a:srgbClr val="3E3E3E"/>
                </a:solidFill>
                <a:latin typeface="Open Sauce Bold"/>
                <a:ea typeface="Open Sauce Bold"/>
                <a:cs typeface="Open Sauce Bold"/>
                <a:sym typeface="Open Sauce Bold"/>
              </a:rPr>
              <a:t>HOTEL BOOKING ANALYSIS</a:t>
            </a:r>
          </a:p>
        </p:txBody>
      </p:sp>
      <p:sp>
        <p:nvSpPr>
          <p:cNvPr name="TextBox 29" id="29"/>
          <p:cNvSpPr txBox="true"/>
          <p:nvPr/>
        </p:nvSpPr>
        <p:spPr>
          <a:xfrm rot="0">
            <a:off x="5281373" y="6168776"/>
            <a:ext cx="8522150" cy="1070653"/>
          </a:xfrm>
          <a:prstGeom prst="rect">
            <a:avLst/>
          </a:prstGeom>
        </p:spPr>
        <p:txBody>
          <a:bodyPr anchor="t" rtlCol="false" tIns="0" lIns="0" bIns="0" rIns="0">
            <a:spAutoFit/>
          </a:bodyPr>
          <a:lstStyle/>
          <a:p>
            <a:pPr algn="ctr">
              <a:lnSpc>
                <a:spcPts val="7662"/>
              </a:lnSpc>
            </a:pPr>
            <a:r>
              <a:rPr lang="en-US" sz="5473">
                <a:solidFill>
                  <a:srgbClr val="3E3E3E"/>
                </a:solidFill>
                <a:latin typeface="Overpass"/>
                <a:ea typeface="Overpass"/>
                <a:cs typeface="Overpass"/>
                <a:sym typeface="Overpass"/>
              </a:rPr>
              <a:t>For the year 2015-2017</a:t>
            </a:r>
          </a:p>
        </p:txBody>
      </p:sp>
      <p:sp>
        <p:nvSpPr>
          <p:cNvPr name="TextBox 30" id="30"/>
          <p:cNvSpPr txBox="true"/>
          <p:nvPr/>
        </p:nvSpPr>
        <p:spPr>
          <a:xfrm rot="0">
            <a:off x="11284225" y="9508515"/>
            <a:ext cx="7716852" cy="539156"/>
          </a:xfrm>
          <a:prstGeom prst="rect">
            <a:avLst/>
          </a:prstGeom>
        </p:spPr>
        <p:txBody>
          <a:bodyPr anchor="t" rtlCol="false" tIns="0" lIns="0" bIns="0" rIns="0">
            <a:spAutoFit/>
          </a:bodyPr>
          <a:lstStyle/>
          <a:p>
            <a:pPr algn="ctr">
              <a:lnSpc>
                <a:spcPts val="3882"/>
              </a:lnSpc>
            </a:pPr>
            <a:r>
              <a:rPr lang="en-US" sz="2773">
                <a:solidFill>
                  <a:srgbClr val="3E3E3E"/>
                </a:solidFill>
                <a:latin typeface="Overpass"/>
                <a:ea typeface="Overpass"/>
                <a:cs typeface="Overpass"/>
                <a:sym typeface="Overpass"/>
              </a:rPr>
              <a:t>Presented by Shakthi sivaranjani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3" id="33"/>
          <p:cNvSpPr txBox="true"/>
          <p:nvPr/>
        </p:nvSpPr>
        <p:spPr>
          <a:xfrm rot="0">
            <a:off x="3273781" y="1258511"/>
            <a:ext cx="12286326"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BUSINESS OBJECTIVE</a:t>
            </a:r>
          </a:p>
        </p:txBody>
      </p:sp>
      <p:sp>
        <p:nvSpPr>
          <p:cNvPr name="TextBox 34" id="34"/>
          <p:cNvSpPr txBox="true"/>
          <p:nvPr/>
        </p:nvSpPr>
        <p:spPr>
          <a:xfrm rot="0">
            <a:off x="2727894" y="3945783"/>
            <a:ext cx="12832212" cy="4164965"/>
          </a:xfrm>
          <a:prstGeom prst="rect">
            <a:avLst/>
          </a:prstGeom>
        </p:spPr>
        <p:txBody>
          <a:bodyPr anchor="t" rtlCol="false" tIns="0" lIns="0" bIns="0" rIns="0">
            <a:spAutoFit/>
          </a:bodyPr>
          <a:lstStyle/>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To analyze hotel booking performance between 2015 and 2017 to identify revenue trends and demand patterns.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To evaluate cancellation behavior, occupancy levels, and seasonal impact on business performance.</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To provide data-driven recommendations to improve revenue, reduce cancellations, and optimize overall performance.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3" id="33"/>
          <p:cNvSpPr txBox="true"/>
          <p:nvPr/>
        </p:nvSpPr>
        <p:spPr>
          <a:xfrm rot="0">
            <a:off x="3273781" y="1258511"/>
            <a:ext cx="12286326"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DATASET OVERVIEW</a:t>
            </a:r>
          </a:p>
        </p:txBody>
      </p:sp>
      <p:sp>
        <p:nvSpPr>
          <p:cNvPr name="TextBox 34" id="34"/>
          <p:cNvSpPr txBox="true"/>
          <p:nvPr/>
        </p:nvSpPr>
        <p:spPr>
          <a:xfrm rot="0">
            <a:off x="2727894" y="3945783"/>
            <a:ext cx="12832212" cy="4164965"/>
          </a:xfrm>
          <a:prstGeom prst="rect">
            <a:avLst/>
          </a:prstGeom>
        </p:spPr>
        <p:txBody>
          <a:bodyPr anchor="t" rtlCol="false" tIns="0" lIns="0" bIns="0" rIns="0">
            <a:spAutoFit/>
          </a:bodyPr>
          <a:lstStyle/>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The dataset includes hotel booking records from 2015 to 2017 covering </a:t>
            </a:r>
            <a:r>
              <a:rPr lang="en-US" b="true" sz="2900">
                <a:solidFill>
                  <a:srgbClr val="000000"/>
                </a:solidFill>
                <a:latin typeface="Overpass Ultra-Bold"/>
                <a:ea typeface="Overpass Ultra-Bold"/>
                <a:cs typeface="Overpass Ultra-Bold"/>
                <a:sym typeface="Overpass Ultra-Bold"/>
              </a:rPr>
              <a:t>119,385 bookings.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It captures key metrics such as </a:t>
            </a:r>
            <a:r>
              <a:rPr lang="en-US" b="true" sz="2900">
                <a:solidFill>
                  <a:srgbClr val="000000"/>
                </a:solidFill>
                <a:latin typeface="Overpass Ultra-Bold"/>
                <a:ea typeface="Overpass Ultra-Bold"/>
                <a:cs typeface="Overpass Ultra-Bold"/>
                <a:sym typeface="Overpass Ultra-Bold"/>
              </a:rPr>
              <a:t>revenue (₹4.27 Cr)</a:t>
            </a:r>
            <a:r>
              <a:rPr lang="en-US" sz="2900">
                <a:solidFill>
                  <a:srgbClr val="000000"/>
                </a:solidFill>
                <a:latin typeface="Overpass Light"/>
                <a:ea typeface="Overpass Light"/>
                <a:cs typeface="Overpass Light"/>
                <a:sym typeface="Overpass Light"/>
              </a:rPr>
              <a:t>, </a:t>
            </a:r>
            <a:r>
              <a:rPr lang="en-US" b="true" sz="2900">
                <a:solidFill>
                  <a:srgbClr val="000000"/>
                </a:solidFill>
                <a:latin typeface="Overpass Ultra-Bold"/>
                <a:ea typeface="Overpass Ultra-Bold"/>
                <a:cs typeface="Overpass Ultra-Bold"/>
                <a:sym typeface="Overpass Ultra-Bold"/>
              </a:rPr>
              <a:t>cancellations</a:t>
            </a:r>
            <a:r>
              <a:rPr lang="en-US" sz="2900">
                <a:solidFill>
                  <a:srgbClr val="000000"/>
                </a:solidFill>
                <a:latin typeface="Overpass Light"/>
                <a:ea typeface="Overpass Light"/>
                <a:cs typeface="Overpass Light"/>
                <a:sym typeface="Overpass Light"/>
              </a:rPr>
              <a:t> </a:t>
            </a:r>
            <a:r>
              <a:rPr lang="en-US" b="true" sz="2900">
                <a:solidFill>
                  <a:srgbClr val="000000"/>
                </a:solidFill>
                <a:latin typeface="Overpass Ultra-Bold"/>
                <a:ea typeface="Overpass Ultra-Bold"/>
                <a:cs typeface="Overpass Ultra-Bold"/>
                <a:sym typeface="Overpass Ultra-Bold"/>
              </a:rPr>
              <a:t>(44,220)</a:t>
            </a:r>
            <a:r>
              <a:rPr lang="en-US" sz="2900">
                <a:solidFill>
                  <a:srgbClr val="000000"/>
                </a:solidFill>
                <a:latin typeface="Overpass Light"/>
                <a:ea typeface="Overpass Light"/>
                <a:cs typeface="Overpass Light"/>
                <a:sym typeface="Overpass Light"/>
              </a:rPr>
              <a:t>, occupancy rate (63%), and average stay duration (3.43 nights).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The data covers both City and Resort hotels, enabling comparative and seasonal performance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3850434" y="1754959"/>
            <a:ext cx="10587132"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TOOLS USED </a:t>
            </a:r>
          </a:p>
        </p:txBody>
      </p:sp>
      <p:grpSp>
        <p:nvGrpSpPr>
          <p:cNvPr name="Group 30" id="30"/>
          <p:cNvGrpSpPr/>
          <p:nvPr/>
        </p:nvGrpSpPr>
        <p:grpSpPr>
          <a:xfrm rot="0">
            <a:off x="1744735" y="4294491"/>
            <a:ext cx="883444" cy="88344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747"/>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2877062" y="3811940"/>
            <a:ext cx="5800725" cy="1847850"/>
            <a:chOff x="0" y="0"/>
            <a:chExt cx="1527763" cy="486677"/>
          </a:xfrm>
        </p:grpSpPr>
        <p:sp>
          <p:nvSpPr>
            <p:cNvPr name="Freeform 34" id="34"/>
            <p:cNvSpPr/>
            <p:nvPr/>
          </p:nvSpPr>
          <p:spPr>
            <a:xfrm flipH="false" flipV="false" rot="0">
              <a:off x="0" y="0"/>
              <a:ext cx="1527763" cy="486677"/>
            </a:xfrm>
            <a:custGeom>
              <a:avLst/>
              <a:gdLst/>
              <a:ahLst/>
              <a:cxnLst/>
              <a:rect r="r" b="b" t="t" l="l"/>
              <a:pathLst>
                <a:path h="486677" w="1527763">
                  <a:moveTo>
                    <a:pt x="28028" y="0"/>
                  </a:moveTo>
                  <a:lnTo>
                    <a:pt x="1499735" y="0"/>
                  </a:lnTo>
                  <a:cubicBezTo>
                    <a:pt x="1507169" y="0"/>
                    <a:pt x="1514298" y="2953"/>
                    <a:pt x="1519554" y="8209"/>
                  </a:cubicBezTo>
                  <a:cubicBezTo>
                    <a:pt x="1524810" y="13465"/>
                    <a:pt x="1527763" y="20594"/>
                    <a:pt x="1527763" y="28028"/>
                  </a:cubicBezTo>
                  <a:lnTo>
                    <a:pt x="1527763" y="458649"/>
                  </a:lnTo>
                  <a:cubicBezTo>
                    <a:pt x="1527763" y="466082"/>
                    <a:pt x="1524810" y="473211"/>
                    <a:pt x="1519554" y="478467"/>
                  </a:cubicBezTo>
                  <a:cubicBezTo>
                    <a:pt x="1514298" y="483724"/>
                    <a:pt x="1507169" y="486677"/>
                    <a:pt x="1499735" y="486677"/>
                  </a:cubicBezTo>
                  <a:lnTo>
                    <a:pt x="28028" y="486677"/>
                  </a:lnTo>
                  <a:cubicBezTo>
                    <a:pt x="20594" y="486677"/>
                    <a:pt x="13465" y="483724"/>
                    <a:pt x="8209" y="478467"/>
                  </a:cubicBezTo>
                  <a:cubicBezTo>
                    <a:pt x="2953" y="473211"/>
                    <a:pt x="0" y="466082"/>
                    <a:pt x="0" y="458649"/>
                  </a:cubicBezTo>
                  <a:lnTo>
                    <a:pt x="0" y="28028"/>
                  </a:lnTo>
                  <a:cubicBezTo>
                    <a:pt x="0" y="20594"/>
                    <a:pt x="2953" y="13465"/>
                    <a:pt x="8209" y="8209"/>
                  </a:cubicBezTo>
                  <a:cubicBezTo>
                    <a:pt x="13465" y="2953"/>
                    <a:pt x="20594" y="0"/>
                    <a:pt x="28028" y="0"/>
                  </a:cubicBezTo>
                  <a:close/>
                </a:path>
              </a:pathLst>
            </a:custGeom>
            <a:ln w="38100" cap="rnd">
              <a:solidFill>
                <a:srgbClr val="3E3E3E"/>
              </a:solidFill>
              <a:prstDash val="solid"/>
              <a:round/>
            </a:ln>
          </p:spPr>
        </p:sp>
        <p:sp>
          <p:nvSpPr>
            <p:cNvPr name="TextBox 35" id="35"/>
            <p:cNvSpPr txBox="true"/>
            <p:nvPr/>
          </p:nvSpPr>
          <p:spPr>
            <a:xfrm>
              <a:off x="0" y="-38100"/>
              <a:ext cx="1527763" cy="524777"/>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3285403" y="4099070"/>
            <a:ext cx="4831212" cy="1078865"/>
          </a:xfrm>
          <a:prstGeom prst="rect">
            <a:avLst/>
          </a:prstGeom>
        </p:spPr>
        <p:txBody>
          <a:bodyPr anchor="t" rtlCol="false" tIns="0" lIns="0" bIns="0" rIns="0">
            <a:spAutoFit/>
          </a:bodyPr>
          <a:lstStyle/>
          <a:p>
            <a:pPr algn="just">
              <a:lnSpc>
                <a:spcPts val="4060"/>
              </a:lnSpc>
            </a:pPr>
            <a:r>
              <a:rPr lang="en-US" sz="2900">
                <a:solidFill>
                  <a:srgbClr val="000000"/>
                </a:solidFill>
                <a:latin typeface="Overpass Light"/>
                <a:ea typeface="Overpass Light"/>
                <a:cs typeface="Overpass Light"/>
                <a:sym typeface="Overpass Light"/>
              </a:rPr>
              <a:t>SQL scripts (Cleaning &amp; analysis queries )</a:t>
            </a:r>
          </a:p>
        </p:txBody>
      </p:sp>
      <p:sp>
        <p:nvSpPr>
          <p:cNvPr name="TextBox 37" id="37"/>
          <p:cNvSpPr txBox="true"/>
          <p:nvPr/>
        </p:nvSpPr>
        <p:spPr>
          <a:xfrm rot="0">
            <a:off x="1744735" y="4374611"/>
            <a:ext cx="883444" cy="647004"/>
          </a:xfrm>
          <a:prstGeom prst="rect">
            <a:avLst/>
          </a:prstGeom>
        </p:spPr>
        <p:txBody>
          <a:bodyPr anchor="t" rtlCol="false" tIns="0" lIns="0" bIns="0" rIns="0">
            <a:spAutoFit/>
          </a:bodyPr>
          <a:lstStyle/>
          <a:p>
            <a:pPr algn="ctr">
              <a:lnSpc>
                <a:spcPts val="5288"/>
              </a:lnSpc>
            </a:pPr>
            <a:r>
              <a:rPr lang="en-US" b="true" sz="3777">
                <a:solidFill>
                  <a:srgbClr val="FFFFFF"/>
                </a:solidFill>
                <a:latin typeface="Open Sauce Bold"/>
                <a:ea typeface="Open Sauce Bold"/>
                <a:cs typeface="Open Sauce Bold"/>
                <a:sym typeface="Open Sauce Bold"/>
              </a:rPr>
              <a:t>1.</a:t>
            </a:r>
          </a:p>
        </p:txBody>
      </p:sp>
      <p:grpSp>
        <p:nvGrpSpPr>
          <p:cNvPr name="Group 38" id="38"/>
          <p:cNvGrpSpPr/>
          <p:nvPr/>
        </p:nvGrpSpPr>
        <p:grpSpPr>
          <a:xfrm rot="0">
            <a:off x="9610213" y="4294491"/>
            <a:ext cx="883444" cy="88344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747"/>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10742540" y="3811940"/>
            <a:ext cx="5800725" cy="1847850"/>
            <a:chOff x="0" y="0"/>
            <a:chExt cx="1527763" cy="486677"/>
          </a:xfrm>
        </p:grpSpPr>
        <p:sp>
          <p:nvSpPr>
            <p:cNvPr name="Freeform 42" id="42"/>
            <p:cNvSpPr/>
            <p:nvPr/>
          </p:nvSpPr>
          <p:spPr>
            <a:xfrm flipH="false" flipV="false" rot="0">
              <a:off x="0" y="0"/>
              <a:ext cx="1527763" cy="486677"/>
            </a:xfrm>
            <a:custGeom>
              <a:avLst/>
              <a:gdLst/>
              <a:ahLst/>
              <a:cxnLst/>
              <a:rect r="r" b="b" t="t" l="l"/>
              <a:pathLst>
                <a:path h="486677" w="1527763">
                  <a:moveTo>
                    <a:pt x="28028" y="0"/>
                  </a:moveTo>
                  <a:lnTo>
                    <a:pt x="1499735" y="0"/>
                  </a:lnTo>
                  <a:cubicBezTo>
                    <a:pt x="1507169" y="0"/>
                    <a:pt x="1514298" y="2953"/>
                    <a:pt x="1519554" y="8209"/>
                  </a:cubicBezTo>
                  <a:cubicBezTo>
                    <a:pt x="1524810" y="13465"/>
                    <a:pt x="1527763" y="20594"/>
                    <a:pt x="1527763" y="28028"/>
                  </a:cubicBezTo>
                  <a:lnTo>
                    <a:pt x="1527763" y="458649"/>
                  </a:lnTo>
                  <a:cubicBezTo>
                    <a:pt x="1527763" y="466082"/>
                    <a:pt x="1524810" y="473211"/>
                    <a:pt x="1519554" y="478467"/>
                  </a:cubicBezTo>
                  <a:cubicBezTo>
                    <a:pt x="1514298" y="483724"/>
                    <a:pt x="1507169" y="486677"/>
                    <a:pt x="1499735" y="486677"/>
                  </a:cubicBezTo>
                  <a:lnTo>
                    <a:pt x="28028" y="486677"/>
                  </a:lnTo>
                  <a:cubicBezTo>
                    <a:pt x="20594" y="486677"/>
                    <a:pt x="13465" y="483724"/>
                    <a:pt x="8209" y="478467"/>
                  </a:cubicBezTo>
                  <a:cubicBezTo>
                    <a:pt x="2953" y="473211"/>
                    <a:pt x="0" y="466082"/>
                    <a:pt x="0" y="458649"/>
                  </a:cubicBezTo>
                  <a:lnTo>
                    <a:pt x="0" y="28028"/>
                  </a:lnTo>
                  <a:cubicBezTo>
                    <a:pt x="0" y="20594"/>
                    <a:pt x="2953" y="13465"/>
                    <a:pt x="8209" y="8209"/>
                  </a:cubicBezTo>
                  <a:cubicBezTo>
                    <a:pt x="13465" y="2953"/>
                    <a:pt x="20594" y="0"/>
                    <a:pt x="28028" y="0"/>
                  </a:cubicBezTo>
                  <a:close/>
                </a:path>
              </a:pathLst>
            </a:custGeom>
            <a:ln w="38100" cap="rnd">
              <a:solidFill>
                <a:srgbClr val="3E3E3E"/>
              </a:solidFill>
              <a:prstDash val="solid"/>
              <a:round/>
            </a:ln>
          </p:spPr>
        </p:sp>
        <p:sp>
          <p:nvSpPr>
            <p:cNvPr name="TextBox 43" id="43"/>
            <p:cNvSpPr txBox="true"/>
            <p:nvPr/>
          </p:nvSpPr>
          <p:spPr>
            <a:xfrm>
              <a:off x="0" y="-38100"/>
              <a:ext cx="1527763" cy="524777"/>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11141662" y="4089888"/>
            <a:ext cx="4831212" cy="1078865"/>
          </a:xfrm>
          <a:prstGeom prst="rect">
            <a:avLst/>
          </a:prstGeom>
        </p:spPr>
        <p:txBody>
          <a:bodyPr anchor="t" rtlCol="false" tIns="0" lIns="0" bIns="0" rIns="0">
            <a:spAutoFit/>
          </a:bodyPr>
          <a:lstStyle/>
          <a:p>
            <a:pPr algn="just">
              <a:lnSpc>
                <a:spcPts val="4060"/>
              </a:lnSpc>
            </a:pPr>
            <a:r>
              <a:rPr lang="en-US" sz="2900">
                <a:solidFill>
                  <a:srgbClr val="000000"/>
                </a:solidFill>
                <a:latin typeface="Overpass Light"/>
                <a:ea typeface="Overpass Light"/>
                <a:cs typeface="Overpass Light"/>
                <a:sym typeface="Overpass Light"/>
              </a:rPr>
              <a:t>Power BI (Intent visualization &amp; Dashboard)</a:t>
            </a:r>
          </a:p>
        </p:txBody>
      </p:sp>
      <p:sp>
        <p:nvSpPr>
          <p:cNvPr name="TextBox 45" id="45"/>
          <p:cNvSpPr txBox="true"/>
          <p:nvPr/>
        </p:nvSpPr>
        <p:spPr>
          <a:xfrm rot="0">
            <a:off x="9610213" y="4374611"/>
            <a:ext cx="883444" cy="647004"/>
          </a:xfrm>
          <a:prstGeom prst="rect">
            <a:avLst/>
          </a:prstGeom>
        </p:spPr>
        <p:txBody>
          <a:bodyPr anchor="t" rtlCol="false" tIns="0" lIns="0" bIns="0" rIns="0">
            <a:spAutoFit/>
          </a:bodyPr>
          <a:lstStyle/>
          <a:p>
            <a:pPr algn="ctr">
              <a:lnSpc>
                <a:spcPts val="5288"/>
              </a:lnSpc>
            </a:pPr>
            <a:r>
              <a:rPr lang="en-US" b="true" sz="3777">
                <a:solidFill>
                  <a:srgbClr val="FFFFFF"/>
                </a:solidFill>
                <a:latin typeface="Open Sauce Bold"/>
                <a:ea typeface="Open Sauce Bold"/>
                <a:cs typeface="Open Sauce Bold"/>
                <a:sym typeface="Open Sauce Bold"/>
              </a:rPr>
              <a:t>2.</a:t>
            </a:r>
          </a:p>
        </p:txBody>
      </p:sp>
      <p:grpSp>
        <p:nvGrpSpPr>
          <p:cNvPr name="Group 46" id="46"/>
          <p:cNvGrpSpPr/>
          <p:nvPr/>
        </p:nvGrpSpPr>
        <p:grpSpPr>
          <a:xfrm rot="0">
            <a:off x="1744735" y="6828141"/>
            <a:ext cx="883444" cy="883444"/>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747"/>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9" id="49"/>
          <p:cNvGrpSpPr/>
          <p:nvPr/>
        </p:nvGrpSpPr>
        <p:grpSpPr>
          <a:xfrm rot="0">
            <a:off x="2877062" y="6345590"/>
            <a:ext cx="5800725" cy="1847850"/>
            <a:chOff x="0" y="0"/>
            <a:chExt cx="1527763" cy="486677"/>
          </a:xfrm>
        </p:grpSpPr>
        <p:sp>
          <p:nvSpPr>
            <p:cNvPr name="Freeform 50" id="50"/>
            <p:cNvSpPr/>
            <p:nvPr/>
          </p:nvSpPr>
          <p:spPr>
            <a:xfrm flipH="false" flipV="false" rot="0">
              <a:off x="0" y="0"/>
              <a:ext cx="1527763" cy="486677"/>
            </a:xfrm>
            <a:custGeom>
              <a:avLst/>
              <a:gdLst/>
              <a:ahLst/>
              <a:cxnLst/>
              <a:rect r="r" b="b" t="t" l="l"/>
              <a:pathLst>
                <a:path h="486677" w="1527763">
                  <a:moveTo>
                    <a:pt x="28028" y="0"/>
                  </a:moveTo>
                  <a:lnTo>
                    <a:pt x="1499735" y="0"/>
                  </a:lnTo>
                  <a:cubicBezTo>
                    <a:pt x="1507169" y="0"/>
                    <a:pt x="1514298" y="2953"/>
                    <a:pt x="1519554" y="8209"/>
                  </a:cubicBezTo>
                  <a:cubicBezTo>
                    <a:pt x="1524810" y="13465"/>
                    <a:pt x="1527763" y="20594"/>
                    <a:pt x="1527763" y="28028"/>
                  </a:cubicBezTo>
                  <a:lnTo>
                    <a:pt x="1527763" y="458649"/>
                  </a:lnTo>
                  <a:cubicBezTo>
                    <a:pt x="1527763" y="466082"/>
                    <a:pt x="1524810" y="473211"/>
                    <a:pt x="1519554" y="478467"/>
                  </a:cubicBezTo>
                  <a:cubicBezTo>
                    <a:pt x="1514298" y="483724"/>
                    <a:pt x="1507169" y="486677"/>
                    <a:pt x="1499735" y="486677"/>
                  </a:cubicBezTo>
                  <a:lnTo>
                    <a:pt x="28028" y="486677"/>
                  </a:lnTo>
                  <a:cubicBezTo>
                    <a:pt x="20594" y="486677"/>
                    <a:pt x="13465" y="483724"/>
                    <a:pt x="8209" y="478467"/>
                  </a:cubicBezTo>
                  <a:cubicBezTo>
                    <a:pt x="2953" y="473211"/>
                    <a:pt x="0" y="466082"/>
                    <a:pt x="0" y="458649"/>
                  </a:cubicBezTo>
                  <a:lnTo>
                    <a:pt x="0" y="28028"/>
                  </a:lnTo>
                  <a:cubicBezTo>
                    <a:pt x="0" y="20594"/>
                    <a:pt x="2953" y="13465"/>
                    <a:pt x="8209" y="8209"/>
                  </a:cubicBezTo>
                  <a:cubicBezTo>
                    <a:pt x="13465" y="2953"/>
                    <a:pt x="20594" y="0"/>
                    <a:pt x="28028" y="0"/>
                  </a:cubicBezTo>
                  <a:close/>
                </a:path>
              </a:pathLst>
            </a:custGeom>
            <a:ln w="38100" cap="rnd">
              <a:solidFill>
                <a:srgbClr val="3E3E3E"/>
              </a:solidFill>
              <a:prstDash val="solid"/>
              <a:round/>
            </a:ln>
          </p:spPr>
        </p:sp>
        <p:sp>
          <p:nvSpPr>
            <p:cNvPr name="TextBox 51" id="51"/>
            <p:cNvSpPr txBox="true"/>
            <p:nvPr/>
          </p:nvSpPr>
          <p:spPr>
            <a:xfrm>
              <a:off x="0" y="-38100"/>
              <a:ext cx="1527763" cy="524777"/>
            </a:xfrm>
            <a:prstGeom prst="rect">
              <a:avLst/>
            </a:prstGeom>
          </p:spPr>
          <p:txBody>
            <a:bodyPr anchor="ctr" rtlCol="false" tIns="50800" lIns="50800" bIns="50800" rIns="50800"/>
            <a:lstStyle/>
            <a:p>
              <a:pPr algn="ctr">
                <a:lnSpc>
                  <a:spcPts val="2659"/>
                </a:lnSpc>
              </a:pPr>
            </a:p>
          </p:txBody>
        </p:sp>
      </p:grpSp>
      <p:sp>
        <p:nvSpPr>
          <p:cNvPr name="TextBox 52" id="52"/>
          <p:cNvSpPr txBox="true"/>
          <p:nvPr/>
        </p:nvSpPr>
        <p:spPr>
          <a:xfrm rot="0">
            <a:off x="3285403" y="6616772"/>
            <a:ext cx="4831212" cy="1078865"/>
          </a:xfrm>
          <a:prstGeom prst="rect">
            <a:avLst/>
          </a:prstGeom>
        </p:spPr>
        <p:txBody>
          <a:bodyPr anchor="t" rtlCol="false" tIns="0" lIns="0" bIns="0" rIns="0">
            <a:spAutoFit/>
          </a:bodyPr>
          <a:lstStyle/>
          <a:p>
            <a:pPr algn="just">
              <a:lnSpc>
                <a:spcPts val="4060"/>
              </a:lnSpc>
            </a:pPr>
            <a:r>
              <a:rPr lang="en-US" sz="2900">
                <a:solidFill>
                  <a:srgbClr val="000000"/>
                </a:solidFill>
                <a:latin typeface="Overpass Light"/>
                <a:ea typeface="Overpass Light"/>
                <a:cs typeface="Overpass Light"/>
                <a:sym typeface="Overpass Light"/>
              </a:rPr>
              <a:t>Finalreport (Insights and Findings)  &gt;&gt; Word or Pdf</a:t>
            </a:r>
          </a:p>
        </p:txBody>
      </p:sp>
      <p:sp>
        <p:nvSpPr>
          <p:cNvPr name="TextBox 53" id="53"/>
          <p:cNvSpPr txBox="true"/>
          <p:nvPr/>
        </p:nvSpPr>
        <p:spPr>
          <a:xfrm rot="0">
            <a:off x="1744735" y="6908261"/>
            <a:ext cx="883444" cy="647004"/>
          </a:xfrm>
          <a:prstGeom prst="rect">
            <a:avLst/>
          </a:prstGeom>
        </p:spPr>
        <p:txBody>
          <a:bodyPr anchor="t" rtlCol="false" tIns="0" lIns="0" bIns="0" rIns="0">
            <a:spAutoFit/>
          </a:bodyPr>
          <a:lstStyle/>
          <a:p>
            <a:pPr algn="ctr">
              <a:lnSpc>
                <a:spcPts val="5288"/>
              </a:lnSpc>
            </a:pPr>
            <a:r>
              <a:rPr lang="en-US" b="true" sz="3777">
                <a:solidFill>
                  <a:srgbClr val="FFFFFF"/>
                </a:solidFill>
                <a:latin typeface="Open Sauce Bold"/>
                <a:ea typeface="Open Sauce Bold"/>
                <a:cs typeface="Open Sauce Bold"/>
                <a:sym typeface="Open Sauce Bold"/>
              </a:rPr>
              <a:t>3.</a:t>
            </a:r>
          </a:p>
        </p:txBody>
      </p:sp>
      <p:grpSp>
        <p:nvGrpSpPr>
          <p:cNvPr name="Group 54" id="54"/>
          <p:cNvGrpSpPr/>
          <p:nvPr/>
        </p:nvGrpSpPr>
        <p:grpSpPr>
          <a:xfrm rot="0">
            <a:off x="9610213" y="6828141"/>
            <a:ext cx="883444" cy="883444"/>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747"/>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10742540" y="6345590"/>
            <a:ext cx="5800725" cy="1847850"/>
            <a:chOff x="0" y="0"/>
            <a:chExt cx="1527763" cy="486677"/>
          </a:xfrm>
        </p:grpSpPr>
        <p:sp>
          <p:nvSpPr>
            <p:cNvPr name="Freeform 58" id="58"/>
            <p:cNvSpPr/>
            <p:nvPr/>
          </p:nvSpPr>
          <p:spPr>
            <a:xfrm flipH="false" flipV="false" rot="0">
              <a:off x="0" y="0"/>
              <a:ext cx="1527763" cy="486677"/>
            </a:xfrm>
            <a:custGeom>
              <a:avLst/>
              <a:gdLst/>
              <a:ahLst/>
              <a:cxnLst/>
              <a:rect r="r" b="b" t="t" l="l"/>
              <a:pathLst>
                <a:path h="486677" w="1527763">
                  <a:moveTo>
                    <a:pt x="28028" y="0"/>
                  </a:moveTo>
                  <a:lnTo>
                    <a:pt x="1499735" y="0"/>
                  </a:lnTo>
                  <a:cubicBezTo>
                    <a:pt x="1507169" y="0"/>
                    <a:pt x="1514298" y="2953"/>
                    <a:pt x="1519554" y="8209"/>
                  </a:cubicBezTo>
                  <a:cubicBezTo>
                    <a:pt x="1524810" y="13465"/>
                    <a:pt x="1527763" y="20594"/>
                    <a:pt x="1527763" y="28028"/>
                  </a:cubicBezTo>
                  <a:lnTo>
                    <a:pt x="1527763" y="458649"/>
                  </a:lnTo>
                  <a:cubicBezTo>
                    <a:pt x="1527763" y="466082"/>
                    <a:pt x="1524810" y="473211"/>
                    <a:pt x="1519554" y="478467"/>
                  </a:cubicBezTo>
                  <a:cubicBezTo>
                    <a:pt x="1514298" y="483724"/>
                    <a:pt x="1507169" y="486677"/>
                    <a:pt x="1499735" y="486677"/>
                  </a:cubicBezTo>
                  <a:lnTo>
                    <a:pt x="28028" y="486677"/>
                  </a:lnTo>
                  <a:cubicBezTo>
                    <a:pt x="20594" y="486677"/>
                    <a:pt x="13465" y="483724"/>
                    <a:pt x="8209" y="478467"/>
                  </a:cubicBezTo>
                  <a:cubicBezTo>
                    <a:pt x="2953" y="473211"/>
                    <a:pt x="0" y="466082"/>
                    <a:pt x="0" y="458649"/>
                  </a:cubicBezTo>
                  <a:lnTo>
                    <a:pt x="0" y="28028"/>
                  </a:lnTo>
                  <a:cubicBezTo>
                    <a:pt x="0" y="20594"/>
                    <a:pt x="2953" y="13465"/>
                    <a:pt x="8209" y="8209"/>
                  </a:cubicBezTo>
                  <a:cubicBezTo>
                    <a:pt x="13465" y="2953"/>
                    <a:pt x="20594" y="0"/>
                    <a:pt x="28028" y="0"/>
                  </a:cubicBezTo>
                  <a:close/>
                </a:path>
              </a:pathLst>
            </a:custGeom>
            <a:ln w="38100" cap="rnd">
              <a:solidFill>
                <a:srgbClr val="3E3E3E"/>
              </a:solidFill>
              <a:prstDash val="solid"/>
              <a:round/>
            </a:ln>
          </p:spPr>
        </p:sp>
        <p:sp>
          <p:nvSpPr>
            <p:cNvPr name="TextBox 59" id="59"/>
            <p:cNvSpPr txBox="true"/>
            <p:nvPr/>
          </p:nvSpPr>
          <p:spPr>
            <a:xfrm>
              <a:off x="0" y="-38100"/>
              <a:ext cx="1527763" cy="524777"/>
            </a:xfrm>
            <a:prstGeom prst="rect">
              <a:avLst/>
            </a:prstGeom>
          </p:spPr>
          <p:txBody>
            <a:bodyPr anchor="ctr" rtlCol="false" tIns="50800" lIns="50800" bIns="50800" rIns="50800"/>
            <a:lstStyle/>
            <a:p>
              <a:pPr algn="ctr">
                <a:lnSpc>
                  <a:spcPts val="2659"/>
                </a:lnSpc>
              </a:pPr>
            </a:p>
          </p:txBody>
        </p:sp>
      </p:grpSp>
      <p:sp>
        <p:nvSpPr>
          <p:cNvPr name="TextBox 60" id="60"/>
          <p:cNvSpPr txBox="true"/>
          <p:nvPr/>
        </p:nvSpPr>
        <p:spPr>
          <a:xfrm rot="0">
            <a:off x="9610213" y="6908261"/>
            <a:ext cx="883444" cy="647004"/>
          </a:xfrm>
          <a:prstGeom prst="rect">
            <a:avLst/>
          </a:prstGeom>
        </p:spPr>
        <p:txBody>
          <a:bodyPr anchor="t" rtlCol="false" tIns="0" lIns="0" bIns="0" rIns="0">
            <a:spAutoFit/>
          </a:bodyPr>
          <a:lstStyle/>
          <a:p>
            <a:pPr algn="ctr">
              <a:lnSpc>
                <a:spcPts val="5288"/>
              </a:lnSpc>
            </a:pPr>
            <a:r>
              <a:rPr lang="en-US" b="true" sz="3777">
                <a:solidFill>
                  <a:srgbClr val="FFFFFF"/>
                </a:solidFill>
                <a:latin typeface="Open Sauce Bold"/>
                <a:ea typeface="Open Sauce Bold"/>
                <a:cs typeface="Open Sauce Bold"/>
                <a:sym typeface="Open Sauce Bold"/>
              </a:rPr>
              <a:t>4.</a:t>
            </a:r>
          </a:p>
        </p:txBody>
      </p:sp>
      <p:grpSp>
        <p:nvGrpSpPr>
          <p:cNvPr name="Group 61" id="61"/>
          <p:cNvGrpSpPr/>
          <p:nvPr/>
        </p:nvGrpSpPr>
        <p:grpSpPr>
          <a:xfrm rot="0">
            <a:off x="6374606" y="9258300"/>
            <a:ext cx="5538788" cy="447720"/>
            <a:chOff x="0" y="0"/>
            <a:chExt cx="1458775" cy="117918"/>
          </a:xfrm>
        </p:grpSpPr>
        <p:sp>
          <p:nvSpPr>
            <p:cNvPr name="Freeform 62" id="6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63" id="6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64" id="6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65" id="65"/>
          <p:cNvSpPr txBox="true"/>
          <p:nvPr/>
        </p:nvSpPr>
        <p:spPr>
          <a:xfrm rot="0">
            <a:off x="11227297" y="6621815"/>
            <a:ext cx="4831212" cy="1078865"/>
          </a:xfrm>
          <a:prstGeom prst="rect">
            <a:avLst/>
          </a:prstGeom>
        </p:spPr>
        <p:txBody>
          <a:bodyPr anchor="t" rtlCol="false" tIns="0" lIns="0" bIns="0" rIns="0">
            <a:spAutoFit/>
          </a:bodyPr>
          <a:lstStyle/>
          <a:p>
            <a:pPr algn="just">
              <a:lnSpc>
                <a:spcPts val="4060"/>
              </a:lnSpc>
            </a:pPr>
            <a:r>
              <a:rPr lang="en-US" sz="2900">
                <a:solidFill>
                  <a:srgbClr val="000000"/>
                </a:solidFill>
                <a:latin typeface="Overpass Light"/>
                <a:ea typeface="Overpass Light"/>
                <a:cs typeface="Overpass Light"/>
                <a:sym typeface="Overpass Light"/>
              </a:rPr>
              <a:t>Presentation (recommendation) &gt;&gt; PPT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865408" y="876300"/>
            <a:ext cx="8342051"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GOAL</a:t>
            </a:r>
          </a:p>
        </p:txBody>
      </p:sp>
      <p:sp>
        <p:nvSpPr>
          <p:cNvPr name="Freeform 30" id="30"/>
          <p:cNvSpPr/>
          <p:nvPr/>
        </p:nvSpPr>
        <p:spPr>
          <a:xfrm flipH="false" flipV="false" rot="0">
            <a:off x="1830148" y="3332650"/>
            <a:ext cx="4544458" cy="4114800"/>
          </a:xfrm>
          <a:custGeom>
            <a:avLst/>
            <a:gdLst/>
            <a:ahLst/>
            <a:cxnLst/>
            <a:rect r="r" b="b" t="t" l="l"/>
            <a:pathLst>
              <a:path h="4114800" w="4544458">
                <a:moveTo>
                  <a:pt x="0" y="0"/>
                </a:moveTo>
                <a:lnTo>
                  <a:pt x="4544458" y="0"/>
                </a:lnTo>
                <a:lnTo>
                  <a:pt x="454445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8123185" y="2845606"/>
            <a:ext cx="8712622" cy="6222365"/>
          </a:xfrm>
          <a:prstGeom prst="rect">
            <a:avLst/>
          </a:prstGeom>
        </p:spPr>
        <p:txBody>
          <a:bodyPr anchor="t" rtlCol="false" tIns="0" lIns="0" bIns="0" rIns="0">
            <a:spAutoFit/>
          </a:bodyPr>
          <a:lstStyle/>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·Identify factors leading to cancellations.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·Analyze demand patterns across City Hotel and Resort Hotel.</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·Evaluate customer behaviour, seasonal trends, and market segments.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·Provide data-driven recommendations to improve occupancy rates, reduce cancellations, and enhance revenue strategies.</a:t>
            </a:r>
          </a:p>
          <a:p>
            <a:pPr algn="just">
              <a:lnSpc>
                <a:spcPts val="4060"/>
              </a:lnSpc>
            </a:pPr>
          </a:p>
        </p:txBody>
      </p:sp>
      <p:grpSp>
        <p:nvGrpSpPr>
          <p:cNvPr name="Group 32" id="32"/>
          <p:cNvGrpSpPr/>
          <p:nvPr/>
        </p:nvGrpSpPr>
        <p:grpSpPr>
          <a:xfrm rot="0">
            <a:off x="6374606" y="9258300"/>
            <a:ext cx="5538788" cy="447720"/>
            <a:chOff x="0" y="0"/>
            <a:chExt cx="1458775" cy="117918"/>
          </a:xfrm>
        </p:grpSpPr>
        <p:sp>
          <p:nvSpPr>
            <p:cNvPr name="Freeform 33" id="33"/>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4" id="34"/>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3633439" y="2657393"/>
            <a:ext cx="11301259" cy="6314578"/>
          </a:xfrm>
          <a:custGeom>
            <a:avLst/>
            <a:gdLst/>
            <a:ahLst/>
            <a:cxnLst/>
            <a:rect r="r" b="b" t="t" l="l"/>
            <a:pathLst>
              <a:path h="6314578" w="11301259">
                <a:moveTo>
                  <a:pt x="0" y="0"/>
                </a:moveTo>
                <a:lnTo>
                  <a:pt x="11301259" y="0"/>
                </a:lnTo>
                <a:lnTo>
                  <a:pt x="11301259" y="6314579"/>
                </a:lnTo>
                <a:lnTo>
                  <a:pt x="0" y="6314579"/>
                </a:lnTo>
                <a:lnTo>
                  <a:pt x="0" y="0"/>
                </a:lnTo>
                <a:close/>
              </a:path>
            </a:pathLst>
          </a:custGeom>
          <a:blipFill>
            <a:blip r:embed="rId5"/>
            <a:stretch>
              <a:fillRect l="0" t="0" r="0" b="0"/>
            </a:stretch>
          </a:blipFill>
        </p:spPr>
      </p:sp>
      <p:sp>
        <p:nvSpPr>
          <p:cNvPr name="TextBox 33" id="33"/>
          <p:cNvSpPr txBox="true"/>
          <p:nvPr/>
        </p:nvSpPr>
        <p:spPr>
          <a:xfrm rot="0">
            <a:off x="4939227" y="68566"/>
            <a:ext cx="8342051" cy="2467478"/>
          </a:xfrm>
          <a:prstGeom prst="rect">
            <a:avLst/>
          </a:prstGeom>
        </p:spPr>
        <p:txBody>
          <a:bodyPr anchor="t" rtlCol="false" tIns="0" lIns="0" bIns="0" rIns="0">
            <a:spAutoFit/>
          </a:bodyPr>
          <a:lstStyle/>
          <a:p>
            <a:pPr algn="ctr">
              <a:lnSpc>
                <a:spcPts val="9947"/>
              </a:lnSpc>
            </a:pPr>
            <a:r>
              <a:rPr lang="en-US" b="true" sz="7105">
                <a:solidFill>
                  <a:srgbClr val="3E3E3E"/>
                </a:solidFill>
                <a:latin typeface="Open Sauce Bold"/>
                <a:ea typeface="Open Sauce Bold"/>
                <a:cs typeface="Open Sauce Bold"/>
                <a:sym typeface="Open Sauce Bold"/>
              </a:rPr>
              <a:t>DASHBOARD : 1</a:t>
            </a:r>
          </a:p>
          <a:p>
            <a:pPr algn="ctr">
              <a:lnSpc>
                <a:spcPts val="9947"/>
              </a:lnSpc>
            </a:pPr>
          </a:p>
        </p:txBody>
      </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5" id="35"/>
          <p:cNvSpPr txBox="true"/>
          <p:nvPr/>
        </p:nvSpPr>
        <p:spPr>
          <a:xfrm rot="0">
            <a:off x="1308837" y="1405765"/>
            <a:ext cx="15950463" cy="952542"/>
          </a:xfrm>
          <a:prstGeom prst="rect">
            <a:avLst/>
          </a:prstGeom>
        </p:spPr>
        <p:txBody>
          <a:bodyPr anchor="t" rtlCol="false" tIns="0" lIns="0" bIns="0" rIns="0">
            <a:spAutoFit/>
          </a:bodyPr>
          <a:lstStyle/>
          <a:p>
            <a:pPr algn="ctr">
              <a:lnSpc>
                <a:spcPts val="6822"/>
              </a:lnSpc>
            </a:pPr>
            <a:r>
              <a:rPr lang="en-US" sz="4873" u="sng">
                <a:solidFill>
                  <a:srgbClr val="3E3E3E"/>
                </a:solidFill>
                <a:latin typeface="Overpass"/>
                <a:ea typeface="Overpass"/>
                <a:cs typeface="Overpass"/>
                <a:sym typeface="Overpass"/>
              </a:rPr>
              <a:t>Hotel booking demand and cancellation overview</a:t>
            </a:r>
            <a:r>
              <a:rPr lang="en-US" sz="4873">
                <a:solidFill>
                  <a:srgbClr val="3E3E3E"/>
                </a:solidFill>
                <a:latin typeface="Overpass"/>
                <a:ea typeface="Overpass"/>
                <a:cs typeface="Overpass"/>
                <a:sym typeface="Overpass"/>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741752" y="51392"/>
            <a:ext cx="10278560" cy="1136828"/>
          </a:xfrm>
          <a:prstGeom prst="rect">
            <a:avLst/>
          </a:prstGeom>
        </p:spPr>
        <p:txBody>
          <a:bodyPr anchor="t" rtlCol="false" tIns="0" lIns="0" bIns="0" rIns="0">
            <a:spAutoFit/>
          </a:bodyPr>
          <a:lstStyle/>
          <a:p>
            <a:pPr algn="ctr">
              <a:lnSpc>
                <a:spcPts val="9227"/>
              </a:lnSpc>
            </a:pPr>
            <a:r>
              <a:rPr lang="en-US" b="true" sz="6590">
                <a:solidFill>
                  <a:srgbClr val="3E3E3E"/>
                </a:solidFill>
                <a:latin typeface="Open Sauce Bold"/>
                <a:ea typeface="Open Sauce Bold"/>
                <a:cs typeface="Open Sauce Bold"/>
                <a:sym typeface="Open Sauce Bold"/>
              </a:rPr>
              <a:t>RECOMMENDATION : 1</a:t>
            </a:r>
          </a:p>
        </p:txBody>
      </p:sp>
      <p:sp>
        <p:nvSpPr>
          <p:cNvPr name="TextBox 30" id="30"/>
          <p:cNvSpPr txBox="true"/>
          <p:nvPr/>
        </p:nvSpPr>
        <p:spPr>
          <a:xfrm rot="0">
            <a:off x="1829703" y="1545930"/>
            <a:ext cx="15670501" cy="7765415"/>
          </a:xfrm>
          <a:prstGeom prst="rect">
            <a:avLst/>
          </a:prstGeom>
        </p:spPr>
        <p:txBody>
          <a:bodyPr anchor="t" rtlCol="false" tIns="0" lIns="0" bIns="0" rIns="0">
            <a:spAutoFit/>
          </a:bodyPr>
          <a:lstStyle/>
          <a:p>
            <a:pPr algn="just">
              <a:lnSpc>
                <a:spcPts val="4060"/>
              </a:lnSpc>
            </a:pPr>
            <a:r>
              <a:rPr lang="en-US" b="true" sz="2900">
                <a:solidFill>
                  <a:srgbClr val="000000"/>
                </a:solidFill>
                <a:latin typeface="Overpass Ultra-Bold"/>
                <a:ea typeface="Overpass Ultra-Bold"/>
                <a:cs typeface="Overpass Ultra-Bold"/>
                <a:sym typeface="Overpass Ultra-Bold"/>
              </a:rPr>
              <a:t>1. Control High Cancellations (37%)</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Introduce stricter cancellation policies for City Hotels.</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Apply partial deposit for high lead-time bookings.</a:t>
            </a:r>
          </a:p>
          <a:p>
            <a:pPr algn="just">
              <a:lnSpc>
                <a:spcPts val="4060"/>
              </a:lnSpc>
            </a:pPr>
          </a:p>
          <a:p>
            <a:pPr algn="just">
              <a:lnSpc>
                <a:spcPts val="4060"/>
              </a:lnSpc>
            </a:pPr>
            <a:r>
              <a:rPr lang="en-US" b="true" sz="2900">
                <a:solidFill>
                  <a:srgbClr val="000000"/>
                </a:solidFill>
                <a:latin typeface="Overpass Ultra-Bold"/>
                <a:ea typeface="Overpass Ultra-Bold"/>
                <a:cs typeface="Overpass Ultra-Bold"/>
                <a:sym typeface="Overpass Ultra-Bold"/>
              </a:rPr>
              <a:t>2. Improve Occupancy (Currently 63%)</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Launch targeted promotions during low-demand months.</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Offer bundled or weekend packages.</a:t>
            </a:r>
          </a:p>
          <a:p>
            <a:pPr algn="just">
              <a:lnSpc>
                <a:spcPts val="4060"/>
              </a:lnSpc>
            </a:pPr>
          </a:p>
          <a:p>
            <a:pPr algn="just">
              <a:lnSpc>
                <a:spcPts val="4060"/>
              </a:lnSpc>
            </a:pPr>
            <a:r>
              <a:rPr lang="en-US" b="true" sz="2900">
                <a:solidFill>
                  <a:srgbClr val="000000"/>
                </a:solidFill>
                <a:latin typeface="Overpass Ultra-Bold"/>
                <a:ea typeface="Overpass Ultra-Bold"/>
                <a:cs typeface="Overpass Ultra-Bold"/>
                <a:sym typeface="Overpass Ultra-Bold"/>
              </a:rPr>
              <a:t>3. Increase Length of Stay (3.43 nights average)</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Introduce long-stay discounts (Stay 4 nights, get 10% off).</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Create business and family stay packages.</a:t>
            </a:r>
          </a:p>
          <a:p>
            <a:pPr algn="just">
              <a:lnSpc>
                <a:spcPts val="4060"/>
              </a:lnSpc>
            </a:pPr>
          </a:p>
          <a:p>
            <a:pPr algn="just">
              <a:lnSpc>
                <a:spcPts val="4060"/>
              </a:lnSpc>
            </a:pPr>
            <a:r>
              <a:rPr lang="en-US" b="true" sz="2900">
                <a:solidFill>
                  <a:srgbClr val="000000"/>
                </a:solidFill>
                <a:latin typeface="Overpass Ultra-Bold"/>
                <a:ea typeface="Overpass Ultra-Bold"/>
                <a:cs typeface="Overpass Ultra-Bold"/>
                <a:sym typeface="Overpass Ultra-Bold"/>
              </a:rPr>
              <a:t>4. Focus on City Hotel Risk</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Since City Hotel has 42% cancellations, improve booking confirmation strategies for this segment. </a:t>
            </a:r>
          </a:p>
        </p:txBody>
      </p:sp>
      <p:grpSp>
        <p:nvGrpSpPr>
          <p:cNvPr name="Group 31" id="31"/>
          <p:cNvGrpSpPr/>
          <p:nvPr/>
        </p:nvGrpSpPr>
        <p:grpSpPr>
          <a:xfrm rot="0">
            <a:off x="6374606" y="9258300"/>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3459623" y="2532195"/>
            <a:ext cx="11368789" cy="6258072"/>
          </a:xfrm>
          <a:custGeom>
            <a:avLst/>
            <a:gdLst/>
            <a:ahLst/>
            <a:cxnLst/>
            <a:rect r="r" b="b" t="t" l="l"/>
            <a:pathLst>
              <a:path h="6258072" w="11368789">
                <a:moveTo>
                  <a:pt x="0" y="0"/>
                </a:moveTo>
                <a:lnTo>
                  <a:pt x="11368789" y="0"/>
                </a:lnTo>
                <a:lnTo>
                  <a:pt x="11368789" y="6258072"/>
                </a:lnTo>
                <a:lnTo>
                  <a:pt x="0" y="6258072"/>
                </a:lnTo>
                <a:lnTo>
                  <a:pt x="0" y="0"/>
                </a:lnTo>
                <a:close/>
              </a:path>
            </a:pathLst>
          </a:custGeom>
          <a:blipFill>
            <a:blip r:embed="rId5"/>
            <a:stretch>
              <a:fillRect l="0" t="-298" r="0" b="-298"/>
            </a:stretch>
          </a:blipFill>
        </p:spPr>
      </p:sp>
      <p:sp>
        <p:nvSpPr>
          <p:cNvPr name="TextBox 33" id="33"/>
          <p:cNvSpPr txBox="true"/>
          <p:nvPr/>
        </p:nvSpPr>
        <p:spPr>
          <a:xfrm rot="0">
            <a:off x="4939227" y="78091"/>
            <a:ext cx="8342051" cy="1127628"/>
          </a:xfrm>
          <a:prstGeom prst="rect">
            <a:avLst/>
          </a:prstGeom>
        </p:spPr>
        <p:txBody>
          <a:bodyPr anchor="t" rtlCol="false" tIns="0" lIns="0" bIns="0" rIns="0">
            <a:spAutoFit/>
          </a:bodyPr>
          <a:lstStyle/>
          <a:p>
            <a:pPr algn="ctr">
              <a:lnSpc>
                <a:spcPts val="9247"/>
              </a:lnSpc>
            </a:pPr>
            <a:r>
              <a:rPr lang="en-US" b="true" sz="6605">
                <a:solidFill>
                  <a:srgbClr val="3E3E3E"/>
                </a:solidFill>
                <a:latin typeface="Open Sauce Bold"/>
                <a:ea typeface="Open Sauce Bold"/>
                <a:cs typeface="Open Sauce Bold"/>
                <a:sym typeface="Open Sauce Bold"/>
              </a:rPr>
              <a:t>DASHBOARD : 2</a:t>
            </a:r>
          </a:p>
        </p:txBody>
      </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5" id="35"/>
          <p:cNvSpPr txBox="true"/>
          <p:nvPr/>
        </p:nvSpPr>
        <p:spPr>
          <a:xfrm rot="0">
            <a:off x="1308837" y="1405765"/>
            <a:ext cx="15950463" cy="952542"/>
          </a:xfrm>
          <a:prstGeom prst="rect">
            <a:avLst/>
          </a:prstGeom>
        </p:spPr>
        <p:txBody>
          <a:bodyPr anchor="t" rtlCol="false" tIns="0" lIns="0" bIns="0" rIns="0">
            <a:spAutoFit/>
          </a:bodyPr>
          <a:lstStyle/>
          <a:p>
            <a:pPr algn="ctr">
              <a:lnSpc>
                <a:spcPts val="6822"/>
              </a:lnSpc>
            </a:pPr>
            <a:r>
              <a:rPr lang="en-US" sz="4873" u="sng">
                <a:solidFill>
                  <a:srgbClr val="3E3E3E"/>
                </a:solidFill>
                <a:latin typeface="Overpass"/>
                <a:ea typeface="Overpass"/>
                <a:cs typeface="Overpass"/>
                <a:sym typeface="Overpass"/>
              </a:rPr>
              <a:t>Customer &amp; Booking behaviour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741752" y="51392"/>
            <a:ext cx="10278560" cy="1136828"/>
          </a:xfrm>
          <a:prstGeom prst="rect">
            <a:avLst/>
          </a:prstGeom>
        </p:spPr>
        <p:txBody>
          <a:bodyPr anchor="t" rtlCol="false" tIns="0" lIns="0" bIns="0" rIns="0">
            <a:spAutoFit/>
          </a:bodyPr>
          <a:lstStyle/>
          <a:p>
            <a:pPr algn="ctr">
              <a:lnSpc>
                <a:spcPts val="9227"/>
              </a:lnSpc>
            </a:pPr>
            <a:r>
              <a:rPr lang="en-US" b="true" sz="6590">
                <a:solidFill>
                  <a:srgbClr val="3E3E3E"/>
                </a:solidFill>
                <a:latin typeface="Open Sauce Bold"/>
                <a:ea typeface="Open Sauce Bold"/>
                <a:cs typeface="Open Sauce Bold"/>
                <a:sym typeface="Open Sauce Bold"/>
              </a:rPr>
              <a:t>RECOMMENDATION : 2</a:t>
            </a:r>
          </a:p>
        </p:txBody>
      </p:sp>
      <p:sp>
        <p:nvSpPr>
          <p:cNvPr name="TextBox 30" id="30"/>
          <p:cNvSpPr txBox="true"/>
          <p:nvPr/>
        </p:nvSpPr>
        <p:spPr>
          <a:xfrm rot="0">
            <a:off x="1543778" y="1253556"/>
            <a:ext cx="16953574" cy="8794115"/>
          </a:xfrm>
          <a:prstGeom prst="rect">
            <a:avLst/>
          </a:prstGeom>
        </p:spPr>
        <p:txBody>
          <a:bodyPr anchor="t" rtlCol="false" tIns="0" lIns="0" bIns="0" rIns="0">
            <a:spAutoFit/>
          </a:bodyPr>
          <a:lstStyle/>
          <a:p>
            <a:pPr algn="just">
              <a:lnSpc>
                <a:spcPts val="4060"/>
              </a:lnSpc>
            </a:pPr>
            <a:r>
              <a:rPr lang="en-US" sz="2900" b="true">
                <a:solidFill>
                  <a:srgbClr val="000000"/>
                </a:solidFill>
                <a:latin typeface="Overpass Ultra-Bold"/>
                <a:ea typeface="Overpass Ultra-Bold"/>
                <a:cs typeface="Overpass Ultra-Bold"/>
                <a:sym typeface="Overpass Ultra-Bold"/>
              </a:rPr>
              <a:t>1. Reduce Dependency on OTAs (56K bookings)</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Encourage more direct bookings to reduce commission costs.</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Offer website-only discounts or loyalty benefits.</a:t>
            </a:r>
          </a:p>
          <a:p>
            <a:pPr algn="just">
              <a:lnSpc>
                <a:spcPts val="4060"/>
              </a:lnSpc>
            </a:pPr>
          </a:p>
          <a:p>
            <a:pPr algn="just">
              <a:lnSpc>
                <a:spcPts val="4060"/>
              </a:lnSpc>
            </a:pPr>
            <a:r>
              <a:rPr lang="en-US" sz="2900" b="true">
                <a:solidFill>
                  <a:srgbClr val="000000"/>
                </a:solidFill>
                <a:latin typeface="Overpass Ultra-Bold"/>
                <a:ea typeface="Overpass Ultra-Bold"/>
                <a:cs typeface="Overpass Ultra-Bold"/>
                <a:sym typeface="Overpass Ultra-Bold"/>
              </a:rPr>
              <a:t>2. Promote Resort Long-Stay Advantage</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Since average stay is 4.32 nights, promote long-stay resort packages.</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Target families and vacation travelers.</a:t>
            </a:r>
          </a:p>
          <a:p>
            <a:pPr algn="just">
              <a:lnSpc>
                <a:spcPts val="4060"/>
              </a:lnSpc>
            </a:pPr>
          </a:p>
          <a:p>
            <a:pPr algn="just">
              <a:lnSpc>
                <a:spcPts val="4060"/>
              </a:lnSpc>
            </a:pPr>
            <a:r>
              <a:rPr lang="en-US" sz="2900" b="true">
                <a:solidFill>
                  <a:srgbClr val="000000"/>
                </a:solidFill>
                <a:latin typeface="Overpass Ultra-Bold"/>
                <a:ea typeface="Overpass Ultra-Bold"/>
                <a:cs typeface="Overpass Ultra-Bold"/>
                <a:sym typeface="Overpass Ultra-Bold"/>
              </a:rPr>
              <a:t>3. Strengthen Direct Booking Channel</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Direct booking ADR is 107, which is strong.</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Improve website experience and digital marketing campaigns.</a:t>
            </a:r>
          </a:p>
          <a:p>
            <a:pPr algn="just">
              <a:lnSpc>
                <a:spcPts val="4060"/>
              </a:lnSpc>
            </a:pPr>
          </a:p>
          <a:p>
            <a:pPr algn="just">
              <a:lnSpc>
                <a:spcPts val="4060"/>
              </a:lnSpc>
            </a:pPr>
            <a:r>
              <a:rPr lang="en-US" sz="2900" b="true">
                <a:solidFill>
                  <a:srgbClr val="000000"/>
                </a:solidFill>
                <a:latin typeface="Overpass Ultra-Bold"/>
                <a:ea typeface="Overpass Ultra-Bold"/>
                <a:cs typeface="Overpass Ultra-Bold"/>
                <a:sym typeface="Overpass Ultra-Bold"/>
              </a:rPr>
              <a:t>4. Rework Corporate Strategy</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Corporate ADR is only 69.</a:t>
            </a: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Introduce premium corporate packages or revise pricing agreements.</a:t>
            </a:r>
          </a:p>
          <a:p>
            <a:pPr algn="just">
              <a:lnSpc>
                <a:spcPts val="4060"/>
              </a:lnSpc>
            </a:pPr>
          </a:p>
          <a:p>
            <a:pPr algn="just">
              <a:lnSpc>
                <a:spcPts val="4060"/>
              </a:lnSpc>
            </a:pPr>
          </a:p>
        </p:txBody>
      </p:sp>
      <p:grpSp>
        <p:nvGrpSpPr>
          <p:cNvPr name="Group 31" id="31"/>
          <p:cNvGrpSpPr/>
          <p:nvPr/>
        </p:nvGrpSpPr>
        <p:grpSpPr>
          <a:xfrm rot="0">
            <a:off x="6374606" y="9258300"/>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3385190" y="2658078"/>
            <a:ext cx="11301259" cy="6300452"/>
          </a:xfrm>
          <a:custGeom>
            <a:avLst/>
            <a:gdLst/>
            <a:ahLst/>
            <a:cxnLst/>
            <a:rect r="r" b="b" t="t" l="l"/>
            <a:pathLst>
              <a:path h="6300452" w="11301259">
                <a:moveTo>
                  <a:pt x="0" y="0"/>
                </a:moveTo>
                <a:lnTo>
                  <a:pt x="11301259" y="0"/>
                </a:lnTo>
                <a:lnTo>
                  <a:pt x="11301259" y="6300452"/>
                </a:lnTo>
                <a:lnTo>
                  <a:pt x="0" y="6300452"/>
                </a:lnTo>
                <a:lnTo>
                  <a:pt x="0" y="0"/>
                </a:lnTo>
                <a:close/>
              </a:path>
            </a:pathLst>
          </a:custGeom>
          <a:blipFill>
            <a:blip r:embed="rId5"/>
            <a:stretch>
              <a:fillRect l="0" t="0" r="0" b="0"/>
            </a:stretch>
          </a:blipFill>
        </p:spPr>
      </p:sp>
      <p:sp>
        <p:nvSpPr>
          <p:cNvPr name="TextBox 33" id="33"/>
          <p:cNvSpPr txBox="true"/>
          <p:nvPr/>
        </p:nvSpPr>
        <p:spPr>
          <a:xfrm rot="0">
            <a:off x="4939227" y="78091"/>
            <a:ext cx="8342051" cy="1127628"/>
          </a:xfrm>
          <a:prstGeom prst="rect">
            <a:avLst/>
          </a:prstGeom>
        </p:spPr>
        <p:txBody>
          <a:bodyPr anchor="t" rtlCol="false" tIns="0" lIns="0" bIns="0" rIns="0">
            <a:spAutoFit/>
          </a:bodyPr>
          <a:lstStyle/>
          <a:p>
            <a:pPr algn="ctr">
              <a:lnSpc>
                <a:spcPts val="9247"/>
              </a:lnSpc>
            </a:pPr>
            <a:r>
              <a:rPr lang="en-US" b="true" sz="6605">
                <a:solidFill>
                  <a:srgbClr val="3E3E3E"/>
                </a:solidFill>
                <a:latin typeface="Open Sauce Bold"/>
                <a:ea typeface="Open Sauce Bold"/>
                <a:cs typeface="Open Sauce Bold"/>
                <a:sym typeface="Open Sauce Bold"/>
              </a:rPr>
              <a:t>DASHBOARD : 3</a:t>
            </a:r>
          </a:p>
        </p:txBody>
      </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5" id="35"/>
          <p:cNvSpPr txBox="true"/>
          <p:nvPr/>
        </p:nvSpPr>
        <p:spPr>
          <a:xfrm rot="0">
            <a:off x="1308837" y="1405765"/>
            <a:ext cx="15950463" cy="952542"/>
          </a:xfrm>
          <a:prstGeom prst="rect">
            <a:avLst/>
          </a:prstGeom>
        </p:spPr>
        <p:txBody>
          <a:bodyPr anchor="t" rtlCol="false" tIns="0" lIns="0" bIns="0" rIns="0">
            <a:spAutoFit/>
          </a:bodyPr>
          <a:lstStyle/>
          <a:p>
            <a:pPr algn="ctr">
              <a:lnSpc>
                <a:spcPts val="6822"/>
              </a:lnSpc>
            </a:pPr>
            <a:r>
              <a:rPr lang="en-US" sz="4873" u="sng">
                <a:solidFill>
                  <a:srgbClr val="3E3E3E"/>
                </a:solidFill>
                <a:latin typeface="Overpass"/>
                <a:ea typeface="Overpass"/>
                <a:cs typeface="Overpass"/>
                <a:sym typeface="Overpass"/>
              </a:rPr>
              <a:t>Cancellation Drivers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407890" y="-16740"/>
            <a:ext cx="10278560" cy="1045440"/>
          </a:xfrm>
          <a:prstGeom prst="rect">
            <a:avLst/>
          </a:prstGeom>
        </p:spPr>
        <p:txBody>
          <a:bodyPr anchor="t" rtlCol="false" tIns="0" lIns="0" bIns="0" rIns="0">
            <a:spAutoFit/>
          </a:bodyPr>
          <a:lstStyle/>
          <a:p>
            <a:pPr algn="ctr">
              <a:lnSpc>
                <a:spcPts val="8527"/>
              </a:lnSpc>
            </a:pPr>
            <a:r>
              <a:rPr lang="en-US" b="true" sz="6090">
                <a:solidFill>
                  <a:srgbClr val="3E3E3E"/>
                </a:solidFill>
                <a:latin typeface="Open Sauce Bold"/>
                <a:ea typeface="Open Sauce Bold"/>
                <a:cs typeface="Open Sauce Bold"/>
                <a:sym typeface="Open Sauce Bold"/>
              </a:rPr>
              <a:t>RECOMMENDATION : 3</a:t>
            </a:r>
          </a:p>
        </p:txBody>
      </p:sp>
      <p:sp>
        <p:nvSpPr>
          <p:cNvPr name="TextBox 30" id="30"/>
          <p:cNvSpPr txBox="true"/>
          <p:nvPr/>
        </p:nvSpPr>
        <p:spPr>
          <a:xfrm rot="0">
            <a:off x="1736141" y="1213888"/>
            <a:ext cx="15523159" cy="8943229"/>
          </a:xfrm>
          <a:prstGeom prst="rect">
            <a:avLst/>
          </a:prstGeom>
        </p:spPr>
        <p:txBody>
          <a:bodyPr anchor="t" rtlCol="false" tIns="0" lIns="0" bIns="0" rIns="0">
            <a:spAutoFit/>
          </a:bodyPr>
          <a:lstStyle/>
          <a:p>
            <a:pPr algn="just">
              <a:lnSpc>
                <a:spcPts val="3749"/>
              </a:lnSpc>
            </a:pPr>
            <a:r>
              <a:rPr lang="en-US" sz="2678" b="true">
                <a:solidFill>
                  <a:srgbClr val="000000"/>
                </a:solidFill>
                <a:latin typeface="Overpass Ultra-Bold"/>
                <a:ea typeface="Overpass Ultra-Bold"/>
                <a:cs typeface="Overpass Ultra-Bold"/>
                <a:sym typeface="Overpass Ultra-Bold"/>
              </a:rPr>
              <a:t>1. Control High-Risk Segments</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Group bookings (61%) and OTA bookings (37%) need stricter policies.</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Introduce partial or staged deposits for these segments.</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2. Adjust Policies for Long Lead-Time Bookings</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Since cancellations reach up to 70–100% at long lead times:</a:t>
            </a:r>
          </a:p>
          <a:p>
            <a:pPr algn="just" marL="1156377" indent="-385459" lvl="2">
              <a:lnSpc>
                <a:spcPts val="3749"/>
              </a:lnSpc>
              <a:buFont typeface="Arial"/>
              <a:buChar char="⚬"/>
            </a:pPr>
            <a:r>
              <a:rPr lang="en-US" sz="2678">
                <a:solidFill>
                  <a:srgbClr val="000000"/>
                </a:solidFill>
                <a:latin typeface="Overpass Light"/>
                <a:ea typeface="Overpass Light"/>
                <a:cs typeface="Overpass Light"/>
                <a:sym typeface="Overpass Light"/>
              </a:rPr>
              <a:t>Apply stricter cancellation deadlines.</a:t>
            </a:r>
          </a:p>
          <a:p>
            <a:pPr algn="just" marL="1156377" indent="-385459" lvl="2">
              <a:lnSpc>
                <a:spcPts val="3749"/>
              </a:lnSpc>
              <a:buFont typeface="Arial"/>
              <a:buChar char="⚬"/>
            </a:pPr>
            <a:r>
              <a:rPr lang="en-US" sz="2678">
                <a:solidFill>
                  <a:srgbClr val="000000"/>
                </a:solidFill>
                <a:latin typeface="Overpass Light"/>
                <a:ea typeface="Overpass Light"/>
                <a:cs typeface="Overpass Light"/>
                <a:sym typeface="Overpass Light"/>
              </a:rPr>
              <a:t>Offer flexible pricing instead of free cancellations.</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3. Promote Direct Bookings</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Direct channel has only 17% cancellation rate.</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Encourage customers to book directly through the hotel website.</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4. Implement Deposit-Based Strategy</a:t>
            </a:r>
          </a:p>
          <a:p>
            <a:pPr algn="just" marL="578188" indent="-289094" lvl="1">
              <a:lnSpc>
                <a:spcPts val="3749"/>
              </a:lnSpc>
              <a:buFont typeface="Arial"/>
              <a:buChar char="•"/>
            </a:pPr>
            <a:r>
              <a:rPr lang="en-US" sz="2678">
                <a:solidFill>
                  <a:srgbClr val="000000"/>
                </a:solidFill>
                <a:latin typeface="Overpass Light"/>
                <a:ea typeface="Overpass Light"/>
                <a:cs typeface="Overpass Light"/>
                <a:sym typeface="Overpass Light"/>
              </a:rPr>
              <a:t>Since 67% of cancellations come from no-deposit bookings:</a:t>
            </a:r>
          </a:p>
          <a:p>
            <a:pPr algn="just" marL="1156377" indent="-385459" lvl="2">
              <a:lnSpc>
                <a:spcPts val="3749"/>
              </a:lnSpc>
              <a:buFont typeface="Arial"/>
              <a:buChar char="⚬"/>
            </a:pPr>
            <a:r>
              <a:rPr lang="en-US" sz="2678">
                <a:solidFill>
                  <a:srgbClr val="000000"/>
                </a:solidFill>
                <a:latin typeface="Overpass Light"/>
                <a:ea typeface="Overpass Light"/>
                <a:cs typeface="Overpass Light"/>
                <a:sym typeface="Overpass Light"/>
              </a:rPr>
              <a:t>Introduce minimum deposit requirements.</a:t>
            </a:r>
          </a:p>
          <a:p>
            <a:pPr algn="just" marL="1156377" indent="-385459" lvl="2">
              <a:lnSpc>
                <a:spcPts val="3749"/>
              </a:lnSpc>
              <a:buFont typeface="Arial"/>
              <a:buChar char="⚬"/>
            </a:pPr>
            <a:r>
              <a:rPr lang="en-US" sz="2678">
                <a:solidFill>
                  <a:srgbClr val="000000"/>
                </a:solidFill>
                <a:latin typeface="Overpass Light"/>
                <a:ea typeface="Overpass Light"/>
                <a:cs typeface="Overpass Light"/>
                <a:sym typeface="Overpass Light"/>
              </a:rPr>
              <a:t>Offer discounts for non-refundable bookings.</a:t>
            </a:r>
          </a:p>
          <a:p>
            <a:pPr algn="just">
              <a:lnSpc>
                <a:spcPts val="3749"/>
              </a:lnSpc>
            </a:pPr>
          </a:p>
          <a:p>
            <a:pPr algn="just">
              <a:lnSpc>
                <a:spcPts val="3749"/>
              </a:lnSpc>
            </a:pPr>
          </a:p>
        </p:txBody>
      </p:sp>
      <p:grpSp>
        <p:nvGrpSpPr>
          <p:cNvPr name="Group 31" id="31"/>
          <p:cNvGrpSpPr/>
          <p:nvPr/>
        </p:nvGrpSpPr>
        <p:grpSpPr>
          <a:xfrm rot="0">
            <a:off x="6374606" y="9429115"/>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43043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6374606" y="9258300"/>
            <a:ext cx="5538788" cy="447720"/>
            <a:chOff x="0" y="0"/>
            <a:chExt cx="1458775" cy="117918"/>
          </a:xfrm>
        </p:grpSpPr>
        <p:sp>
          <p:nvSpPr>
            <p:cNvPr name="Freeform 30" id="30"/>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1" id="31"/>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3459623" y="2665141"/>
            <a:ext cx="11301259" cy="6286325"/>
          </a:xfrm>
          <a:custGeom>
            <a:avLst/>
            <a:gdLst/>
            <a:ahLst/>
            <a:cxnLst/>
            <a:rect r="r" b="b" t="t" l="l"/>
            <a:pathLst>
              <a:path h="6286325" w="11301259">
                <a:moveTo>
                  <a:pt x="0" y="0"/>
                </a:moveTo>
                <a:lnTo>
                  <a:pt x="11301259" y="0"/>
                </a:lnTo>
                <a:lnTo>
                  <a:pt x="11301259" y="6286326"/>
                </a:lnTo>
                <a:lnTo>
                  <a:pt x="0" y="6286326"/>
                </a:lnTo>
                <a:lnTo>
                  <a:pt x="0" y="0"/>
                </a:lnTo>
                <a:close/>
              </a:path>
            </a:pathLst>
          </a:custGeom>
          <a:blipFill>
            <a:blip r:embed="rId5"/>
            <a:stretch>
              <a:fillRect l="0" t="0" r="0" b="0"/>
            </a:stretch>
          </a:blipFill>
        </p:spPr>
      </p:sp>
      <p:sp>
        <p:nvSpPr>
          <p:cNvPr name="TextBox 33" id="33"/>
          <p:cNvSpPr txBox="true"/>
          <p:nvPr/>
        </p:nvSpPr>
        <p:spPr>
          <a:xfrm rot="0">
            <a:off x="4939227" y="78091"/>
            <a:ext cx="8342051" cy="1127628"/>
          </a:xfrm>
          <a:prstGeom prst="rect">
            <a:avLst/>
          </a:prstGeom>
        </p:spPr>
        <p:txBody>
          <a:bodyPr anchor="t" rtlCol="false" tIns="0" lIns="0" bIns="0" rIns="0">
            <a:spAutoFit/>
          </a:bodyPr>
          <a:lstStyle/>
          <a:p>
            <a:pPr algn="ctr">
              <a:lnSpc>
                <a:spcPts val="9247"/>
              </a:lnSpc>
            </a:pPr>
            <a:r>
              <a:rPr lang="en-US" b="true" sz="6605">
                <a:solidFill>
                  <a:srgbClr val="3E3E3E"/>
                </a:solidFill>
                <a:latin typeface="Open Sauce Bold"/>
                <a:ea typeface="Open Sauce Bold"/>
                <a:cs typeface="Open Sauce Bold"/>
                <a:sym typeface="Open Sauce Bold"/>
              </a:rPr>
              <a:t>DASHBOARD : 4</a:t>
            </a:r>
          </a:p>
        </p:txBody>
      </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
        <p:nvSpPr>
          <p:cNvPr name="TextBox 35" id="35"/>
          <p:cNvSpPr txBox="true"/>
          <p:nvPr/>
        </p:nvSpPr>
        <p:spPr>
          <a:xfrm rot="0">
            <a:off x="1308837" y="1405765"/>
            <a:ext cx="15950463" cy="952542"/>
          </a:xfrm>
          <a:prstGeom prst="rect">
            <a:avLst/>
          </a:prstGeom>
        </p:spPr>
        <p:txBody>
          <a:bodyPr anchor="t" rtlCol="false" tIns="0" lIns="0" bIns="0" rIns="0">
            <a:spAutoFit/>
          </a:bodyPr>
          <a:lstStyle/>
          <a:p>
            <a:pPr algn="ctr">
              <a:lnSpc>
                <a:spcPts val="6822"/>
              </a:lnSpc>
            </a:pPr>
            <a:r>
              <a:rPr lang="en-US" sz="4873" u="sng">
                <a:solidFill>
                  <a:srgbClr val="3E3E3E"/>
                </a:solidFill>
                <a:latin typeface="Overpass"/>
                <a:ea typeface="Overpass"/>
                <a:cs typeface="Overpass"/>
                <a:sym typeface="Overpass"/>
              </a:rPr>
              <a:t>Seasonality trends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075747" y="200850"/>
            <a:ext cx="10278560" cy="1045440"/>
          </a:xfrm>
          <a:prstGeom prst="rect">
            <a:avLst/>
          </a:prstGeom>
        </p:spPr>
        <p:txBody>
          <a:bodyPr anchor="t" rtlCol="false" tIns="0" lIns="0" bIns="0" rIns="0">
            <a:spAutoFit/>
          </a:bodyPr>
          <a:lstStyle/>
          <a:p>
            <a:pPr algn="ctr">
              <a:lnSpc>
                <a:spcPts val="8527"/>
              </a:lnSpc>
            </a:pPr>
            <a:r>
              <a:rPr lang="en-US" b="true" sz="6090">
                <a:solidFill>
                  <a:srgbClr val="3E3E3E"/>
                </a:solidFill>
                <a:latin typeface="Open Sauce Bold"/>
                <a:ea typeface="Open Sauce Bold"/>
                <a:cs typeface="Open Sauce Bold"/>
                <a:sym typeface="Open Sauce Bold"/>
              </a:rPr>
              <a:t>RECOMMENDATION : 4</a:t>
            </a:r>
          </a:p>
        </p:txBody>
      </p:sp>
      <p:sp>
        <p:nvSpPr>
          <p:cNvPr name="TextBox 30" id="30"/>
          <p:cNvSpPr txBox="true"/>
          <p:nvPr/>
        </p:nvSpPr>
        <p:spPr>
          <a:xfrm rot="0">
            <a:off x="1736141" y="1699313"/>
            <a:ext cx="15523159" cy="7980603"/>
          </a:xfrm>
          <a:prstGeom prst="rect">
            <a:avLst/>
          </a:prstGeom>
        </p:spPr>
        <p:txBody>
          <a:bodyPr anchor="t" rtlCol="false" tIns="0" lIns="0" bIns="0" rIns="0">
            <a:spAutoFit/>
          </a:bodyPr>
          <a:lstStyle/>
          <a:p>
            <a:pPr algn="just">
              <a:lnSpc>
                <a:spcPts val="3749"/>
              </a:lnSpc>
            </a:pPr>
            <a:r>
              <a:rPr lang="en-US" sz="2678" b="true">
                <a:solidFill>
                  <a:srgbClr val="000000"/>
                </a:solidFill>
                <a:latin typeface="Overpass Ultra-Bold"/>
                <a:ea typeface="Overpass Ultra-Bold"/>
                <a:cs typeface="Overpass Ultra-Bold"/>
                <a:sym typeface="Overpass Ultra-Bold"/>
              </a:rPr>
              <a:t>1. Maximize Peak Season Revenue</a:t>
            </a:r>
          </a:p>
          <a:p>
            <a:pPr algn="just">
              <a:lnSpc>
                <a:spcPts val="3749"/>
              </a:lnSpc>
            </a:pPr>
            <a:r>
              <a:rPr lang="en-US" sz="2678">
                <a:solidFill>
                  <a:srgbClr val="000000"/>
                </a:solidFill>
                <a:latin typeface="Overpass"/>
                <a:ea typeface="Overpass"/>
                <a:cs typeface="Overpass"/>
                <a:sym typeface="Overpass"/>
              </a:rPr>
              <a:t> </a:t>
            </a:r>
            <a:r>
              <a:rPr lang="en-US" sz="2678">
                <a:solidFill>
                  <a:srgbClr val="000000"/>
                </a:solidFill>
                <a:latin typeface="Overpass Light"/>
                <a:ea typeface="Overpass Light"/>
                <a:cs typeface="Overpass Light"/>
                <a:sym typeface="Overpass Light"/>
              </a:rPr>
              <a:t>• Apply dynamic pricing during July &amp; August.</a:t>
            </a:r>
          </a:p>
          <a:p>
            <a:pPr algn="just">
              <a:lnSpc>
                <a:spcPts val="3749"/>
              </a:lnSpc>
            </a:pPr>
            <a:r>
              <a:rPr lang="en-US" sz="2678">
                <a:solidFill>
                  <a:srgbClr val="000000"/>
                </a:solidFill>
                <a:latin typeface="Overpass Light"/>
                <a:ea typeface="Overpass Light"/>
                <a:cs typeface="Overpass Light"/>
                <a:sym typeface="Overpass Light"/>
              </a:rPr>
              <a:t> • Introduce premium Monsoon packages.</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2. Improve Winter Performance</a:t>
            </a:r>
          </a:p>
          <a:p>
            <a:pPr algn="just">
              <a:lnSpc>
                <a:spcPts val="3749"/>
              </a:lnSpc>
            </a:pPr>
            <a:r>
              <a:rPr lang="en-US" sz="2678">
                <a:solidFill>
                  <a:srgbClr val="000000"/>
                </a:solidFill>
                <a:latin typeface="Overpass"/>
                <a:ea typeface="Overpass"/>
                <a:cs typeface="Overpass"/>
                <a:sym typeface="Overpass"/>
              </a:rPr>
              <a:t> </a:t>
            </a:r>
            <a:r>
              <a:rPr lang="en-US" sz="2678">
                <a:solidFill>
                  <a:srgbClr val="000000"/>
                </a:solidFill>
                <a:latin typeface="Overpass Light"/>
                <a:ea typeface="Overpass Light"/>
                <a:cs typeface="Overpass Light"/>
                <a:sym typeface="Overpass Light"/>
              </a:rPr>
              <a:t>• Launch targeted offers in November–January.</a:t>
            </a:r>
          </a:p>
          <a:p>
            <a:pPr algn="just">
              <a:lnSpc>
                <a:spcPts val="3749"/>
              </a:lnSpc>
            </a:pPr>
            <a:r>
              <a:rPr lang="en-US" sz="2678">
                <a:solidFill>
                  <a:srgbClr val="000000"/>
                </a:solidFill>
                <a:latin typeface="Overpass Light"/>
                <a:ea typeface="Overpass Light"/>
                <a:cs typeface="Overpass Light"/>
                <a:sym typeface="Overpass Light"/>
              </a:rPr>
              <a:t> • Provide early-bird and bundled discounts to increase occupancy.</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3. Reduce Seasonal Cancellations</a:t>
            </a:r>
          </a:p>
          <a:p>
            <a:pPr algn="just">
              <a:lnSpc>
                <a:spcPts val="3749"/>
              </a:lnSpc>
            </a:pPr>
            <a:r>
              <a:rPr lang="en-US" sz="2678">
                <a:solidFill>
                  <a:srgbClr val="000000"/>
                </a:solidFill>
                <a:latin typeface="Overpass"/>
                <a:ea typeface="Overpass"/>
                <a:cs typeface="Overpass"/>
                <a:sym typeface="Overpass"/>
              </a:rPr>
              <a:t> </a:t>
            </a:r>
            <a:r>
              <a:rPr lang="en-US" sz="2678">
                <a:solidFill>
                  <a:srgbClr val="000000"/>
                </a:solidFill>
                <a:latin typeface="Overpass Light"/>
                <a:ea typeface="Overpass Light"/>
                <a:cs typeface="Overpass Light"/>
                <a:sym typeface="Overpass Light"/>
              </a:rPr>
              <a:t>• Implement stricter cancellation policy during peak season.</a:t>
            </a:r>
          </a:p>
          <a:p>
            <a:pPr algn="just">
              <a:lnSpc>
                <a:spcPts val="3749"/>
              </a:lnSpc>
            </a:pPr>
            <a:r>
              <a:rPr lang="en-US" sz="2678">
                <a:solidFill>
                  <a:srgbClr val="000000"/>
                </a:solidFill>
                <a:latin typeface="Overpass Light"/>
                <a:ea typeface="Overpass Light"/>
                <a:cs typeface="Overpass Light"/>
                <a:sym typeface="Overpass Light"/>
              </a:rPr>
              <a:t> • Encourage rescheduling instead of cancellation.</a:t>
            </a:r>
          </a:p>
          <a:p>
            <a:pPr algn="just">
              <a:lnSpc>
                <a:spcPts val="3749"/>
              </a:lnSpc>
            </a:pPr>
          </a:p>
          <a:p>
            <a:pPr algn="just">
              <a:lnSpc>
                <a:spcPts val="3749"/>
              </a:lnSpc>
            </a:pPr>
            <a:r>
              <a:rPr lang="en-US" sz="2678" b="true">
                <a:solidFill>
                  <a:srgbClr val="000000"/>
                </a:solidFill>
                <a:latin typeface="Overpass Ultra-Bold"/>
                <a:ea typeface="Overpass Ultra-Bold"/>
                <a:cs typeface="Overpass Ultra-Bold"/>
                <a:sym typeface="Overpass Ultra-Bold"/>
              </a:rPr>
              <a:t>4. Plan Resources Based on Seasonality</a:t>
            </a:r>
          </a:p>
          <a:p>
            <a:pPr algn="just">
              <a:lnSpc>
                <a:spcPts val="3749"/>
              </a:lnSpc>
            </a:pPr>
            <a:r>
              <a:rPr lang="en-US" sz="2678">
                <a:solidFill>
                  <a:srgbClr val="000000"/>
                </a:solidFill>
                <a:latin typeface="Overpass"/>
                <a:ea typeface="Overpass"/>
                <a:cs typeface="Overpass"/>
                <a:sym typeface="Overpass"/>
              </a:rPr>
              <a:t> </a:t>
            </a:r>
            <a:r>
              <a:rPr lang="en-US" sz="2678">
                <a:solidFill>
                  <a:srgbClr val="000000"/>
                </a:solidFill>
                <a:latin typeface="Overpass Light"/>
                <a:ea typeface="Overpass Light"/>
                <a:cs typeface="Overpass Light"/>
                <a:sym typeface="Overpass Light"/>
              </a:rPr>
              <a:t>• Increase staffing and inventory in peak months.</a:t>
            </a:r>
          </a:p>
          <a:p>
            <a:pPr algn="just">
              <a:lnSpc>
                <a:spcPts val="3749"/>
              </a:lnSpc>
            </a:pPr>
            <a:r>
              <a:rPr lang="en-US" sz="2678">
                <a:solidFill>
                  <a:srgbClr val="000000"/>
                </a:solidFill>
                <a:latin typeface="Overpass Light"/>
                <a:ea typeface="Overpass Light"/>
                <a:cs typeface="Overpass Light"/>
                <a:sym typeface="Overpass Light"/>
              </a:rPr>
              <a:t> • Optimize operational costs during low-demand season.</a:t>
            </a:r>
          </a:p>
          <a:p>
            <a:pPr algn="just">
              <a:lnSpc>
                <a:spcPts val="3749"/>
              </a:lnSpc>
            </a:pPr>
          </a:p>
          <a:p>
            <a:pPr algn="just">
              <a:lnSpc>
                <a:spcPts val="3749"/>
              </a:lnSpc>
            </a:pPr>
          </a:p>
        </p:txBody>
      </p:sp>
      <p:grpSp>
        <p:nvGrpSpPr>
          <p:cNvPr name="Group 31" id="31"/>
          <p:cNvGrpSpPr/>
          <p:nvPr/>
        </p:nvGrpSpPr>
        <p:grpSpPr>
          <a:xfrm rot="0">
            <a:off x="6374606" y="9429115"/>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43043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939227" y="172275"/>
            <a:ext cx="8342051"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ANALYSIS</a:t>
            </a:r>
          </a:p>
        </p:txBody>
      </p:sp>
      <p:sp>
        <p:nvSpPr>
          <p:cNvPr name="TextBox 30" id="30"/>
          <p:cNvSpPr txBox="true"/>
          <p:nvPr/>
        </p:nvSpPr>
        <p:spPr>
          <a:xfrm rot="0">
            <a:off x="2059991" y="1702606"/>
            <a:ext cx="14949488" cy="7251065"/>
          </a:xfrm>
          <a:prstGeom prst="rect">
            <a:avLst/>
          </a:prstGeom>
        </p:spPr>
        <p:txBody>
          <a:bodyPr anchor="t" rtlCol="false" tIns="0" lIns="0" bIns="0" rIns="0">
            <a:spAutoFit/>
          </a:bodyPr>
          <a:lstStyle/>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Between 2015–2017, the hotel generated ₹4.27 Crores from 119K bookings, demonstrating strong overall demand growth.</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However, a high cancellation rate of 37% and an occupancy rate of 63% indicate revenue leakage and underutilized capacity.</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City Hotels contribute the highest bookings but also face significantly higher cancellation risk compared to Resort Hotels.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Business performance is highly seasonal, with peak demand in July–August and weak performance during winter months.</a:t>
            </a:r>
          </a:p>
          <a:p>
            <a:pPr algn="just">
              <a:lnSpc>
                <a:spcPts val="4060"/>
              </a:lnSpc>
            </a:pPr>
          </a:p>
          <a:p>
            <a:pPr algn="just" marL="626111" indent="-313055" lvl="1">
              <a:lnSpc>
                <a:spcPts val="4060"/>
              </a:lnSpc>
              <a:buFont typeface="Arial"/>
              <a:buChar char="•"/>
            </a:pPr>
            <a:r>
              <a:rPr lang="en-US" sz="2900">
                <a:solidFill>
                  <a:srgbClr val="000000"/>
                </a:solidFill>
                <a:latin typeface="Overpass Light"/>
                <a:ea typeface="Overpass Light"/>
                <a:cs typeface="Overpass Light"/>
                <a:sym typeface="Overpass Light"/>
              </a:rPr>
              <a:t> The average stay duration of 3.43 nights suggests an opportunity to increase guest retention and overall revenue per booking.</a:t>
            </a:r>
          </a:p>
        </p:txBody>
      </p:sp>
      <p:grpSp>
        <p:nvGrpSpPr>
          <p:cNvPr name="Group 31" id="31"/>
          <p:cNvGrpSpPr/>
          <p:nvPr/>
        </p:nvGrpSpPr>
        <p:grpSpPr>
          <a:xfrm rot="0">
            <a:off x="6374606" y="9258300"/>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4972974" y="2023852"/>
            <a:ext cx="8342051" cy="1371181"/>
          </a:xfrm>
          <a:prstGeom prst="rect">
            <a:avLst/>
          </a:prstGeom>
        </p:spPr>
        <p:txBody>
          <a:bodyPr anchor="t" rtlCol="false" tIns="0" lIns="0" bIns="0" rIns="0">
            <a:spAutoFit/>
          </a:bodyPr>
          <a:lstStyle/>
          <a:p>
            <a:pPr algn="ctr">
              <a:lnSpc>
                <a:spcPts val="11207"/>
              </a:lnSpc>
            </a:pPr>
            <a:r>
              <a:rPr lang="en-US" b="true" sz="8005">
                <a:solidFill>
                  <a:srgbClr val="3E3E3E"/>
                </a:solidFill>
                <a:latin typeface="Open Sauce Bold"/>
                <a:ea typeface="Open Sauce Bold"/>
                <a:cs typeface="Open Sauce Bold"/>
                <a:sym typeface="Open Sauce Bold"/>
              </a:rPr>
              <a:t>CONCLUSION</a:t>
            </a:r>
          </a:p>
        </p:txBody>
      </p:sp>
      <p:sp>
        <p:nvSpPr>
          <p:cNvPr name="TextBox 30" id="30"/>
          <p:cNvSpPr txBox="true"/>
          <p:nvPr/>
        </p:nvSpPr>
        <p:spPr>
          <a:xfrm rot="0">
            <a:off x="2727894" y="3917208"/>
            <a:ext cx="12832212" cy="4135755"/>
          </a:xfrm>
          <a:prstGeom prst="rect">
            <a:avLst/>
          </a:prstGeom>
        </p:spPr>
        <p:txBody>
          <a:bodyPr anchor="t" rtlCol="false" tIns="0" lIns="0" bIns="0" rIns="0">
            <a:spAutoFit/>
          </a:bodyPr>
          <a:lstStyle/>
          <a:p>
            <a:pPr algn="just">
              <a:lnSpc>
                <a:spcPts val="4619"/>
              </a:lnSpc>
            </a:pPr>
            <a:r>
              <a:rPr lang="en-US" sz="3299">
                <a:solidFill>
                  <a:srgbClr val="000000"/>
                </a:solidFill>
                <a:latin typeface="Overpass Light"/>
                <a:ea typeface="Overpass Light"/>
                <a:cs typeface="Overpass Light"/>
                <a:sym typeface="Overpass Light"/>
              </a:rPr>
              <a:t>The hotel shows strong booking demand and good revenue performance overall. </a:t>
            </a:r>
            <a:r>
              <a:rPr lang="en-US" sz="3299">
                <a:solidFill>
                  <a:srgbClr val="000000"/>
                </a:solidFill>
                <a:latin typeface="Overpass Light"/>
                <a:ea typeface="Overpass Light"/>
                <a:cs typeface="Overpass Light"/>
                <a:sym typeface="Overpass Light"/>
              </a:rPr>
              <a:t>However, high cancellations and unused room capacity reduce the actual profit. By reducing cancellations, improving occupancy during slow months, and increasing the average stay duration, the hotel can improve revenue and achieve more stable growth. By implementing minimum deposit requirements to  avoid more cancellation in No deposit bookings . </a:t>
            </a:r>
          </a:p>
        </p:txBody>
      </p:sp>
      <p:grpSp>
        <p:nvGrpSpPr>
          <p:cNvPr name="Group 31" id="31"/>
          <p:cNvGrpSpPr/>
          <p:nvPr/>
        </p:nvGrpSpPr>
        <p:grpSpPr>
          <a:xfrm rot="0">
            <a:off x="6374606" y="9258300"/>
            <a:ext cx="5538788" cy="447720"/>
            <a:chOff x="0" y="0"/>
            <a:chExt cx="1458775" cy="117918"/>
          </a:xfrm>
        </p:grpSpPr>
        <p:sp>
          <p:nvSpPr>
            <p:cNvPr name="Freeform 32" id="32"/>
            <p:cNvSpPr/>
            <p:nvPr/>
          </p:nvSpPr>
          <p:spPr>
            <a:xfrm flipH="false" flipV="false" rot="0">
              <a:off x="0" y="0"/>
              <a:ext cx="1458775" cy="117918"/>
            </a:xfrm>
            <a:custGeom>
              <a:avLst/>
              <a:gdLst/>
              <a:ahLst/>
              <a:cxnLst/>
              <a:rect r="r" b="b" t="t" l="l"/>
              <a:pathLst>
                <a:path h="117918" w="1458775">
                  <a:moveTo>
                    <a:pt x="58959" y="0"/>
                  </a:moveTo>
                  <a:lnTo>
                    <a:pt x="1399816" y="0"/>
                  </a:lnTo>
                  <a:cubicBezTo>
                    <a:pt x="1415453" y="0"/>
                    <a:pt x="1430450" y="6212"/>
                    <a:pt x="1441507" y="17269"/>
                  </a:cubicBezTo>
                  <a:cubicBezTo>
                    <a:pt x="1452564" y="28326"/>
                    <a:pt x="1458775" y="43322"/>
                    <a:pt x="1458775" y="58959"/>
                  </a:cubicBezTo>
                  <a:lnTo>
                    <a:pt x="1458775" y="58959"/>
                  </a:lnTo>
                  <a:cubicBezTo>
                    <a:pt x="1458775" y="74596"/>
                    <a:pt x="1452564" y="89592"/>
                    <a:pt x="1441507" y="100649"/>
                  </a:cubicBezTo>
                  <a:cubicBezTo>
                    <a:pt x="1430450" y="111706"/>
                    <a:pt x="1415453" y="117918"/>
                    <a:pt x="1399816" y="117918"/>
                  </a:cubicBezTo>
                  <a:lnTo>
                    <a:pt x="58959" y="117918"/>
                  </a:lnTo>
                  <a:cubicBezTo>
                    <a:pt x="43322" y="117918"/>
                    <a:pt x="28326" y="111706"/>
                    <a:pt x="17269" y="100649"/>
                  </a:cubicBezTo>
                  <a:cubicBezTo>
                    <a:pt x="6212" y="89592"/>
                    <a:pt x="0" y="74596"/>
                    <a:pt x="0" y="58959"/>
                  </a:cubicBezTo>
                  <a:lnTo>
                    <a:pt x="0" y="58959"/>
                  </a:lnTo>
                  <a:cubicBezTo>
                    <a:pt x="0" y="43322"/>
                    <a:pt x="6212" y="28326"/>
                    <a:pt x="17269" y="17269"/>
                  </a:cubicBezTo>
                  <a:cubicBezTo>
                    <a:pt x="28326" y="6212"/>
                    <a:pt x="43322" y="0"/>
                    <a:pt x="58959" y="0"/>
                  </a:cubicBezTo>
                  <a:close/>
                </a:path>
              </a:pathLst>
            </a:custGeom>
            <a:solidFill>
              <a:srgbClr val="BABABA">
                <a:alpha val="63922"/>
              </a:srgbClr>
            </a:solidFill>
          </p:spPr>
        </p:sp>
        <p:sp>
          <p:nvSpPr>
            <p:cNvPr name="TextBox 33" id="33"/>
            <p:cNvSpPr txBox="true"/>
            <p:nvPr/>
          </p:nvSpPr>
          <p:spPr>
            <a:xfrm>
              <a:off x="0" y="-38100"/>
              <a:ext cx="1458775" cy="15601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6586148" y="9206570"/>
            <a:ext cx="5115704" cy="446405"/>
          </a:xfrm>
          <a:prstGeom prst="rect">
            <a:avLst/>
          </a:prstGeom>
        </p:spPr>
        <p:txBody>
          <a:bodyPr anchor="t" rtlCol="false" tIns="0" lIns="0" bIns="0" rIns="0">
            <a:spAutoFit/>
          </a:bodyPr>
          <a:lstStyle/>
          <a:p>
            <a:pPr algn="ctr">
              <a:lnSpc>
                <a:spcPts val="3220"/>
              </a:lnSpc>
            </a:pPr>
            <a:r>
              <a:rPr lang="en-US" sz="2300" i="true">
                <a:solidFill>
                  <a:srgbClr val="3E3E3E"/>
                </a:solidFill>
                <a:latin typeface="Overpass Light Italics"/>
                <a:ea typeface="Overpass Light Italics"/>
                <a:cs typeface="Overpass Light Italics"/>
                <a:sym typeface="Overpass Light Italics"/>
              </a:rPr>
              <a:t>Presented  by Shakthi sivaranjani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grpSp>
        <p:nvGrpSpPr>
          <p:cNvPr name="Group 3" id="3"/>
          <p:cNvGrpSpPr/>
          <p:nvPr/>
        </p:nvGrpSpPr>
        <p:grpSpPr>
          <a:xfrm rot="0">
            <a:off x="-13497231" y="-882058"/>
            <a:ext cx="15557222" cy="11667917"/>
            <a:chOff x="0" y="0"/>
            <a:chExt cx="812800" cy="609600"/>
          </a:xfrm>
        </p:grpSpPr>
        <p:sp>
          <p:nvSpPr>
            <p:cNvPr name="Freeform 4" id="4"/>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5" id="5"/>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571298">
            <a:off x="-933051" y="8068217"/>
            <a:ext cx="5338383" cy="4671085"/>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16160513" y="-882058"/>
            <a:ext cx="15557222" cy="11667917"/>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11" id="11"/>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9157597">
            <a:off x="14340287" y="-2335543"/>
            <a:ext cx="5338383" cy="4671085"/>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BABABA"/>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821081" y="-443908"/>
            <a:ext cx="15557222" cy="11667917"/>
            <a:chOff x="0" y="0"/>
            <a:chExt cx="812800" cy="609600"/>
          </a:xfrm>
        </p:grpSpPr>
        <p:sp>
          <p:nvSpPr>
            <p:cNvPr name="Freeform 16" id="1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17" id="17"/>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644869" y="184742"/>
            <a:ext cx="15557222" cy="11667917"/>
            <a:chOff x="0" y="0"/>
            <a:chExt cx="812800" cy="609600"/>
          </a:xfrm>
        </p:grpSpPr>
        <p:sp>
          <p:nvSpPr>
            <p:cNvPr name="Freeform 19" id="19"/>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0" id="20"/>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0800000">
            <a:off x="16527226" y="-1072558"/>
            <a:ext cx="15557222" cy="11667917"/>
            <a:chOff x="0" y="0"/>
            <a:chExt cx="812800" cy="609600"/>
          </a:xfrm>
        </p:grpSpPr>
        <p:sp>
          <p:nvSpPr>
            <p:cNvPr name="Freeform 22" id="22"/>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FFFFFF"/>
            </a:solidFill>
          </p:spPr>
        </p:sp>
        <p:sp>
          <p:nvSpPr>
            <p:cNvPr name="TextBox 23" id="23"/>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10800000">
            <a:off x="16370063" y="-1620245"/>
            <a:ext cx="15557222" cy="11667917"/>
            <a:chOff x="0" y="0"/>
            <a:chExt cx="812800" cy="609600"/>
          </a:xfrm>
        </p:grpSpPr>
        <p:sp>
          <p:nvSpPr>
            <p:cNvPr name="Freeform 25" id="25"/>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solidFill>
              <a:srgbClr val="474747"/>
            </a:solidFill>
          </p:spPr>
        </p:sp>
        <p:sp>
          <p:nvSpPr>
            <p:cNvPr name="TextBox 26" id="26"/>
            <p:cNvSpPr txBox="true"/>
            <p:nvPr/>
          </p:nvSpPr>
          <p:spPr>
            <a:xfrm>
              <a:off x="101600" y="-38100"/>
              <a:ext cx="609600"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14686449" y="9258300"/>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8700" y="-379351"/>
            <a:ext cx="2572851" cy="1408051"/>
          </a:xfrm>
          <a:custGeom>
            <a:avLst/>
            <a:gdLst/>
            <a:ahLst/>
            <a:cxnLst/>
            <a:rect r="r" b="b" t="t" l="l"/>
            <a:pathLst>
              <a:path h="1408051" w="2572851">
                <a:moveTo>
                  <a:pt x="0" y="0"/>
                </a:moveTo>
                <a:lnTo>
                  <a:pt x="2572851" y="0"/>
                </a:lnTo>
                <a:lnTo>
                  <a:pt x="2572851" y="1408051"/>
                </a:lnTo>
                <a:lnTo>
                  <a:pt x="0" y="1408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3118152" y="4044043"/>
            <a:ext cx="12051696" cy="1979838"/>
          </a:xfrm>
          <a:prstGeom prst="rect">
            <a:avLst/>
          </a:prstGeom>
        </p:spPr>
        <p:txBody>
          <a:bodyPr anchor="t" rtlCol="false" tIns="0" lIns="0" bIns="0" rIns="0">
            <a:spAutoFit/>
          </a:bodyPr>
          <a:lstStyle/>
          <a:p>
            <a:pPr algn="ctr">
              <a:lnSpc>
                <a:spcPts val="16190"/>
              </a:lnSpc>
            </a:pPr>
            <a:r>
              <a:rPr lang="en-US" b="true" sz="11564">
                <a:solidFill>
                  <a:srgbClr val="3E3E3E"/>
                </a:solidFill>
                <a:latin typeface="Open Sauce Bold"/>
                <a:ea typeface="Open Sauce Bold"/>
                <a:cs typeface="Open Sauce Bold"/>
                <a:sym typeface="Open Sau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DAHBHqipvx0</dc:identifier>
  <dcterms:modified xsi:type="dcterms:W3CDTF">2011-08-01T06:04:30Z</dcterms:modified>
  <cp:revision>1</cp:revision>
  <dc:title>Grey Simple Professional Presentation</dc:title>
</cp:coreProperties>
</file>